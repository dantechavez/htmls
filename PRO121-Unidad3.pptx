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8"/>
  </p:notesMasterIdLst>
  <p:sldIdLst>
    <p:sldId id="265" r:id="rId5"/>
    <p:sldId id="266" r:id="rId6"/>
    <p:sldId id="271" r:id="rId7"/>
    <p:sldId id="273" r:id="rId8"/>
    <p:sldId id="359" r:id="rId9"/>
    <p:sldId id="311" r:id="rId10"/>
    <p:sldId id="360" r:id="rId11"/>
    <p:sldId id="314" r:id="rId12"/>
    <p:sldId id="361" r:id="rId13"/>
    <p:sldId id="315" r:id="rId14"/>
    <p:sldId id="362" r:id="rId15"/>
    <p:sldId id="363" r:id="rId16"/>
    <p:sldId id="364" r:id="rId17"/>
    <p:sldId id="365" r:id="rId18"/>
    <p:sldId id="366" r:id="rId19"/>
    <p:sldId id="367" r:id="rId20"/>
    <p:sldId id="368" r:id="rId21"/>
    <p:sldId id="369" r:id="rId22"/>
    <p:sldId id="370" r:id="rId23"/>
    <p:sldId id="371" r:id="rId24"/>
    <p:sldId id="372" r:id="rId25"/>
    <p:sldId id="373" r:id="rId26"/>
    <p:sldId id="374" r:id="rId27"/>
    <p:sldId id="375" r:id="rId28"/>
    <p:sldId id="376" r:id="rId29"/>
    <p:sldId id="377" r:id="rId30"/>
    <p:sldId id="378" r:id="rId31"/>
    <p:sldId id="379" r:id="rId32"/>
    <p:sldId id="326" r:id="rId33"/>
    <p:sldId id="380" r:id="rId34"/>
    <p:sldId id="381" r:id="rId35"/>
    <p:sldId id="382" r:id="rId36"/>
    <p:sldId id="323" r:id="rId3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2E46"/>
    <a:srgbClr val="00272F"/>
    <a:srgbClr val="929292"/>
    <a:srgbClr val="12707F"/>
    <a:srgbClr val="020288"/>
    <a:srgbClr val="00C1E6"/>
    <a:srgbClr val="7C1F41"/>
    <a:srgbClr val="008BE0"/>
    <a:srgbClr val="F3F3F3"/>
    <a:srgbClr val="1E3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37" autoAdjust="0"/>
    <p:restoredTop sz="94660"/>
  </p:normalViewPr>
  <p:slideViewPr>
    <p:cSldViewPr snapToGrid="0">
      <p:cViewPr varScale="1">
        <p:scale>
          <a:sx n="171" d="100"/>
          <a:sy n="171" d="100"/>
        </p:scale>
        <p:origin x="4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03C1A0-04C4-440C-BEFE-07A149FF1468}" type="datetimeFigureOut">
              <a:rPr lang="es-CL" smtClean="0"/>
              <a:t>11-11-24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591657-8EC8-443E-BD4D-DECB8E2BADAF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55489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4799-18C8-4AD2-B665-5924014CD327}" type="datetimeFigureOut">
              <a:rPr lang="es-CL" smtClean="0"/>
              <a:t>11-11-24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F6B11-1E57-4B30-81D0-1761BDD71655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6937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4799-18C8-4AD2-B665-5924014CD327}" type="datetimeFigureOut">
              <a:rPr lang="es-CL" smtClean="0"/>
              <a:t>11-11-24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F6B11-1E57-4B30-81D0-1761BDD71655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34948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4799-18C8-4AD2-B665-5924014CD327}" type="datetimeFigureOut">
              <a:rPr lang="es-CL" smtClean="0"/>
              <a:t>11-11-24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F6B11-1E57-4B30-81D0-1761BDD71655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26546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4799-18C8-4AD2-B665-5924014CD327}" type="datetimeFigureOut">
              <a:rPr lang="es-CL" smtClean="0"/>
              <a:t>11-11-24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F6B11-1E57-4B30-81D0-1761BDD71655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01699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4799-18C8-4AD2-B665-5924014CD327}" type="datetimeFigureOut">
              <a:rPr lang="es-CL" smtClean="0"/>
              <a:t>11-11-24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F6B11-1E57-4B30-81D0-1761BDD71655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96249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4799-18C8-4AD2-B665-5924014CD327}" type="datetimeFigureOut">
              <a:rPr lang="es-CL" smtClean="0"/>
              <a:t>11-11-24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F6B11-1E57-4B30-81D0-1761BDD71655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15518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4799-18C8-4AD2-B665-5924014CD327}" type="datetimeFigureOut">
              <a:rPr lang="es-CL" smtClean="0"/>
              <a:t>11-11-24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F6B11-1E57-4B30-81D0-1761BDD71655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04402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4799-18C8-4AD2-B665-5924014CD327}" type="datetimeFigureOut">
              <a:rPr lang="es-CL" smtClean="0"/>
              <a:t>11-11-24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F6B11-1E57-4B30-81D0-1761BDD71655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67349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4799-18C8-4AD2-B665-5924014CD327}" type="datetimeFigureOut">
              <a:rPr lang="es-CL" smtClean="0"/>
              <a:t>11-11-24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F6B11-1E57-4B30-81D0-1761BDD71655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33562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4799-18C8-4AD2-B665-5924014CD327}" type="datetimeFigureOut">
              <a:rPr lang="es-CL" smtClean="0"/>
              <a:t>11-11-24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F6B11-1E57-4B30-81D0-1761BDD71655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05615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4799-18C8-4AD2-B665-5924014CD327}" type="datetimeFigureOut">
              <a:rPr lang="es-CL" smtClean="0"/>
              <a:t>11-11-24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F6B11-1E57-4B30-81D0-1761BDD71655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33150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F24799-18C8-4AD2-B665-5924014CD327}" type="datetimeFigureOut">
              <a:rPr lang="es-CL" smtClean="0"/>
              <a:t>11-11-24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BF6B11-1E57-4B30-81D0-1761BDD71655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1197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F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16F051D-B807-4B11-92AA-B3AD055488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5" y="761"/>
            <a:ext cx="9141287" cy="514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743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4991" y="-47349"/>
            <a:ext cx="9263921" cy="5249555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883E587A-2136-DAFC-A5C8-BF2B6D52E5AC}"/>
              </a:ext>
            </a:extLst>
          </p:cNvPr>
          <p:cNvSpPr txBox="1"/>
          <p:nvPr/>
        </p:nvSpPr>
        <p:spPr>
          <a:xfrm>
            <a:off x="3266449" y="3205238"/>
            <a:ext cx="4241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dirty="0">
                <a:solidFill>
                  <a:schemeClr val="bg1">
                    <a:alpha val="70035"/>
                  </a:schemeClr>
                </a:solidFill>
                <a:latin typeface="SWISS 721 CONDENSED BT" panose="020B0506020202030204" pitchFamily="34" charset="0"/>
              </a:rPr>
              <a:t>Visualización de datos</a:t>
            </a:r>
          </a:p>
        </p:txBody>
      </p:sp>
    </p:spTree>
    <p:extLst>
      <p:ext uri="{BB962C8B-B14F-4D97-AF65-F5344CB8AC3E}">
        <p14:creationId xmlns:p14="http://schemas.microsoft.com/office/powerpoint/2010/main" val="3989501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1DB44EB2-7E04-8FA6-AAEA-9A4342877FB5}"/>
              </a:ext>
            </a:extLst>
          </p:cNvPr>
          <p:cNvSpPr txBox="1"/>
          <p:nvPr/>
        </p:nvSpPr>
        <p:spPr>
          <a:xfrm>
            <a:off x="3247660" y="3205238"/>
            <a:ext cx="4241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dirty="0">
                <a:solidFill>
                  <a:srgbClr val="012E46">
                    <a:alpha val="70035"/>
                  </a:srgbClr>
                </a:solidFill>
                <a:latin typeface="SWISS 721 CONDENSED BT" panose="020B0506020202030204" pitchFamily="34" charset="0"/>
              </a:rPr>
              <a:t>Previamente...</a:t>
            </a:r>
          </a:p>
        </p:txBody>
      </p:sp>
    </p:spTree>
    <p:extLst>
      <p:ext uri="{BB962C8B-B14F-4D97-AF65-F5344CB8AC3E}">
        <p14:creationId xmlns:p14="http://schemas.microsoft.com/office/powerpoint/2010/main" val="3784209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DF73B1AA-EF2D-52C3-96EE-7052F08AE782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28" name="CuadroTexto 3">
            <a:extLst>
              <a:ext uri="{FF2B5EF4-FFF2-40B4-BE49-F238E27FC236}">
                <a16:creationId xmlns:a16="http://schemas.microsoft.com/office/drawing/2014/main" id="{0713582C-534E-D44B-DE88-56DB92F3771F}"/>
              </a:ext>
            </a:extLst>
          </p:cNvPr>
          <p:cNvSpPr txBox="1"/>
          <p:nvPr/>
        </p:nvSpPr>
        <p:spPr>
          <a:xfrm>
            <a:off x="461033" y="748219"/>
            <a:ext cx="23445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Bibliotecas</a:t>
            </a:r>
            <a:endParaRPr lang="es-CL" sz="2000" dirty="0"/>
          </a:p>
        </p:txBody>
      </p:sp>
      <p:sp>
        <p:nvSpPr>
          <p:cNvPr id="2" name="CuadroTexto 10">
            <a:extLst>
              <a:ext uri="{FF2B5EF4-FFF2-40B4-BE49-F238E27FC236}">
                <a16:creationId xmlns:a16="http://schemas.microsoft.com/office/drawing/2014/main" id="{95BF40BF-191F-B529-DEFE-BC61B967404F}"/>
              </a:ext>
            </a:extLst>
          </p:cNvPr>
          <p:cNvSpPr txBox="1"/>
          <p:nvPr/>
        </p:nvSpPr>
        <p:spPr>
          <a:xfrm>
            <a:off x="501119" y="1232859"/>
            <a:ext cx="8063017" cy="9754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Una biblioteca es una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colección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funcionalidades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que proporciona un servicio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específico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 un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conjunto de servicios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Por ejemplo, la biblioteca </a:t>
            </a:r>
            <a:r>
              <a:rPr lang="es-ES" sz="1400" b="1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matemática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proporciona funciones para realizar operaciones matemáticas, como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seno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coseno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raíz cuadrada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etc. </a:t>
            </a:r>
            <a:endParaRPr lang="es-ES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CuadroTexto 2">
            <a:extLst>
              <a:ext uri="{FF2B5EF4-FFF2-40B4-BE49-F238E27FC236}">
                <a16:creationId xmlns:a16="http://schemas.microsoft.com/office/drawing/2014/main" id="{118054C3-8317-2AF1-BBC9-6E122A91603E}"/>
              </a:ext>
            </a:extLst>
          </p:cNvPr>
          <p:cNvSpPr txBox="1"/>
          <p:nvPr/>
        </p:nvSpPr>
        <p:spPr>
          <a:xfrm>
            <a:off x="501119" y="2381925"/>
            <a:ext cx="2304470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s-C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</a:t>
            </a:r>
            <a:endParaRPr lang="es-CL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uadroTexto 16">
            <a:extLst>
              <a:ext uri="{FF2B5EF4-FFF2-40B4-BE49-F238E27FC236}">
                <a16:creationId xmlns:a16="http://schemas.microsoft.com/office/drawing/2014/main" id="{9FF7E58C-2759-AFDD-37DD-111270EE5525}"/>
              </a:ext>
            </a:extLst>
          </p:cNvPr>
          <p:cNvSpPr txBox="1"/>
          <p:nvPr/>
        </p:nvSpPr>
        <p:spPr>
          <a:xfrm>
            <a:off x="4595386" y="3652467"/>
            <a:ext cx="3968750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s-C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</a:t>
            </a:r>
            <a:r>
              <a:rPr lang="es-C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s-C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sin</a:t>
            </a:r>
          </a:p>
        </p:txBody>
      </p:sp>
      <p:sp>
        <p:nvSpPr>
          <p:cNvPr id="6" name="CuadroTexto 2">
            <a:extLst>
              <a:ext uri="{FF2B5EF4-FFF2-40B4-BE49-F238E27FC236}">
                <a16:creationId xmlns:a16="http://schemas.microsoft.com/office/drawing/2014/main" id="{24DAA849-F43D-A0E7-A0BF-CB5A5CD61348}"/>
              </a:ext>
            </a:extLst>
          </p:cNvPr>
          <p:cNvSpPr txBox="1"/>
          <p:nvPr/>
        </p:nvSpPr>
        <p:spPr>
          <a:xfrm>
            <a:off x="2258984" y="3017196"/>
            <a:ext cx="3205113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 b="1"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es-CL" dirty="0" err="1"/>
              <a:t>import</a:t>
            </a:r>
            <a:r>
              <a:rPr lang="es-CL" dirty="0"/>
              <a:t> </a:t>
            </a:r>
            <a:r>
              <a:rPr lang="es-CL" dirty="0" err="1"/>
              <a:t>math</a:t>
            </a:r>
            <a:r>
              <a:rPr lang="es-CL" dirty="0"/>
              <a:t> as m</a:t>
            </a:r>
          </a:p>
        </p:txBody>
      </p:sp>
      <p:sp>
        <p:nvSpPr>
          <p:cNvPr id="8" name="Elipse 11">
            <a:extLst>
              <a:ext uri="{FF2B5EF4-FFF2-40B4-BE49-F238E27FC236}">
                <a16:creationId xmlns:a16="http://schemas.microsoft.com/office/drawing/2014/main" id="{CCFEBDB7-72EE-726E-F200-4D9160BB42B4}"/>
              </a:ext>
            </a:extLst>
          </p:cNvPr>
          <p:cNvSpPr/>
          <p:nvPr/>
        </p:nvSpPr>
        <p:spPr>
          <a:xfrm>
            <a:off x="2707741" y="2288965"/>
            <a:ext cx="183570" cy="1835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9" name="Elipse 11">
            <a:extLst>
              <a:ext uri="{FF2B5EF4-FFF2-40B4-BE49-F238E27FC236}">
                <a16:creationId xmlns:a16="http://schemas.microsoft.com/office/drawing/2014/main" id="{81ADF82F-2239-3E69-9C5A-4F8C9D304EE0}"/>
              </a:ext>
            </a:extLst>
          </p:cNvPr>
          <p:cNvSpPr/>
          <p:nvPr/>
        </p:nvSpPr>
        <p:spPr>
          <a:xfrm>
            <a:off x="5372312" y="2925411"/>
            <a:ext cx="183570" cy="1835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10" name="Elipse 11">
            <a:extLst>
              <a:ext uri="{FF2B5EF4-FFF2-40B4-BE49-F238E27FC236}">
                <a16:creationId xmlns:a16="http://schemas.microsoft.com/office/drawing/2014/main" id="{11AD04FC-8D01-7D05-8567-BC5D673A9F5A}"/>
              </a:ext>
            </a:extLst>
          </p:cNvPr>
          <p:cNvSpPr/>
          <p:nvPr/>
        </p:nvSpPr>
        <p:spPr>
          <a:xfrm>
            <a:off x="8472351" y="3560682"/>
            <a:ext cx="183570" cy="1835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15527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FCC8A-E1D7-4D45-A713-9C5426F89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BDDD29BE-5B11-4629-2D3B-73A30BFD5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4DC23829-1568-C9EC-817B-C6D6C19D3CAF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28" name="CuadroTexto 3">
            <a:extLst>
              <a:ext uri="{FF2B5EF4-FFF2-40B4-BE49-F238E27FC236}">
                <a16:creationId xmlns:a16="http://schemas.microsoft.com/office/drawing/2014/main" id="{632AAF53-7DC6-2C3F-313C-E061685EC52A}"/>
              </a:ext>
            </a:extLst>
          </p:cNvPr>
          <p:cNvSpPr txBox="1"/>
          <p:nvPr/>
        </p:nvSpPr>
        <p:spPr>
          <a:xfrm>
            <a:off x="461033" y="970856"/>
            <a:ext cx="83649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Estructuras</a:t>
            </a:r>
            <a:r>
              <a:rPr lang="es-ES_tradnl" sz="2000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</a:t>
            </a:r>
            <a:r>
              <a:rPr lang="es-ES" sz="2000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Neue"/>
              </a:rPr>
              <a:t>almacenar múltiples elementos en una sola variable </a:t>
            </a:r>
            <a:endParaRPr lang="es-CL" sz="2000" dirty="0">
              <a:solidFill>
                <a:srgbClr val="1956A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CuadroTexto 2">
            <a:extLst>
              <a:ext uri="{FF2B5EF4-FFF2-40B4-BE49-F238E27FC236}">
                <a16:creationId xmlns:a16="http://schemas.microsoft.com/office/drawing/2014/main" id="{886260C2-A143-91F2-B47E-299BFEB95503}"/>
              </a:ext>
            </a:extLst>
          </p:cNvPr>
          <p:cNvSpPr txBox="1"/>
          <p:nvPr/>
        </p:nvSpPr>
        <p:spPr>
          <a:xfrm>
            <a:off x="461033" y="1617453"/>
            <a:ext cx="8142378" cy="697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estructura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desordenada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 particularmente útil cuando se necesita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verificar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la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pertenencia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un elemento,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eliminar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duplicados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una lista, o realizar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operaciones matemáticas de conjuntos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</p:txBody>
      </p:sp>
      <p:sp>
        <p:nvSpPr>
          <p:cNvPr id="5" name="CuadroTexto 2">
            <a:extLst>
              <a:ext uri="{FF2B5EF4-FFF2-40B4-BE49-F238E27FC236}">
                <a16:creationId xmlns:a16="http://schemas.microsoft.com/office/drawing/2014/main" id="{3336A801-F4D4-E1BC-B16E-CC82583C6CB7}"/>
              </a:ext>
            </a:extLst>
          </p:cNvPr>
          <p:cNvSpPr txBox="1"/>
          <p:nvPr/>
        </p:nvSpPr>
        <p:spPr>
          <a:xfrm>
            <a:off x="461033" y="2622934"/>
            <a:ext cx="8142378" cy="374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Tuple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estructura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inmutable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lo que significa que no pueden ser modificada una vez declaradas.</a:t>
            </a:r>
          </a:p>
        </p:txBody>
      </p:sp>
      <p:sp>
        <p:nvSpPr>
          <p:cNvPr id="6" name="CuadroTexto 2">
            <a:extLst>
              <a:ext uri="{FF2B5EF4-FFF2-40B4-BE49-F238E27FC236}">
                <a16:creationId xmlns:a16="http://schemas.microsoft.com/office/drawing/2014/main" id="{E1530A9F-6B9A-4FC2-6282-7D4F9121CB8F}"/>
              </a:ext>
            </a:extLst>
          </p:cNvPr>
          <p:cNvSpPr txBox="1"/>
          <p:nvPr/>
        </p:nvSpPr>
        <p:spPr>
          <a:xfrm>
            <a:off x="461033" y="3305250"/>
            <a:ext cx="8142378" cy="697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Dict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estructura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desordenada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mutable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pares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clave-valor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Se utilizan para almacenar datos que tienen una asociación entre una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clave única 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 un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valor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95691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4991" y="-47349"/>
            <a:ext cx="9263921" cy="5249555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883E587A-2136-DAFC-A5C8-BF2B6D52E5AC}"/>
              </a:ext>
            </a:extLst>
          </p:cNvPr>
          <p:cNvSpPr txBox="1"/>
          <p:nvPr/>
        </p:nvSpPr>
        <p:spPr>
          <a:xfrm>
            <a:off x="3266449" y="3205238"/>
            <a:ext cx="4241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dirty="0">
                <a:solidFill>
                  <a:schemeClr val="bg1">
                    <a:alpha val="70035"/>
                  </a:schemeClr>
                </a:solidFill>
                <a:latin typeface="SWISS 721 CONDENSED BT" panose="020B0506020202030204" pitchFamily="34" charset="0"/>
              </a:rPr>
              <a:t>Módulo 01: Gráficos matemáticos</a:t>
            </a:r>
          </a:p>
        </p:txBody>
      </p:sp>
    </p:spTree>
    <p:extLst>
      <p:ext uri="{BB962C8B-B14F-4D97-AF65-F5344CB8AC3E}">
        <p14:creationId xmlns:p14="http://schemas.microsoft.com/office/powerpoint/2010/main" val="3705427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B1664-F555-DEF8-1063-1F6DDF0E1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79609DF1-E78F-FEA0-FDB2-82D53875ED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A26B2DC1-2D57-5795-AA48-E52E88DB3E57}"/>
              </a:ext>
            </a:extLst>
          </p:cNvPr>
          <p:cNvSpPr txBox="1"/>
          <p:nvPr/>
        </p:nvSpPr>
        <p:spPr>
          <a:xfrm>
            <a:off x="3247660" y="3205238"/>
            <a:ext cx="4241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 dirty="0" err="1">
                <a:solidFill>
                  <a:srgbClr val="012E46">
                    <a:alpha val="70035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Matplotlib</a:t>
            </a:r>
            <a:endParaRPr lang="es-CL" sz="1600" b="1" dirty="0">
              <a:solidFill>
                <a:srgbClr val="012E46">
                  <a:alpha val="70035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177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95CAA-3CDB-1290-71C1-0A63ABC23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17">
            <a:extLst>
              <a:ext uri="{FF2B5EF4-FFF2-40B4-BE49-F238E27FC236}">
                <a16:creationId xmlns:a16="http://schemas.microsoft.com/office/drawing/2014/main" id="{E1DC817C-739F-26EC-1322-D4C8E6C0B6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0FFF2A93-2D74-A8CC-C919-A12366A5221D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28" name="CuadroTexto 3">
            <a:extLst>
              <a:ext uri="{FF2B5EF4-FFF2-40B4-BE49-F238E27FC236}">
                <a16:creationId xmlns:a16="http://schemas.microsoft.com/office/drawing/2014/main" id="{944607E0-51AB-6D89-C6A6-CA36E15BECD6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 err="1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Matplotlib</a:t>
            </a:r>
            <a:endParaRPr lang="es-CL" sz="2000" dirty="0"/>
          </a:p>
        </p:txBody>
      </p:sp>
      <p:sp>
        <p:nvSpPr>
          <p:cNvPr id="5" name="CuadroTexto 2">
            <a:extLst>
              <a:ext uri="{FF2B5EF4-FFF2-40B4-BE49-F238E27FC236}">
                <a16:creationId xmlns:a16="http://schemas.microsoft.com/office/drawing/2014/main" id="{946E6FCC-930D-3986-C810-F9B9D3B92530}"/>
              </a:ext>
            </a:extLst>
          </p:cNvPr>
          <p:cNvSpPr txBox="1"/>
          <p:nvPr/>
        </p:nvSpPr>
        <p:spPr>
          <a:xfrm>
            <a:off x="461032" y="1351180"/>
            <a:ext cx="8412623" cy="2313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Matplotlib es una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biblioteca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Python utilizada para la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creación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gráficos y visualizaciones de datos: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Gráficos de líneas: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Gráficos de dispersión: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Histogramas: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Gráficos de barras: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Gráficos </a:t>
            </a:r>
            <a:r>
              <a:rPr lang="es-E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 3D:</a:t>
            </a:r>
            <a:endParaRPr lang="es-ES" sz="1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28" name="Picture 4" descr="Dominando gráficos en Python con Matplotlib y Seaborn – My Blog">
            <a:extLst>
              <a:ext uri="{FF2B5EF4-FFF2-40B4-BE49-F238E27FC236}">
                <a16:creationId xmlns:a16="http://schemas.microsoft.com/office/drawing/2014/main" id="{486FAA5C-432A-83B2-E5AB-BC34559ECD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343" y="1846699"/>
            <a:ext cx="4388431" cy="2313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5180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C1F78-1667-1C36-FB29-F6B21E933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AB6FB4F1-EC00-3849-756A-50A5148CEA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528"/>
            <a:ext cx="9141285" cy="5141972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8AD8B940-3F25-4E27-15A6-CDE1133942BE}"/>
              </a:ext>
            </a:extLst>
          </p:cNvPr>
          <p:cNvSpPr txBox="1"/>
          <p:nvPr/>
        </p:nvSpPr>
        <p:spPr>
          <a:xfrm>
            <a:off x="3247660" y="3205238"/>
            <a:ext cx="4241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 dirty="0" err="1">
                <a:solidFill>
                  <a:srgbClr val="012E46">
                    <a:alpha val="70035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pyplot</a:t>
            </a:r>
            <a:endParaRPr lang="es-CL" sz="1600" b="1" dirty="0">
              <a:solidFill>
                <a:srgbClr val="012E46">
                  <a:alpha val="70035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7828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CD37B-7C49-14BE-4D6A-39BCB80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BD273682-45D3-5A33-4A93-45367589E1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528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AF34D735-0091-AB09-9D64-8CFFAFA57CA3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28" name="CuadroTexto 3">
            <a:extLst>
              <a:ext uri="{FF2B5EF4-FFF2-40B4-BE49-F238E27FC236}">
                <a16:creationId xmlns:a16="http://schemas.microsoft.com/office/drawing/2014/main" id="{54C43E86-DF72-22E4-4DCF-409FD556F531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 err="1">
                <a:solidFill>
                  <a:srgbClr val="1956AF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matplotlib.pyplot</a:t>
            </a:r>
            <a:endParaRPr lang="es-CL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uadroTexto 2">
            <a:extLst>
              <a:ext uri="{FF2B5EF4-FFF2-40B4-BE49-F238E27FC236}">
                <a16:creationId xmlns:a16="http://schemas.microsoft.com/office/drawing/2014/main" id="{3A72BE9C-316B-F68C-2D9B-D1EE5B33F1EF}"/>
              </a:ext>
            </a:extLst>
          </p:cNvPr>
          <p:cNvSpPr txBox="1"/>
          <p:nvPr/>
        </p:nvSpPr>
        <p:spPr>
          <a:xfrm>
            <a:off x="499454" y="1182465"/>
            <a:ext cx="8142377" cy="12915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180000" bIns="180000">
            <a:spAutoFit/>
          </a:bodyPr>
          <a:lstStyle>
            <a:defPPr>
              <a:defRPr lang="en-US"/>
            </a:defPPr>
            <a:lvl1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es-ES" sz="1400" b="1" u="none" strike="noStrike" cap="none" dirty="0" err="1">
                <a:solidFill>
                  <a:schemeClr val="dk1"/>
                </a:solidFill>
                <a:latin typeface="Courier New" panose="02070309020205020404" pitchFamily="49" charset="0"/>
                <a:ea typeface="Helvetica Neue"/>
                <a:cs typeface="Courier New" panose="02070309020205020404" pitchFamily="49" charset="0"/>
                <a:sym typeface="Helvetica Neue"/>
              </a:rPr>
              <a:t>pyplot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 un módulo de la biblioteca </a:t>
            </a:r>
            <a:r>
              <a:rPr lang="es-ES" sz="1400" b="1" dirty="0" err="1">
                <a:solidFill>
                  <a:schemeClr val="dk1"/>
                </a:solidFill>
                <a:latin typeface="Courier New" panose="02070309020205020404" pitchFamily="49" charset="0"/>
                <a:ea typeface="Helvetica Neue"/>
                <a:cs typeface="Courier New" panose="02070309020205020404" pitchFamily="49" charset="0"/>
                <a:sym typeface="Helvetica Neue"/>
              </a:rPr>
              <a:t>matplotlib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que proporciona un medio para crear gráficos y visualizaciones de datos. Este módulo es especialmente útil para realizar tareas de visualización de datos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sin necesidad de conocer 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aspectos más complejos de la biblioteca.</a:t>
            </a:r>
          </a:p>
        </p:txBody>
      </p:sp>
      <p:sp>
        <p:nvSpPr>
          <p:cNvPr id="4" name="CuadroTexto 7">
            <a:extLst>
              <a:ext uri="{FF2B5EF4-FFF2-40B4-BE49-F238E27FC236}">
                <a16:creationId xmlns:a16="http://schemas.microsoft.com/office/drawing/2014/main" id="{9A78097C-9EEC-1F9B-B54A-9B5D4B42C4B5}"/>
              </a:ext>
            </a:extLst>
          </p:cNvPr>
          <p:cNvSpPr txBox="1"/>
          <p:nvPr/>
        </p:nvSpPr>
        <p:spPr>
          <a:xfrm>
            <a:off x="549219" y="2669446"/>
            <a:ext cx="4690691" cy="222855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matplotlib.pyplot</a:t>
            </a:r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</a:t>
            </a:r>
            <a:endParaRPr lang="es-CL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CL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# Datos</a:t>
            </a:r>
          </a:p>
          <a:p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x = [1, 2, 3, 4, 5]</a:t>
            </a:r>
          </a:p>
          <a:p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y = [2, 3, 5, 7, 11]</a:t>
            </a:r>
          </a:p>
          <a:p>
            <a:endParaRPr lang="es-CL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# Crear gráfico</a:t>
            </a:r>
          </a:p>
          <a:p>
            <a:r>
              <a:rPr lang="es-CL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s-CL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</a:t>
            </a:r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(x, y, </a:t>
            </a:r>
            <a:r>
              <a:rPr lang="es-CL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marker</a:t>
            </a:r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='o', </a:t>
            </a:r>
            <a:r>
              <a:rPr lang="es-CL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linestyle</a:t>
            </a:r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='-', </a:t>
            </a:r>
            <a:r>
              <a:rPr lang="es-CL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='blue')</a:t>
            </a:r>
          </a:p>
          <a:p>
            <a:r>
              <a:rPr lang="es-CL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s-CL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title</a:t>
            </a:r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('Gráfico de Líneas Simple')</a:t>
            </a:r>
          </a:p>
          <a:p>
            <a:r>
              <a:rPr lang="es-CL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s-CL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xlabel</a:t>
            </a:r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('Eje X')</a:t>
            </a:r>
          </a:p>
          <a:p>
            <a:r>
              <a:rPr lang="es-CL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s-CL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ylabel</a:t>
            </a:r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('Eje Y')</a:t>
            </a:r>
          </a:p>
          <a:p>
            <a:r>
              <a:rPr lang="es-CL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s-CL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</a:t>
            </a:r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s-CL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# Mostrar gráfico</a:t>
            </a:r>
          </a:p>
          <a:p>
            <a:r>
              <a:rPr lang="es-CL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s-CL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show</a:t>
            </a:r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pic>
        <p:nvPicPr>
          <p:cNvPr id="5" name="Imagen 8">
            <a:extLst>
              <a:ext uri="{FF2B5EF4-FFF2-40B4-BE49-F238E27FC236}">
                <a16:creationId xmlns:a16="http://schemas.microsoft.com/office/drawing/2014/main" id="{971B938A-C131-6046-F0F1-4852CFD51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0697" y="2603740"/>
            <a:ext cx="2921370" cy="2359968"/>
          </a:xfrm>
          <a:prstGeom prst="rect">
            <a:avLst/>
          </a:prstGeom>
        </p:spPr>
      </p:pic>
      <p:sp>
        <p:nvSpPr>
          <p:cNvPr id="6" name="Flecha derecha 9">
            <a:extLst>
              <a:ext uri="{FF2B5EF4-FFF2-40B4-BE49-F238E27FC236}">
                <a16:creationId xmlns:a16="http://schemas.microsoft.com/office/drawing/2014/main" id="{9B32DA75-FFC0-BBAB-629E-72DE92D5EBFB}"/>
              </a:ext>
            </a:extLst>
          </p:cNvPr>
          <p:cNvSpPr/>
          <p:nvPr/>
        </p:nvSpPr>
        <p:spPr>
          <a:xfrm>
            <a:off x="5071621" y="3783724"/>
            <a:ext cx="442898" cy="27699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8849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E92EF-BAE9-8A45-AD7D-3DD7D2579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0766CF6A-6083-CA94-97CA-61B2AFE91F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528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AD2552B2-9C47-1E55-C3BC-13FE556D5A1B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28" name="CuadroTexto 3">
            <a:extLst>
              <a:ext uri="{FF2B5EF4-FFF2-40B4-BE49-F238E27FC236}">
                <a16:creationId xmlns:a16="http://schemas.microsoft.com/office/drawing/2014/main" id="{5C82DDA8-F434-240F-4005-35FC66FE9E7C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 err="1">
                <a:solidFill>
                  <a:srgbClr val="1956AF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matplotlib.pyplot</a:t>
            </a:r>
            <a:endParaRPr lang="es-CL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uadroTexto 7">
            <a:extLst>
              <a:ext uri="{FF2B5EF4-FFF2-40B4-BE49-F238E27FC236}">
                <a16:creationId xmlns:a16="http://schemas.microsoft.com/office/drawing/2014/main" id="{548254AC-B2E3-862E-2AD6-31014435C606}"/>
              </a:ext>
            </a:extLst>
          </p:cNvPr>
          <p:cNvSpPr txBox="1"/>
          <p:nvPr/>
        </p:nvSpPr>
        <p:spPr>
          <a:xfrm>
            <a:off x="0" y="1148330"/>
            <a:ext cx="6555018" cy="35548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s-CL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matplotlib.pyplot</a:t>
            </a:r>
            <a:r>
              <a:rPr lang="es-CL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s-CL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</a:t>
            </a:r>
            <a:endParaRPr lang="es-CL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CL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L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# Datos</a:t>
            </a:r>
          </a:p>
          <a:p>
            <a:r>
              <a:rPr lang="es-CL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x = [1, 2, 3, 4, 5]</a:t>
            </a:r>
          </a:p>
          <a:p>
            <a:r>
              <a:rPr lang="es-CL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y = [2, 3, 5, 7, 11]</a:t>
            </a:r>
          </a:p>
          <a:p>
            <a:endParaRPr lang="es-CL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L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# Crear gráfico</a:t>
            </a:r>
          </a:p>
          <a:p>
            <a:r>
              <a:rPr lang="es-CL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s-CL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</a:t>
            </a:r>
            <a:r>
              <a:rPr lang="es-CL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(x, y, </a:t>
            </a:r>
            <a:r>
              <a:rPr lang="es-CL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marker</a:t>
            </a:r>
            <a:r>
              <a:rPr lang="es-CL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='o', </a:t>
            </a:r>
            <a:r>
              <a:rPr lang="es-CL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linestyle</a:t>
            </a:r>
            <a:r>
              <a:rPr lang="es-CL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='-', </a:t>
            </a:r>
            <a:r>
              <a:rPr lang="es-CL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es-CL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='blue')</a:t>
            </a:r>
          </a:p>
          <a:p>
            <a:r>
              <a:rPr lang="es-CL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s-CL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title</a:t>
            </a:r>
            <a:r>
              <a:rPr lang="es-CL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('Gráfico de Líneas Simple')</a:t>
            </a:r>
          </a:p>
          <a:p>
            <a:r>
              <a:rPr lang="es-CL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s-CL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xlabel</a:t>
            </a:r>
            <a:r>
              <a:rPr lang="es-CL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('Eje X')</a:t>
            </a:r>
          </a:p>
          <a:p>
            <a:r>
              <a:rPr lang="es-CL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s-CL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ylabel</a:t>
            </a:r>
            <a:r>
              <a:rPr lang="es-CL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('Eje Y')</a:t>
            </a:r>
          </a:p>
          <a:p>
            <a:r>
              <a:rPr lang="es-CL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s-CL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</a:t>
            </a:r>
            <a:r>
              <a:rPr lang="es-CL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s-CL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s-CL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L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# Mostrar gráfico</a:t>
            </a:r>
          </a:p>
          <a:p>
            <a:r>
              <a:rPr lang="es-CL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s-CL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show</a:t>
            </a:r>
            <a:r>
              <a:rPr lang="es-CL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7" name="CuadroTexto 5">
            <a:extLst>
              <a:ext uri="{FF2B5EF4-FFF2-40B4-BE49-F238E27FC236}">
                <a16:creationId xmlns:a16="http://schemas.microsoft.com/office/drawing/2014/main" id="{7698E12A-0B3B-4E36-BB76-56B0EB92B317}"/>
              </a:ext>
            </a:extLst>
          </p:cNvPr>
          <p:cNvSpPr txBox="1"/>
          <p:nvPr/>
        </p:nvSpPr>
        <p:spPr>
          <a:xfrm>
            <a:off x="6654824" y="1148329"/>
            <a:ext cx="2266988" cy="32912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lIns="90000" tIns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Importar la librería</a:t>
            </a:r>
            <a:endParaRPr lang="es-ES" sz="11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CuadroTexto 18">
            <a:extLst>
              <a:ext uri="{FF2B5EF4-FFF2-40B4-BE49-F238E27FC236}">
                <a16:creationId xmlns:a16="http://schemas.microsoft.com/office/drawing/2014/main" id="{14F857B8-E55E-05F9-0B91-FC1729B8ADDF}"/>
              </a:ext>
            </a:extLst>
          </p:cNvPr>
          <p:cNvSpPr txBox="1"/>
          <p:nvPr/>
        </p:nvSpPr>
        <p:spPr>
          <a:xfrm>
            <a:off x="6654824" y="1666664"/>
            <a:ext cx="2266988" cy="12986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lIns="90000" tIns="0">
            <a:spAutoFit/>
          </a:bodyPr>
          <a:lstStyle>
            <a:defPPr>
              <a:defRPr lang="en-US"/>
            </a:defPPr>
            <a:lvl1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s-ES" dirty="0">
                <a:sym typeface="Helvetica Neue"/>
              </a:rPr>
              <a:t>Definir los datos en dos listas. Cada lista guarda las componentes x e y de cada dato.</a:t>
            </a:r>
            <a:endParaRPr lang="es-ES" dirty="0">
              <a:sym typeface="Arial"/>
            </a:endParaRPr>
          </a:p>
        </p:txBody>
      </p:sp>
      <p:sp>
        <p:nvSpPr>
          <p:cNvPr id="9" name="CuadroTexto 22">
            <a:extLst>
              <a:ext uri="{FF2B5EF4-FFF2-40B4-BE49-F238E27FC236}">
                <a16:creationId xmlns:a16="http://schemas.microsoft.com/office/drawing/2014/main" id="{305924BB-463D-EBD9-1DFB-391328F52D98}"/>
              </a:ext>
            </a:extLst>
          </p:cNvPr>
          <p:cNvSpPr txBox="1"/>
          <p:nvPr/>
        </p:nvSpPr>
        <p:spPr>
          <a:xfrm>
            <a:off x="6654824" y="3154495"/>
            <a:ext cx="2266988" cy="97546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lIns="90000" tIns="0">
            <a:spAutoFit/>
          </a:bodyPr>
          <a:lstStyle>
            <a:defPPr>
              <a:defRPr lang="en-US"/>
            </a:defPPr>
            <a:lvl1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s-ES" dirty="0">
                <a:sym typeface="Helvetica Neue"/>
              </a:rPr>
              <a:t>Comandos del módulo pyplot para definir el gráfico</a:t>
            </a:r>
            <a:endParaRPr lang="es-ES" dirty="0">
              <a:sym typeface="Arial"/>
            </a:endParaRPr>
          </a:p>
        </p:txBody>
      </p:sp>
      <p:sp>
        <p:nvSpPr>
          <p:cNvPr id="10" name="CuadroTexto 28">
            <a:extLst>
              <a:ext uri="{FF2B5EF4-FFF2-40B4-BE49-F238E27FC236}">
                <a16:creationId xmlns:a16="http://schemas.microsoft.com/office/drawing/2014/main" id="{C9B056C7-E470-09B0-B40C-B078224549BC}"/>
              </a:ext>
            </a:extLst>
          </p:cNvPr>
          <p:cNvSpPr txBox="1"/>
          <p:nvPr/>
        </p:nvSpPr>
        <p:spPr>
          <a:xfrm>
            <a:off x="6654824" y="4281752"/>
            <a:ext cx="2266988" cy="65223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lIns="90000" tIns="0">
            <a:spAutoFit/>
          </a:bodyPr>
          <a:lstStyle>
            <a:defPPr>
              <a:defRPr lang="en-US"/>
            </a:defPPr>
            <a:lvl1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s-ES" dirty="0">
                <a:sym typeface="Helvetica Neue"/>
              </a:rPr>
              <a:t>Mostrar el gráfico definido</a:t>
            </a:r>
            <a:endParaRPr lang="es-ES" dirty="0">
              <a:sym typeface="Arial"/>
            </a:endParaRPr>
          </a:p>
        </p:txBody>
      </p:sp>
      <p:sp>
        <p:nvSpPr>
          <p:cNvPr id="11" name="Rectángulo redondeado 6">
            <a:extLst>
              <a:ext uri="{FF2B5EF4-FFF2-40B4-BE49-F238E27FC236}">
                <a16:creationId xmlns:a16="http://schemas.microsoft.com/office/drawing/2014/main" id="{D1004D2B-C2C7-CD19-FF62-0421C43881DF}"/>
              </a:ext>
            </a:extLst>
          </p:cNvPr>
          <p:cNvSpPr/>
          <p:nvPr/>
        </p:nvSpPr>
        <p:spPr>
          <a:xfrm>
            <a:off x="0" y="1154575"/>
            <a:ext cx="3745064" cy="322883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0A53C728-9C04-9927-4F96-05641B1B8204}"/>
              </a:ext>
            </a:extLst>
          </p:cNvPr>
          <p:cNvCxnSpPr>
            <a:cxnSpLocks/>
            <a:stCxn id="11" idx="3"/>
            <a:endCxn id="7" idx="1"/>
          </p:cNvCxnSpPr>
          <p:nvPr/>
        </p:nvCxnSpPr>
        <p:spPr>
          <a:xfrm flipV="1">
            <a:off x="3745064" y="1312894"/>
            <a:ext cx="2909760" cy="3123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ángulo redondeado 6">
            <a:extLst>
              <a:ext uri="{FF2B5EF4-FFF2-40B4-BE49-F238E27FC236}">
                <a16:creationId xmlns:a16="http://schemas.microsoft.com/office/drawing/2014/main" id="{8B4ACAB4-4E80-926A-ADCC-85F2DCE774BA}"/>
              </a:ext>
            </a:extLst>
          </p:cNvPr>
          <p:cNvSpPr/>
          <p:nvPr/>
        </p:nvSpPr>
        <p:spPr>
          <a:xfrm>
            <a:off x="0" y="1836752"/>
            <a:ext cx="2586268" cy="550712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19" name="Conector recto de flecha 11">
            <a:extLst>
              <a:ext uri="{FF2B5EF4-FFF2-40B4-BE49-F238E27FC236}">
                <a16:creationId xmlns:a16="http://schemas.microsoft.com/office/drawing/2014/main" id="{66781168-DB3B-1901-A989-A73567FFFF38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2586268" y="2112108"/>
            <a:ext cx="4068556" cy="18458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ángulo redondeado 6">
            <a:extLst>
              <a:ext uri="{FF2B5EF4-FFF2-40B4-BE49-F238E27FC236}">
                <a16:creationId xmlns:a16="http://schemas.microsoft.com/office/drawing/2014/main" id="{DEEAE82E-1061-7F21-0E5E-7FBDDB614256}"/>
              </a:ext>
            </a:extLst>
          </p:cNvPr>
          <p:cNvSpPr/>
          <p:nvPr/>
        </p:nvSpPr>
        <p:spPr>
          <a:xfrm>
            <a:off x="0" y="2757363"/>
            <a:ext cx="6435351" cy="1260886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23" name="Conector recto de flecha 11">
            <a:extLst>
              <a:ext uri="{FF2B5EF4-FFF2-40B4-BE49-F238E27FC236}">
                <a16:creationId xmlns:a16="http://schemas.microsoft.com/office/drawing/2014/main" id="{2435EBCA-4DB6-805C-8CA9-C2856546B767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>
            <a:off x="6435351" y="3387806"/>
            <a:ext cx="219473" cy="254419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ángulo redondeado 6">
            <a:extLst>
              <a:ext uri="{FF2B5EF4-FFF2-40B4-BE49-F238E27FC236}">
                <a16:creationId xmlns:a16="http://schemas.microsoft.com/office/drawing/2014/main" id="{8804D899-71ED-0760-6CB0-3A19178DF4CE}"/>
              </a:ext>
            </a:extLst>
          </p:cNvPr>
          <p:cNvSpPr/>
          <p:nvPr/>
        </p:nvSpPr>
        <p:spPr>
          <a:xfrm>
            <a:off x="0" y="4385430"/>
            <a:ext cx="1311965" cy="317719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33" name="Conector recto de flecha 11">
            <a:extLst>
              <a:ext uri="{FF2B5EF4-FFF2-40B4-BE49-F238E27FC236}">
                <a16:creationId xmlns:a16="http://schemas.microsoft.com/office/drawing/2014/main" id="{AEFE7C22-639B-13C7-5977-3038D0535B24}"/>
              </a:ext>
            </a:extLst>
          </p:cNvPr>
          <p:cNvCxnSpPr>
            <a:cxnSpLocks/>
            <a:stCxn id="32" idx="3"/>
          </p:cNvCxnSpPr>
          <p:nvPr/>
        </p:nvCxnSpPr>
        <p:spPr>
          <a:xfrm flipV="1">
            <a:off x="1311965" y="4543749"/>
            <a:ext cx="5342859" cy="541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7911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D2C8C-E65F-C6EB-5D04-EFCBAEC17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E2148787-317B-8794-09D8-650C47104C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528"/>
            <a:ext cx="9141285" cy="5141972"/>
          </a:xfrm>
          <a:prstGeom prst="rect">
            <a:avLst/>
          </a:prstGeom>
        </p:spPr>
      </p:pic>
      <p:sp>
        <p:nvSpPr>
          <p:cNvPr id="28" name="CuadroTexto 3">
            <a:extLst>
              <a:ext uri="{FF2B5EF4-FFF2-40B4-BE49-F238E27FC236}">
                <a16:creationId xmlns:a16="http://schemas.microsoft.com/office/drawing/2014/main" id="{8D4EA293-EF1F-48EF-44C0-92576E098A4B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 err="1">
                <a:solidFill>
                  <a:srgbClr val="1956AF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matplotlib.pyplot</a:t>
            </a:r>
            <a:endParaRPr lang="es-CL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uadroTexto 7">
            <a:extLst>
              <a:ext uri="{FF2B5EF4-FFF2-40B4-BE49-F238E27FC236}">
                <a16:creationId xmlns:a16="http://schemas.microsoft.com/office/drawing/2014/main" id="{68755C7D-CC2A-E5D8-8451-44904778F518}"/>
              </a:ext>
            </a:extLst>
          </p:cNvPr>
          <p:cNvSpPr txBox="1"/>
          <p:nvPr/>
        </p:nvSpPr>
        <p:spPr>
          <a:xfrm>
            <a:off x="804497" y="1654565"/>
            <a:ext cx="2658332" cy="116955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 Datos</a:t>
            </a:r>
          </a:p>
          <a:p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x = [1, 2, 3, 4, 5]</a:t>
            </a:r>
          </a:p>
          <a:p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y = [2, 3, 5, 7, 11]</a:t>
            </a:r>
          </a:p>
          <a:p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  <p:sp>
        <p:nvSpPr>
          <p:cNvPr id="5" name="Rectángulo redondeado 19">
            <a:extLst>
              <a:ext uri="{FF2B5EF4-FFF2-40B4-BE49-F238E27FC236}">
                <a16:creationId xmlns:a16="http://schemas.microsoft.com/office/drawing/2014/main" id="{8548E278-AFAA-3839-1F55-4D705207E3EB}"/>
              </a:ext>
            </a:extLst>
          </p:cNvPr>
          <p:cNvSpPr/>
          <p:nvPr/>
        </p:nvSpPr>
        <p:spPr>
          <a:xfrm>
            <a:off x="1369752" y="2091045"/>
            <a:ext cx="188428" cy="503990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6" name="Imagen 2">
            <a:extLst>
              <a:ext uri="{FF2B5EF4-FFF2-40B4-BE49-F238E27FC236}">
                <a16:creationId xmlns:a16="http://schemas.microsoft.com/office/drawing/2014/main" id="{10BB062D-93CE-3C9A-EA1C-475CCAEFB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8085" y="1092540"/>
            <a:ext cx="5014625" cy="4050960"/>
          </a:xfrm>
          <a:prstGeom prst="rect">
            <a:avLst/>
          </a:prstGeom>
        </p:spPr>
      </p:pic>
      <p:cxnSp>
        <p:nvCxnSpPr>
          <p:cNvPr id="13" name="Conector curvado 8">
            <a:extLst>
              <a:ext uri="{FF2B5EF4-FFF2-40B4-BE49-F238E27FC236}">
                <a16:creationId xmlns:a16="http://schemas.microsoft.com/office/drawing/2014/main" id="{94E64359-9A66-E86C-CCEC-048034988DFE}"/>
              </a:ext>
            </a:extLst>
          </p:cNvPr>
          <p:cNvCxnSpPr>
            <a:cxnSpLocks/>
            <a:stCxn id="5" idx="2"/>
          </p:cNvCxnSpPr>
          <p:nvPr/>
        </p:nvCxnSpPr>
        <p:spPr>
          <a:xfrm rot="16200000" flipH="1">
            <a:off x="2118359" y="1940642"/>
            <a:ext cx="1934418" cy="3243204"/>
          </a:xfrm>
          <a:prstGeom prst="curvedConnector2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ángulo redondeado 10">
            <a:extLst>
              <a:ext uri="{FF2B5EF4-FFF2-40B4-BE49-F238E27FC236}">
                <a16:creationId xmlns:a16="http://schemas.microsoft.com/office/drawing/2014/main" id="{82CD312B-F8DD-3BF5-816D-5B2135E5A8F7}"/>
              </a:ext>
            </a:extLst>
          </p:cNvPr>
          <p:cNvSpPr/>
          <p:nvPr/>
        </p:nvSpPr>
        <p:spPr>
          <a:xfrm>
            <a:off x="2362202" y="2072152"/>
            <a:ext cx="188428" cy="503990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15" name="Conector curvado 12">
            <a:extLst>
              <a:ext uri="{FF2B5EF4-FFF2-40B4-BE49-F238E27FC236}">
                <a16:creationId xmlns:a16="http://schemas.microsoft.com/office/drawing/2014/main" id="{F1E7CFF0-2B09-BA5F-C37D-855D4A05E3B4}"/>
              </a:ext>
            </a:extLst>
          </p:cNvPr>
          <p:cNvCxnSpPr>
            <a:cxnSpLocks/>
            <a:stCxn id="14" idx="2"/>
          </p:cNvCxnSpPr>
          <p:nvPr/>
        </p:nvCxnSpPr>
        <p:spPr>
          <a:xfrm rot="16200000" flipH="1">
            <a:off x="4974468" y="58090"/>
            <a:ext cx="281728" cy="5317832"/>
          </a:xfrm>
          <a:prstGeom prst="curvedConnector2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uadroTexto 4">
            <a:extLst>
              <a:ext uri="{FF2B5EF4-FFF2-40B4-BE49-F238E27FC236}">
                <a16:creationId xmlns:a16="http://schemas.microsoft.com/office/drawing/2014/main" id="{AFABF0CF-0D89-8355-061E-B985CE62C37F}"/>
              </a:ext>
            </a:extLst>
          </p:cNvPr>
          <p:cNvSpPr txBox="1"/>
          <p:nvPr/>
        </p:nvSpPr>
        <p:spPr>
          <a:xfrm>
            <a:off x="1558180" y="1313034"/>
            <a:ext cx="1904649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r"/>
            <a:r>
              <a:rPr lang="es-CL" sz="14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Datos a graficar</a:t>
            </a:r>
          </a:p>
        </p:txBody>
      </p:sp>
    </p:spTree>
    <p:extLst>
      <p:ext uri="{BB962C8B-B14F-4D97-AF65-F5344CB8AC3E}">
        <p14:creationId xmlns:p14="http://schemas.microsoft.com/office/powerpoint/2010/main" val="3663677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75D09-012C-5D7B-D4DA-C8500EE19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A11F0BB-FD98-5B30-03FD-C6402B87D175}"/>
              </a:ext>
            </a:extLst>
          </p:cNvPr>
          <p:cNvGrpSpPr/>
          <p:nvPr/>
        </p:nvGrpSpPr>
        <p:grpSpPr>
          <a:xfrm>
            <a:off x="0" y="1528"/>
            <a:ext cx="9141285" cy="5141972"/>
            <a:chOff x="0" y="1528"/>
            <a:chExt cx="9141285" cy="5141972"/>
          </a:xfrm>
        </p:grpSpPr>
        <p:pic>
          <p:nvPicPr>
            <p:cNvPr id="7" name="Imagen 17">
              <a:extLst>
                <a:ext uri="{FF2B5EF4-FFF2-40B4-BE49-F238E27FC236}">
                  <a16:creationId xmlns:a16="http://schemas.microsoft.com/office/drawing/2014/main" id="{F89CCDC4-2F56-1AAC-A9E1-A64288E5F8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0" y="1528"/>
              <a:ext cx="9141285" cy="5141972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</p:pic>
        <p:sp>
          <p:nvSpPr>
            <p:cNvPr id="8" name="CuadroTexto 1">
              <a:extLst>
                <a:ext uri="{FF2B5EF4-FFF2-40B4-BE49-F238E27FC236}">
                  <a16:creationId xmlns:a16="http://schemas.microsoft.com/office/drawing/2014/main" id="{03C5AF8F-8DA8-35ED-011F-DA27D69AE5C6}"/>
                </a:ext>
              </a:extLst>
            </p:cNvPr>
            <p:cNvSpPr txBox="1"/>
            <p:nvPr/>
          </p:nvSpPr>
          <p:spPr>
            <a:xfrm>
              <a:off x="2586268" y="4243770"/>
              <a:ext cx="3968750" cy="4924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CL" sz="1000" dirty="0">
                  <a:solidFill>
                    <a:srgbClr val="012E46">
                      <a:alpha val="29869"/>
                    </a:srgbClr>
                  </a:solidFill>
                  <a:latin typeface="Product Sans" panose="020B0403030502040203" pitchFamily="34" charset="0"/>
                </a:rPr>
                <a:t>Plan Común:</a:t>
              </a:r>
            </a:p>
            <a:p>
              <a:pPr algn="ctr"/>
              <a:r>
                <a:rPr lang="es-CL" sz="1600" b="1" dirty="0">
                  <a:solidFill>
                    <a:srgbClr val="012E46">
                      <a:alpha val="29869"/>
                    </a:srgbClr>
                  </a:solidFill>
                  <a:latin typeface="Product Sans" panose="020B0403030502040203" pitchFamily="34" charset="0"/>
                </a:rPr>
                <a:t>Programación</a:t>
              </a:r>
            </a:p>
          </p:txBody>
        </p:sp>
      </p:grpSp>
      <p:sp>
        <p:nvSpPr>
          <p:cNvPr id="10" name="CuadroTexto 3">
            <a:extLst>
              <a:ext uri="{FF2B5EF4-FFF2-40B4-BE49-F238E27FC236}">
                <a16:creationId xmlns:a16="http://schemas.microsoft.com/office/drawing/2014/main" id="{0C1D99F1-BA30-5B5C-1659-FE1140416C3D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 err="1">
                <a:solidFill>
                  <a:srgbClr val="1956AF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matplotlib.pyplot</a:t>
            </a:r>
            <a:endParaRPr lang="es-CL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CuadroTexto 4">
            <a:extLst>
              <a:ext uri="{FF2B5EF4-FFF2-40B4-BE49-F238E27FC236}">
                <a16:creationId xmlns:a16="http://schemas.microsoft.com/office/drawing/2014/main" id="{0529428D-1635-BBA7-81CB-7DF34D813F30}"/>
              </a:ext>
            </a:extLst>
          </p:cNvPr>
          <p:cNvSpPr txBox="1"/>
          <p:nvPr/>
        </p:nvSpPr>
        <p:spPr>
          <a:xfrm>
            <a:off x="591961" y="1696863"/>
            <a:ext cx="7960078" cy="7386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r>
              <a:rPr lang="es-C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s-C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(x  , y ,  </a:t>
            </a:r>
            <a:r>
              <a:rPr lang="es-C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marker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='o'  ,   </a:t>
            </a:r>
            <a:r>
              <a:rPr lang="es-C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linestyle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='-'  ,  </a:t>
            </a:r>
            <a:r>
              <a:rPr lang="es-CL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='blue'   )</a:t>
            </a:r>
          </a:p>
          <a:p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  <p:sp>
        <p:nvSpPr>
          <p:cNvPr id="12" name="CuadroTexto 7">
            <a:extLst>
              <a:ext uri="{FF2B5EF4-FFF2-40B4-BE49-F238E27FC236}">
                <a16:creationId xmlns:a16="http://schemas.microsoft.com/office/drawing/2014/main" id="{45F75336-B704-EBCA-C955-FD7F347659DB}"/>
              </a:ext>
            </a:extLst>
          </p:cNvPr>
          <p:cNvSpPr txBox="1"/>
          <p:nvPr/>
        </p:nvSpPr>
        <p:spPr>
          <a:xfrm>
            <a:off x="2776463" y="2990360"/>
            <a:ext cx="1073240" cy="503590"/>
          </a:xfrm>
          <a:prstGeom prst="rect">
            <a:avLst/>
          </a:prstGeom>
          <a:solidFill>
            <a:schemeClr val="tx1"/>
          </a:solidFill>
        </p:spPr>
        <p:txBody>
          <a:bodyPr wrap="square" lIns="0" tIns="36000" rIns="0" bIns="3600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0" i="0" u="none" strike="noStrike" cap="none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Tipo de marcador</a:t>
            </a:r>
            <a:endParaRPr lang="es-ES" sz="11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Rectángulo redondeado 8">
            <a:extLst>
              <a:ext uri="{FF2B5EF4-FFF2-40B4-BE49-F238E27FC236}">
                <a16:creationId xmlns:a16="http://schemas.microsoft.com/office/drawing/2014/main" id="{F59AB0B6-B5CC-6688-0B82-B98F9A2BC9C0}"/>
              </a:ext>
            </a:extLst>
          </p:cNvPr>
          <p:cNvSpPr/>
          <p:nvPr/>
        </p:nvSpPr>
        <p:spPr>
          <a:xfrm>
            <a:off x="2628625" y="1896485"/>
            <a:ext cx="1368917" cy="322119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/>
              <a:t> </a:t>
            </a:r>
          </a:p>
        </p:txBody>
      </p:sp>
      <p:cxnSp>
        <p:nvCxnSpPr>
          <p:cNvPr id="17" name="Conector recto de flecha 11">
            <a:extLst>
              <a:ext uri="{FF2B5EF4-FFF2-40B4-BE49-F238E27FC236}">
                <a16:creationId xmlns:a16="http://schemas.microsoft.com/office/drawing/2014/main" id="{16B64F6E-8DE6-52BD-B1A0-9EF9F5337A77}"/>
              </a:ext>
            </a:extLst>
          </p:cNvPr>
          <p:cNvCxnSpPr>
            <a:cxnSpLocks/>
            <a:stCxn id="16" idx="2"/>
            <a:endCxn id="12" idx="0"/>
          </p:cNvCxnSpPr>
          <p:nvPr/>
        </p:nvCxnSpPr>
        <p:spPr>
          <a:xfrm flipH="1">
            <a:off x="3313083" y="2218604"/>
            <a:ext cx="1" cy="7717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9" name="Rectángulo redondeado 16">
            <a:extLst>
              <a:ext uri="{FF2B5EF4-FFF2-40B4-BE49-F238E27FC236}">
                <a16:creationId xmlns:a16="http://schemas.microsoft.com/office/drawing/2014/main" id="{57F5612B-0791-7D21-17EA-334CE58F4B87}"/>
              </a:ext>
            </a:extLst>
          </p:cNvPr>
          <p:cNvSpPr/>
          <p:nvPr/>
        </p:nvSpPr>
        <p:spPr>
          <a:xfrm>
            <a:off x="4307942" y="1905135"/>
            <a:ext cx="1726263" cy="322119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20" name="Conector recto de flecha 17">
            <a:extLst>
              <a:ext uri="{FF2B5EF4-FFF2-40B4-BE49-F238E27FC236}">
                <a16:creationId xmlns:a16="http://schemas.microsoft.com/office/drawing/2014/main" id="{41579556-C536-EE00-AEB7-AD7C2C06800D}"/>
              </a:ext>
            </a:extLst>
          </p:cNvPr>
          <p:cNvCxnSpPr>
            <a:cxnSpLocks/>
            <a:stCxn id="19" idx="2"/>
            <a:endCxn id="21" idx="0"/>
          </p:cNvCxnSpPr>
          <p:nvPr/>
        </p:nvCxnSpPr>
        <p:spPr>
          <a:xfrm flipH="1">
            <a:off x="5171073" y="2227254"/>
            <a:ext cx="1" cy="7938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E119E5F-04D2-BEC6-45EE-D32CA5318025}"/>
              </a:ext>
            </a:extLst>
          </p:cNvPr>
          <p:cNvSpPr txBox="1"/>
          <p:nvPr/>
        </p:nvSpPr>
        <p:spPr>
          <a:xfrm>
            <a:off x="4634453" y="3021146"/>
            <a:ext cx="1073240" cy="288147"/>
          </a:xfrm>
          <a:prstGeom prst="rect">
            <a:avLst/>
          </a:prstGeom>
          <a:solidFill>
            <a:schemeClr val="tx1"/>
          </a:solidFill>
        </p:spPr>
        <p:txBody>
          <a:bodyPr wrap="square" lIns="0" tIns="36000" rIns="0" bIns="3600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0" i="0" u="none" strike="noStrike" cap="none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Tipo de línea</a:t>
            </a:r>
            <a:endParaRPr lang="es-ES" sz="11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Rectángulo redondeado 22">
            <a:extLst>
              <a:ext uri="{FF2B5EF4-FFF2-40B4-BE49-F238E27FC236}">
                <a16:creationId xmlns:a16="http://schemas.microsoft.com/office/drawing/2014/main" id="{05B95307-8034-8B3C-E65C-7F6D87049867}"/>
              </a:ext>
            </a:extLst>
          </p:cNvPr>
          <p:cNvSpPr/>
          <p:nvPr/>
        </p:nvSpPr>
        <p:spPr>
          <a:xfrm>
            <a:off x="6315357" y="1913247"/>
            <a:ext cx="1585594" cy="322119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23" name="Conector recto de flecha 23">
            <a:extLst>
              <a:ext uri="{FF2B5EF4-FFF2-40B4-BE49-F238E27FC236}">
                <a16:creationId xmlns:a16="http://schemas.microsoft.com/office/drawing/2014/main" id="{2A9B6279-FBEB-434C-A951-40FDBA3C961E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>
            <a:off x="7108154" y="2235366"/>
            <a:ext cx="0" cy="7857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4" name="CuadroTexto 29">
            <a:extLst>
              <a:ext uri="{FF2B5EF4-FFF2-40B4-BE49-F238E27FC236}">
                <a16:creationId xmlns:a16="http://schemas.microsoft.com/office/drawing/2014/main" id="{B7E042CB-5505-2B90-7F3E-D59F8ED12388}"/>
              </a:ext>
            </a:extLst>
          </p:cNvPr>
          <p:cNvSpPr txBox="1"/>
          <p:nvPr/>
        </p:nvSpPr>
        <p:spPr>
          <a:xfrm>
            <a:off x="6571534" y="3021146"/>
            <a:ext cx="1073240" cy="934478"/>
          </a:xfrm>
          <a:prstGeom prst="rect">
            <a:avLst/>
          </a:prstGeom>
          <a:solidFill>
            <a:schemeClr val="tx1"/>
          </a:solidFill>
        </p:spPr>
        <p:txBody>
          <a:bodyPr wrap="square" lIns="0" tIns="36000" rIns="0" bIns="3600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0" i="0" u="none" strike="noStrike" cap="none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Especifica el color del marcador y de la línea</a:t>
            </a:r>
            <a:endParaRPr lang="es-ES" sz="11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Rectángulo redondeado 46">
            <a:extLst>
              <a:ext uri="{FF2B5EF4-FFF2-40B4-BE49-F238E27FC236}">
                <a16:creationId xmlns:a16="http://schemas.microsoft.com/office/drawing/2014/main" id="{D434C375-81C0-9B81-5F1D-C3457B8444B5}"/>
              </a:ext>
            </a:extLst>
          </p:cNvPr>
          <p:cNvSpPr/>
          <p:nvPr/>
        </p:nvSpPr>
        <p:spPr>
          <a:xfrm>
            <a:off x="1621629" y="1883751"/>
            <a:ext cx="735676" cy="322119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/>
              <a:t> </a:t>
            </a:r>
          </a:p>
        </p:txBody>
      </p:sp>
      <p:cxnSp>
        <p:nvCxnSpPr>
          <p:cNvPr id="26" name="Conector recto de flecha 47">
            <a:extLst>
              <a:ext uri="{FF2B5EF4-FFF2-40B4-BE49-F238E27FC236}">
                <a16:creationId xmlns:a16="http://schemas.microsoft.com/office/drawing/2014/main" id="{39236C51-1B7C-C59B-A922-DDCEAEB6E148}"/>
              </a:ext>
            </a:extLst>
          </p:cNvPr>
          <p:cNvCxnSpPr>
            <a:cxnSpLocks/>
            <a:stCxn id="25" idx="2"/>
            <a:endCxn id="27" idx="0"/>
          </p:cNvCxnSpPr>
          <p:nvPr/>
        </p:nvCxnSpPr>
        <p:spPr>
          <a:xfrm>
            <a:off x="1989467" y="2205870"/>
            <a:ext cx="2080" cy="1534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7" name="CuadroTexto 50">
            <a:extLst>
              <a:ext uri="{FF2B5EF4-FFF2-40B4-BE49-F238E27FC236}">
                <a16:creationId xmlns:a16="http://schemas.microsoft.com/office/drawing/2014/main" id="{49E3C663-F92C-E64A-59D7-32043F5B9930}"/>
              </a:ext>
            </a:extLst>
          </p:cNvPr>
          <p:cNvSpPr txBox="1"/>
          <p:nvPr/>
        </p:nvSpPr>
        <p:spPr>
          <a:xfrm>
            <a:off x="1454927" y="3740180"/>
            <a:ext cx="1073240" cy="503590"/>
          </a:xfrm>
          <a:prstGeom prst="rect">
            <a:avLst/>
          </a:prstGeom>
          <a:solidFill>
            <a:schemeClr val="tx1"/>
          </a:solidFill>
        </p:spPr>
        <p:txBody>
          <a:bodyPr wrap="square" lIns="0" tIns="36000" rIns="0" bIns="3600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Datos a graficar</a:t>
            </a:r>
            <a:endParaRPr lang="es-ES" sz="11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CuadroTexto 4">
            <a:extLst>
              <a:ext uri="{FF2B5EF4-FFF2-40B4-BE49-F238E27FC236}">
                <a16:creationId xmlns:a16="http://schemas.microsoft.com/office/drawing/2014/main" id="{1AF062DA-576B-B0C4-D127-A4EB3FA7541A}"/>
              </a:ext>
            </a:extLst>
          </p:cNvPr>
          <p:cNvSpPr txBox="1"/>
          <p:nvPr/>
        </p:nvSpPr>
        <p:spPr>
          <a:xfrm>
            <a:off x="6034205" y="1317323"/>
            <a:ext cx="2517834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r"/>
            <a:r>
              <a:rPr lang="es-CL" sz="14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Parámetros del módulo</a:t>
            </a:r>
          </a:p>
        </p:txBody>
      </p:sp>
    </p:spTree>
    <p:extLst>
      <p:ext uri="{BB962C8B-B14F-4D97-AF65-F5344CB8AC3E}">
        <p14:creationId xmlns:p14="http://schemas.microsoft.com/office/powerpoint/2010/main" val="26612874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D55BA-2137-C588-AA16-79DB3C143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EF08C8D-B387-8200-AA4F-E28B50B1F43E}"/>
              </a:ext>
            </a:extLst>
          </p:cNvPr>
          <p:cNvGrpSpPr/>
          <p:nvPr/>
        </p:nvGrpSpPr>
        <p:grpSpPr>
          <a:xfrm>
            <a:off x="0" y="1528"/>
            <a:ext cx="9141285" cy="5141972"/>
            <a:chOff x="0" y="1528"/>
            <a:chExt cx="9141285" cy="5141972"/>
          </a:xfrm>
        </p:grpSpPr>
        <p:pic>
          <p:nvPicPr>
            <p:cNvPr id="7" name="Imagen 17">
              <a:extLst>
                <a:ext uri="{FF2B5EF4-FFF2-40B4-BE49-F238E27FC236}">
                  <a16:creationId xmlns:a16="http://schemas.microsoft.com/office/drawing/2014/main" id="{0D1DBD0A-9248-7D07-2240-13298E7C6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0" y="1528"/>
              <a:ext cx="9141285" cy="5141972"/>
            </a:xfrm>
            <a:prstGeom prst="rect">
              <a:avLst/>
            </a:prstGeom>
          </p:spPr>
        </p:pic>
        <p:sp>
          <p:nvSpPr>
            <p:cNvPr id="8" name="CuadroTexto 1">
              <a:extLst>
                <a:ext uri="{FF2B5EF4-FFF2-40B4-BE49-F238E27FC236}">
                  <a16:creationId xmlns:a16="http://schemas.microsoft.com/office/drawing/2014/main" id="{C928852D-8517-1A33-C22D-680A089BB33F}"/>
                </a:ext>
              </a:extLst>
            </p:cNvPr>
            <p:cNvSpPr txBox="1"/>
            <p:nvPr/>
          </p:nvSpPr>
          <p:spPr>
            <a:xfrm>
              <a:off x="2586268" y="4243770"/>
              <a:ext cx="3968750" cy="4924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CL" sz="1000" dirty="0">
                  <a:solidFill>
                    <a:srgbClr val="012E46">
                      <a:alpha val="29869"/>
                    </a:srgbClr>
                  </a:solidFill>
                  <a:latin typeface="Product Sans" panose="020B0403030502040203" pitchFamily="34" charset="0"/>
                </a:rPr>
                <a:t>Plan Común:</a:t>
              </a:r>
            </a:p>
            <a:p>
              <a:pPr algn="ctr"/>
              <a:r>
                <a:rPr lang="es-CL" sz="1600" b="1" dirty="0">
                  <a:solidFill>
                    <a:srgbClr val="012E46">
                      <a:alpha val="29869"/>
                    </a:srgbClr>
                  </a:solidFill>
                  <a:latin typeface="Product Sans" panose="020B0403030502040203" pitchFamily="34" charset="0"/>
                </a:rPr>
                <a:t>Programación</a:t>
              </a:r>
            </a:p>
          </p:txBody>
        </p:sp>
      </p:grpSp>
      <p:sp>
        <p:nvSpPr>
          <p:cNvPr id="10" name="CuadroTexto 3">
            <a:extLst>
              <a:ext uri="{FF2B5EF4-FFF2-40B4-BE49-F238E27FC236}">
                <a16:creationId xmlns:a16="http://schemas.microsoft.com/office/drawing/2014/main" id="{533737A6-7F33-2F29-6338-639DACED4A8E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 err="1">
                <a:solidFill>
                  <a:srgbClr val="1956AF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matplotlib.pyplot</a:t>
            </a:r>
            <a:endParaRPr lang="es-CL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uadroTexto 4">
            <a:extLst>
              <a:ext uri="{FF2B5EF4-FFF2-40B4-BE49-F238E27FC236}">
                <a16:creationId xmlns:a16="http://schemas.microsoft.com/office/drawing/2014/main" id="{42DE1D51-2D15-F325-2AC8-DF63E53BBEA8}"/>
              </a:ext>
            </a:extLst>
          </p:cNvPr>
          <p:cNvSpPr txBox="1"/>
          <p:nvPr/>
        </p:nvSpPr>
        <p:spPr>
          <a:xfrm>
            <a:off x="351258" y="1282496"/>
            <a:ext cx="6073395" cy="7386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r>
              <a:rPr lang="es-C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s-C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(x, y, </a:t>
            </a:r>
            <a:r>
              <a:rPr lang="es-C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marker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='o', </a:t>
            </a:r>
            <a:r>
              <a:rPr lang="es-C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linestyle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='-', color='blue')</a:t>
            </a:r>
          </a:p>
          <a:p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  <p:pic>
        <p:nvPicPr>
          <p:cNvPr id="3" name="Imagen 5">
            <a:extLst>
              <a:ext uri="{FF2B5EF4-FFF2-40B4-BE49-F238E27FC236}">
                <a16:creationId xmlns:a16="http://schemas.microsoft.com/office/drawing/2014/main" id="{F166706C-BA25-087F-69CE-72CC14804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1263" y="2185603"/>
            <a:ext cx="3661538" cy="2957897"/>
          </a:xfrm>
          <a:prstGeom prst="rect">
            <a:avLst/>
          </a:prstGeom>
        </p:spPr>
      </p:pic>
      <p:sp>
        <p:nvSpPr>
          <p:cNvPr id="4" name="Rectángulo redondeado 6">
            <a:extLst>
              <a:ext uri="{FF2B5EF4-FFF2-40B4-BE49-F238E27FC236}">
                <a16:creationId xmlns:a16="http://schemas.microsoft.com/office/drawing/2014/main" id="{06687E61-01AD-6AFC-DD7B-E621DB8A8714}"/>
              </a:ext>
            </a:extLst>
          </p:cNvPr>
          <p:cNvSpPr/>
          <p:nvPr/>
        </p:nvSpPr>
        <p:spPr>
          <a:xfrm>
            <a:off x="1953111" y="1490768"/>
            <a:ext cx="1127189" cy="322119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5" name="Conector curvado 9">
            <a:extLst>
              <a:ext uri="{FF2B5EF4-FFF2-40B4-BE49-F238E27FC236}">
                <a16:creationId xmlns:a16="http://schemas.microsoft.com/office/drawing/2014/main" id="{23EC9FF4-3C0C-1AB7-162A-3BD91D807C01}"/>
              </a:ext>
            </a:extLst>
          </p:cNvPr>
          <p:cNvCxnSpPr>
            <a:cxnSpLocks/>
            <a:stCxn id="4" idx="2"/>
          </p:cNvCxnSpPr>
          <p:nvPr/>
        </p:nvCxnSpPr>
        <p:spPr>
          <a:xfrm rot="16200000" flipH="1">
            <a:off x="2461235" y="1868357"/>
            <a:ext cx="2582394" cy="2471453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6897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30E5B-C095-6CEF-EC0D-D314C80E5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1E6EBAC-4196-8783-4E39-F1C3A7465706}"/>
              </a:ext>
            </a:extLst>
          </p:cNvPr>
          <p:cNvGrpSpPr/>
          <p:nvPr/>
        </p:nvGrpSpPr>
        <p:grpSpPr>
          <a:xfrm>
            <a:off x="0" y="1528"/>
            <a:ext cx="9141285" cy="5141972"/>
            <a:chOff x="0" y="1528"/>
            <a:chExt cx="9141285" cy="5141972"/>
          </a:xfrm>
        </p:grpSpPr>
        <p:pic>
          <p:nvPicPr>
            <p:cNvPr id="7" name="Imagen 17">
              <a:extLst>
                <a:ext uri="{FF2B5EF4-FFF2-40B4-BE49-F238E27FC236}">
                  <a16:creationId xmlns:a16="http://schemas.microsoft.com/office/drawing/2014/main" id="{81C5E994-7154-3C72-C9E0-BA0B317505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0" y="1528"/>
              <a:ext cx="9141285" cy="5141972"/>
            </a:xfrm>
            <a:prstGeom prst="rect">
              <a:avLst/>
            </a:prstGeom>
          </p:spPr>
        </p:pic>
        <p:sp>
          <p:nvSpPr>
            <p:cNvPr id="8" name="CuadroTexto 1">
              <a:extLst>
                <a:ext uri="{FF2B5EF4-FFF2-40B4-BE49-F238E27FC236}">
                  <a16:creationId xmlns:a16="http://schemas.microsoft.com/office/drawing/2014/main" id="{A7BC9F95-5467-20E3-1A40-6DCAF8E0E7AD}"/>
                </a:ext>
              </a:extLst>
            </p:cNvPr>
            <p:cNvSpPr txBox="1"/>
            <p:nvPr/>
          </p:nvSpPr>
          <p:spPr>
            <a:xfrm>
              <a:off x="2586268" y="4243770"/>
              <a:ext cx="3968750" cy="4924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CL" sz="1000" dirty="0">
                  <a:solidFill>
                    <a:srgbClr val="012E46">
                      <a:alpha val="29869"/>
                    </a:srgbClr>
                  </a:solidFill>
                  <a:latin typeface="Product Sans" panose="020B0403030502040203" pitchFamily="34" charset="0"/>
                </a:rPr>
                <a:t>Plan Común:</a:t>
              </a:r>
            </a:p>
            <a:p>
              <a:pPr algn="ctr"/>
              <a:r>
                <a:rPr lang="es-CL" sz="1600" b="1" dirty="0">
                  <a:solidFill>
                    <a:srgbClr val="012E46">
                      <a:alpha val="29869"/>
                    </a:srgbClr>
                  </a:solidFill>
                  <a:latin typeface="Product Sans" panose="020B0403030502040203" pitchFamily="34" charset="0"/>
                </a:rPr>
                <a:t>Programación</a:t>
              </a:r>
            </a:p>
          </p:txBody>
        </p:sp>
      </p:grpSp>
      <p:sp>
        <p:nvSpPr>
          <p:cNvPr id="10" name="CuadroTexto 3">
            <a:extLst>
              <a:ext uri="{FF2B5EF4-FFF2-40B4-BE49-F238E27FC236}">
                <a16:creationId xmlns:a16="http://schemas.microsoft.com/office/drawing/2014/main" id="{232FDFD3-2E8D-E27D-C13F-1BC965D9AB07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 err="1">
                <a:solidFill>
                  <a:srgbClr val="1956AF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matplotlib.pyplot</a:t>
            </a:r>
            <a:endParaRPr lang="es-CL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CuadroTexto 4">
            <a:extLst>
              <a:ext uri="{FF2B5EF4-FFF2-40B4-BE49-F238E27FC236}">
                <a16:creationId xmlns:a16="http://schemas.microsoft.com/office/drawing/2014/main" id="{2CF0AD21-0541-D105-EF44-0D49CCE64676}"/>
              </a:ext>
            </a:extLst>
          </p:cNvPr>
          <p:cNvSpPr txBox="1"/>
          <p:nvPr/>
        </p:nvSpPr>
        <p:spPr>
          <a:xfrm>
            <a:off x="558718" y="1342247"/>
            <a:ext cx="1327356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400">
                <a:latin typeface="Courier New" panose="02070309020205020404" pitchFamily="49" charset="0"/>
                <a:cs typeface="Courier New" panose="02070309020205020404" pitchFamily="49" charset="0"/>
              </a:rPr>
              <a:t>marker='^'</a:t>
            </a:r>
          </a:p>
        </p:txBody>
      </p:sp>
      <p:pic>
        <p:nvPicPr>
          <p:cNvPr id="11" name="Imagen 14">
            <a:extLst>
              <a:ext uri="{FF2B5EF4-FFF2-40B4-BE49-F238E27FC236}">
                <a16:creationId xmlns:a16="http://schemas.microsoft.com/office/drawing/2014/main" id="{D5E12F87-A76A-B354-2AA8-A65654FD84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66" t="71940" r="56926" b="2846"/>
          <a:stretch/>
        </p:blipFill>
        <p:spPr>
          <a:xfrm>
            <a:off x="2009954" y="1342247"/>
            <a:ext cx="1921796" cy="1006081"/>
          </a:xfrm>
          <a:prstGeom prst="rect">
            <a:avLst/>
          </a:prstGeom>
        </p:spPr>
      </p:pic>
      <p:pic>
        <p:nvPicPr>
          <p:cNvPr id="12" name="Imagen 16">
            <a:extLst>
              <a:ext uri="{FF2B5EF4-FFF2-40B4-BE49-F238E27FC236}">
                <a16:creationId xmlns:a16="http://schemas.microsoft.com/office/drawing/2014/main" id="{48B8C956-B6E3-6BFF-9276-5249F5203D9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14" t="71295" r="59643" b="4831"/>
          <a:stretch/>
        </p:blipFill>
        <p:spPr>
          <a:xfrm>
            <a:off x="1940628" y="2596095"/>
            <a:ext cx="1921796" cy="1011471"/>
          </a:xfrm>
          <a:prstGeom prst="rect">
            <a:avLst/>
          </a:prstGeom>
        </p:spPr>
      </p:pic>
      <p:sp>
        <p:nvSpPr>
          <p:cNvPr id="13" name="CuadroTexto 17">
            <a:extLst>
              <a:ext uri="{FF2B5EF4-FFF2-40B4-BE49-F238E27FC236}">
                <a16:creationId xmlns:a16="http://schemas.microsoft.com/office/drawing/2014/main" id="{8D1D7D01-2313-6457-0614-F26F9C517C7F}"/>
              </a:ext>
            </a:extLst>
          </p:cNvPr>
          <p:cNvSpPr txBox="1"/>
          <p:nvPr/>
        </p:nvSpPr>
        <p:spPr>
          <a:xfrm>
            <a:off x="558718" y="2593877"/>
            <a:ext cx="1327356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400">
                <a:latin typeface="Courier New" panose="02070309020205020404" pitchFamily="49" charset="0"/>
                <a:cs typeface="Courier New" panose="02070309020205020404" pitchFamily="49" charset="0"/>
              </a:rPr>
              <a:t>marker='s'</a:t>
            </a:r>
          </a:p>
        </p:txBody>
      </p:sp>
      <p:pic>
        <p:nvPicPr>
          <p:cNvPr id="14" name="Imagen 18">
            <a:extLst>
              <a:ext uri="{FF2B5EF4-FFF2-40B4-BE49-F238E27FC236}">
                <a16:creationId xmlns:a16="http://schemas.microsoft.com/office/drawing/2014/main" id="{80F0D452-EEA8-0512-47D7-7DB3F50D4B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9954" y="3855333"/>
            <a:ext cx="1686883" cy="962623"/>
          </a:xfrm>
          <a:prstGeom prst="rect">
            <a:avLst/>
          </a:prstGeom>
        </p:spPr>
      </p:pic>
      <p:sp>
        <p:nvSpPr>
          <p:cNvPr id="15" name="CuadroTexto 20">
            <a:extLst>
              <a:ext uri="{FF2B5EF4-FFF2-40B4-BE49-F238E27FC236}">
                <a16:creationId xmlns:a16="http://schemas.microsoft.com/office/drawing/2014/main" id="{E337B952-58A4-D0F9-6257-4041A20FACF6}"/>
              </a:ext>
            </a:extLst>
          </p:cNvPr>
          <p:cNvSpPr txBox="1"/>
          <p:nvPr/>
        </p:nvSpPr>
        <p:spPr>
          <a:xfrm>
            <a:off x="558718" y="3855333"/>
            <a:ext cx="1327356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400">
                <a:latin typeface="Courier New" panose="02070309020205020404" pitchFamily="49" charset="0"/>
                <a:cs typeface="Courier New" panose="02070309020205020404" pitchFamily="49" charset="0"/>
              </a:rPr>
              <a:t>marker='p'</a:t>
            </a:r>
          </a:p>
        </p:txBody>
      </p:sp>
      <p:pic>
        <p:nvPicPr>
          <p:cNvPr id="16" name="Imagen 21">
            <a:extLst>
              <a:ext uri="{FF2B5EF4-FFF2-40B4-BE49-F238E27FC236}">
                <a16:creationId xmlns:a16="http://schemas.microsoft.com/office/drawing/2014/main" id="{3E28A10E-9C90-B09F-60FD-D122F85F6D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6514" y="1210622"/>
            <a:ext cx="1921796" cy="1039660"/>
          </a:xfrm>
          <a:prstGeom prst="rect">
            <a:avLst/>
          </a:prstGeom>
        </p:spPr>
      </p:pic>
      <p:sp>
        <p:nvSpPr>
          <p:cNvPr id="17" name="CuadroTexto 22">
            <a:extLst>
              <a:ext uri="{FF2B5EF4-FFF2-40B4-BE49-F238E27FC236}">
                <a16:creationId xmlns:a16="http://schemas.microsoft.com/office/drawing/2014/main" id="{D7014DC4-3DE2-B35C-A0A3-ED5D2F252F38}"/>
              </a:ext>
            </a:extLst>
          </p:cNvPr>
          <p:cNvSpPr txBox="1"/>
          <p:nvPr/>
        </p:nvSpPr>
        <p:spPr>
          <a:xfrm>
            <a:off x="4809158" y="1210622"/>
            <a:ext cx="1327356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400">
                <a:latin typeface="Courier New" panose="02070309020205020404" pitchFamily="49" charset="0"/>
                <a:cs typeface="Courier New" panose="02070309020205020404" pitchFamily="49" charset="0"/>
              </a:rPr>
              <a:t>marker='*'</a:t>
            </a:r>
          </a:p>
        </p:txBody>
      </p:sp>
      <p:pic>
        <p:nvPicPr>
          <p:cNvPr id="18" name="Imagen 23">
            <a:extLst>
              <a:ext uri="{FF2B5EF4-FFF2-40B4-BE49-F238E27FC236}">
                <a16:creationId xmlns:a16="http://schemas.microsoft.com/office/drawing/2014/main" id="{3C029932-0ADA-2857-306B-6B766DCF96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4746" y="2490592"/>
            <a:ext cx="1921796" cy="1017421"/>
          </a:xfrm>
          <a:prstGeom prst="rect">
            <a:avLst/>
          </a:prstGeom>
        </p:spPr>
      </p:pic>
      <p:sp>
        <p:nvSpPr>
          <p:cNvPr id="19" name="CuadroTexto 24">
            <a:extLst>
              <a:ext uri="{FF2B5EF4-FFF2-40B4-BE49-F238E27FC236}">
                <a16:creationId xmlns:a16="http://schemas.microsoft.com/office/drawing/2014/main" id="{7372F94F-A4A1-63F3-841E-63A3C994B268}"/>
              </a:ext>
            </a:extLst>
          </p:cNvPr>
          <p:cNvSpPr txBox="1"/>
          <p:nvPr/>
        </p:nvSpPr>
        <p:spPr>
          <a:xfrm>
            <a:off x="4862566" y="2490592"/>
            <a:ext cx="1327356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400">
                <a:latin typeface="Courier New" panose="02070309020205020404" pitchFamily="49" charset="0"/>
                <a:cs typeface="Courier New" panose="02070309020205020404" pitchFamily="49" charset="0"/>
              </a:rPr>
              <a:t>marker='D'</a:t>
            </a:r>
          </a:p>
        </p:txBody>
      </p:sp>
      <p:pic>
        <p:nvPicPr>
          <p:cNvPr id="20" name="Imagen 25">
            <a:extLst>
              <a:ext uri="{FF2B5EF4-FFF2-40B4-BE49-F238E27FC236}">
                <a16:creationId xmlns:a16="http://schemas.microsoft.com/office/drawing/2014/main" id="{53804E94-2E72-5D5E-B578-614945461D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4746" y="3788046"/>
            <a:ext cx="1797551" cy="962623"/>
          </a:xfrm>
          <a:prstGeom prst="rect">
            <a:avLst/>
          </a:prstGeom>
        </p:spPr>
      </p:pic>
      <p:sp>
        <p:nvSpPr>
          <p:cNvPr id="21" name="CuadroTexto 26">
            <a:extLst>
              <a:ext uri="{FF2B5EF4-FFF2-40B4-BE49-F238E27FC236}">
                <a16:creationId xmlns:a16="http://schemas.microsoft.com/office/drawing/2014/main" id="{D0496980-B84F-CE9C-7411-7EF2E0391EF9}"/>
              </a:ext>
            </a:extLst>
          </p:cNvPr>
          <p:cNvSpPr txBox="1"/>
          <p:nvPr/>
        </p:nvSpPr>
        <p:spPr>
          <a:xfrm>
            <a:off x="4862566" y="3788046"/>
            <a:ext cx="1327356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400">
                <a:latin typeface="Courier New" panose="02070309020205020404" pitchFamily="49" charset="0"/>
                <a:cs typeface="Courier New" panose="02070309020205020404" pitchFamily="49" charset="0"/>
              </a:rPr>
              <a:t>marker='x'</a:t>
            </a:r>
          </a:p>
        </p:txBody>
      </p:sp>
    </p:spTree>
    <p:extLst>
      <p:ext uri="{BB962C8B-B14F-4D97-AF65-F5344CB8AC3E}">
        <p14:creationId xmlns:p14="http://schemas.microsoft.com/office/powerpoint/2010/main" val="42658257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F7F31-BD32-C301-FB77-F554A44A7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6BAFB21-336F-CA6D-3842-71A0895F7C66}"/>
              </a:ext>
            </a:extLst>
          </p:cNvPr>
          <p:cNvGrpSpPr/>
          <p:nvPr/>
        </p:nvGrpSpPr>
        <p:grpSpPr>
          <a:xfrm>
            <a:off x="0" y="1528"/>
            <a:ext cx="9141285" cy="5141972"/>
            <a:chOff x="0" y="1528"/>
            <a:chExt cx="9141285" cy="5141972"/>
          </a:xfrm>
        </p:grpSpPr>
        <p:pic>
          <p:nvPicPr>
            <p:cNvPr id="7" name="Imagen 17">
              <a:extLst>
                <a:ext uri="{FF2B5EF4-FFF2-40B4-BE49-F238E27FC236}">
                  <a16:creationId xmlns:a16="http://schemas.microsoft.com/office/drawing/2014/main" id="{247C4DB9-BBAC-E948-F110-D81547DCBE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0" y="1528"/>
              <a:ext cx="9141285" cy="5141972"/>
            </a:xfrm>
            <a:prstGeom prst="rect">
              <a:avLst/>
            </a:prstGeom>
          </p:spPr>
        </p:pic>
        <p:sp>
          <p:nvSpPr>
            <p:cNvPr id="8" name="CuadroTexto 1">
              <a:extLst>
                <a:ext uri="{FF2B5EF4-FFF2-40B4-BE49-F238E27FC236}">
                  <a16:creationId xmlns:a16="http://schemas.microsoft.com/office/drawing/2014/main" id="{91A30068-0500-EFD5-E20E-FD91C330BAE5}"/>
                </a:ext>
              </a:extLst>
            </p:cNvPr>
            <p:cNvSpPr txBox="1"/>
            <p:nvPr/>
          </p:nvSpPr>
          <p:spPr>
            <a:xfrm>
              <a:off x="2586268" y="4243770"/>
              <a:ext cx="3968750" cy="4924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CL" sz="1000" dirty="0">
                  <a:solidFill>
                    <a:srgbClr val="012E46">
                      <a:alpha val="29869"/>
                    </a:srgbClr>
                  </a:solidFill>
                  <a:latin typeface="Product Sans" panose="020B0403030502040203" pitchFamily="34" charset="0"/>
                </a:rPr>
                <a:t>Plan Común:</a:t>
              </a:r>
            </a:p>
            <a:p>
              <a:pPr algn="ctr"/>
              <a:r>
                <a:rPr lang="es-CL" sz="1600" b="1" dirty="0">
                  <a:solidFill>
                    <a:srgbClr val="012E46">
                      <a:alpha val="29869"/>
                    </a:srgbClr>
                  </a:solidFill>
                  <a:latin typeface="Product Sans" panose="020B0403030502040203" pitchFamily="34" charset="0"/>
                </a:rPr>
                <a:t>Programación</a:t>
              </a:r>
            </a:p>
          </p:txBody>
        </p:sp>
      </p:grpSp>
      <p:sp>
        <p:nvSpPr>
          <p:cNvPr id="10" name="CuadroTexto 3">
            <a:extLst>
              <a:ext uri="{FF2B5EF4-FFF2-40B4-BE49-F238E27FC236}">
                <a16:creationId xmlns:a16="http://schemas.microsoft.com/office/drawing/2014/main" id="{439BFE69-7651-CE40-99DF-25D2420F4FF9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 err="1">
                <a:solidFill>
                  <a:srgbClr val="1956AF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matplotlib.pyplot</a:t>
            </a:r>
            <a:endParaRPr lang="es-CL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2" name="Imagen 5">
            <a:extLst>
              <a:ext uri="{FF2B5EF4-FFF2-40B4-BE49-F238E27FC236}">
                <a16:creationId xmlns:a16="http://schemas.microsoft.com/office/drawing/2014/main" id="{18F52FEC-223D-EF87-C735-18186BC98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1263" y="2185603"/>
            <a:ext cx="3661538" cy="2957897"/>
          </a:xfrm>
          <a:prstGeom prst="rect">
            <a:avLst/>
          </a:prstGeom>
        </p:spPr>
      </p:pic>
      <p:sp>
        <p:nvSpPr>
          <p:cNvPr id="23" name="CuadroTexto 4">
            <a:extLst>
              <a:ext uri="{FF2B5EF4-FFF2-40B4-BE49-F238E27FC236}">
                <a16:creationId xmlns:a16="http://schemas.microsoft.com/office/drawing/2014/main" id="{C98B68F0-86E6-216E-8B6E-EF21D6CD166C}"/>
              </a:ext>
            </a:extLst>
          </p:cNvPr>
          <p:cNvSpPr txBox="1"/>
          <p:nvPr/>
        </p:nvSpPr>
        <p:spPr>
          <a:xfrm>
            <a:off x="351258" y="1282496"/>
            <a:ext cx="6073395" cy="7386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r>
              <a:rPr lang="es-C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s-C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(x, y, </a:t>
            </a:r>
            <a:r>
              <a:rPr lang="es-C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marker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='o', </a:t>
            </a:r>
            <a:r>
              <a:rPr lang="es-C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linestyle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='-', color='blue')</a:t>
            </a:r>
          </a:p>
          <a:p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  <p:sp>
        <p:nvSpPr>
          <p:cNvPr id="24" name="Rectángulo redondeado 6">
            <a:extLst>
              <a:ext uri="{FF2B5EF4-FFF2-40B4-BE49-F238E27FC236}">
                <a16:creationId xmlns:a16="http://schemas.microsoft.com/office/drawing/2014/main" id="{876899EA-56B7-903D-B815-D910DA715043}"/>
              </a:ext>
            </a:extLst>
          </p:cNvPr>
          <p:cNvSpPr/>
          <p:nvPr/>
        </p:nvSpPr>
        <p:spPr>
          <a:xfrm>
            <a:off x="3230396" y="1490768"/>
            <a:ext cx="1492679" cy="322119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25" name="Conector curvado 9">
            <a:extLst>
              <a:ext uri="{FF2B5EF4-FFF2-40B4-BE49-F238E27FC236}">
                <a16:creationId xmlns:a16="http://schemas.microsoft.com/office/drawing/2014/main" id="{66EC6F63-47C0-C035-5905-A229CCFCF614}"/>
              </a:ext>
            </a:extLst>
          </p:cNvPr>
          <p:cNvCxnSpPr>
            <a:cxnSpLocks/>
            <a:stCxn id="24" idx="2"/>
          </p:cNvCxnSpPr>
          <p:nvPr/>
        </p:nvCxnSpPr>
        <p:spPr>
          <a:xfrm rot="16200000" flipH="1">
            <a:off x="3475759" y="2313864"/>
            <a:ext cx="2392348" cy="1390394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56474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4A161-F63E-5F3C-4C60-C92289EA1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BDD138F-7336-3CFD-34E3-8172F83F876C}"/>
              </a:ext>
            </a:extLst>
          </p:cNvPr>
          <p:cNvGrpSpPr/>
          <p:nvPr/>
        </p:nvGrpSpPr>
        <p:grpSpPr>
          <a:xfrm>
            <a:off x="0" y="1528"/>
            <a:ext cx="9141285" cy="5141972"/>
            <a:chOff x="0" y="1528"/>
            <a:chExt cx="9141285" cy="5141972"/>
          </a:xfrm>
        </p:grpSpPr>
        <p:pic>
          <p:nvPicPr>
            <p:cNvPr id="7" name="Imagen 17">
              <a:extLst>
                <a:ext uri="{FF2B5EF4-FFF2-40B4-BE49-F238E27FC236}">
                  <a16:creationId xmlns:a16="http://schemas.microsoft.com/office/drawing/2014/main" id="{5F4436B7-1AE5-8774-F682-8A67264522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0" y="1528"/>
              <a:ext cx="9141285" cy="5141972"/>
            </a:xfrm>
            <a:prstGeom prst="rect">
              <a:avLst/>
            </a:prstGeom>
          </p:spPr>
        </p:pic>
        <p:sp>
          <p:nvSpPr>
            <p:cNvPr id="8" name="CuadroTexto 1">
              <a:extLst>
                <a:ext uri="{FF2B5EF4-FFF2-40B4-BE49-F238E27FC236}">
                  <a16:creationId xmlns:a16="http://schemas.microsoft.com/office/drawing/2014/main" id="{BA027CB8-BDB9-5089-7F5B-C457B56E81C3}"/>
                </a:ext>
              </a:extLst>
            </p:cNvPr>
            <p:cNvSpPr txBox="1"/>
            <p:nvPr/>
          </p:nvSpPr>
          <p:spPr>
            <a:xfrm>
              <a:off x="2586268" y="4243770"/>
              <a:ext cx="3968750" cy="4924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CL" sz="1000" dirty="0">
                  <a:solidFill>
                    <a:srgbClr val="012E46">
                      <a:alpha val="29869"/>
                    </a:srgbClr>
                  </a:solidFill>
                  <a:latin typeface="Product Sans" panose="020B0403030502040203" pitchFamily="34" charset="0"/>
                </a:rPr>
                <a:t>Plan Común:</a:t>
              </a:r>
            </a:p>
            <a:p>
              <a:pPr algn="ctr"/>
              <a:r>
                <a:rPr lang="es-CL" sz="1600" b="1" dirty="0">
                  <a:solidFill>
                    <a:srgbClr val="012E46">
                      <a:alpha val="29869"/>
                    </a:srgbClr>
                  </a:solidFill>
                  <a:latin typeface="Product Sans" panose="020B0403030502040203" pitchFamily="34" charset="0"/>
                </a:rPr>
                <a:t>Programación</a:t>
              </a:r>
            </a:p>
          </p:txBody>
        </p:sp>
      </p:grpSp>
      <p:sp>
        <p:nvSpPr>
          <p:cNvPr id="10" name="CuadroTexto 3">
            <a:extLst>
              <a:ext uri="{FF2B5EF4-FFF2-40B4-BE49-F238E27FC236}">
                <a16:creationId xmlns:a16="http://schemas.microsoft.com/office/drawing/2014/main" id="{DFEC6CBE-40FE-925F-2BFB-7BEF0FBE9ADD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 err="1">
                <a:solidFill>
                  <a:srgbClr val="1956AF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matplotlib.pyplot</a:t>
            </a:r>
            <a:endParaRPr lang="es-CL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uadroTexto 4">
            <a:extLst>
              <a:ext uri="{FF2B5EF4-FFF2-40B4-BE49-F238E27FC236}">
                <a16:creationId xmlns:a16="http://schemas.microsoft.com/office/drawing/2014/main" id="{FAF27B72-9F8D-FA64-BA98-D7004BE9112A}"/>
              </a:ext>
            </a:extLst>
          </p:cNvPr>
          <p:cNvSpPr txBox="1"/>
          <p:nvPr/>
        </p:nvSpPr>
        <p:spPr>
          <a:xfrm>
            <a:off x="3542091" y="1356238"/>
            <a:ext cx="1921796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linestyle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='--'</a:t>
            </a:r>
          </a:p>
        </p:txBody>
      </p:sp>
      <p:pic>
        <p:nvPicPr>
          <p:cNvPr id="3" name="Imagen 5">
            <a:extLst>
              <a:ext uri="{FF2B5EF4-FFF2-40B4-BE49-F238E27FC236}">
                <a16:creationId xmlns:a16="http://schemas.microsoft.com/office/drawing/2014/main" id="{928723E2-B24E-E73F-5206-2616B4AA9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378" y="1844335"/>
            <a:ext cx="1947509" cy="1064103"/>
          </a:xfrm>
          <a:prstGeom prst="rect">
            <a:avLst/>
          </a:prstGeom>
        </p:spPr>
      </p:pic>
      <p:pic>
        <p:nvPicPr>
          <p:cNvPr id="4" name="Imagen 6">
            <a:extLst>
              <a:ext uri="{FF2B5EF4-FFF2-40B4-BE49-F238E27FC236}">
                <a16:creationId xmlns:a16="http://schemas.microsoft.com/office/drawing/2014/main" id="{0FF4844E-4F37-90A9-6049-A67D1815CA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61" y="3203085"/>
            <a:ext cx="2153966" cy="1192196"/>
          </a:xfrm>
          <a:prstGeom prst="rect">
            <a:avLst/>
          </a:prstGeom>
        </p:spPr>
      </p:pic>
      <p:sp>
        <p:nvSpPr>
          <p:cNvPr id="5" name="CuadroTexto 7">
            <a:extLst>
              <a:ext uri="{FF2B5EF4-FFF2-40B4-BE49-F238E27FC236}">
                <a16:creationId xmlns:a16="http://schemas.microsoft.com/office/drawing/2014/main" id="{ED4F572B-3D6A-F0BC-3693-AC57B8BAEB64}"/>
              </a:ext>
            </a:extLst>
          </p:cNvPr>
          <p:cNvSpPr txBox="1"/>
          <p:nvPr/>
        </p:nvSpPr>
        <p:spPr>
          <a:xfrm>
            <a:off x="975733" y="2708264"/>
            <a:ext cx="1921796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linestyle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='-.'</a:t>
            </a:r>
          </a:p>
        </p:txBody>
      </p:sp>
      <p:pic>
        <p:nvPicPr>
          <p:cNvPr id="6" name="Imagen 8">
            <a:extLst>
              <a:ext uri="{FF2B5EF4-FFF2-40B4-BE49-F238E27FC236}">
                <a16:creationId xmlns:a16="http://schemas.microsoft.com/office/drawing/2014/main" id="{59FAC926-C07F-0BAB-1342-AAFE02A3EA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3069" y="3240385"/>
            <a:ext cx="1993508" cy="1192196"/>
          </a:xfrm>
          <a:prstGeom prst="rect">
            <a:avLst/>
          </a:prstGeom>
        </p:spPr>
      </p:pic>
      <p:sp>
        <p:nvSpPr>
          <p:cNvPr id="11" name="CuadroTexto 9">
            <a:extLst>
              <a:ext uri="{FF2B5EF4-FFF2-40B4-BE49-F238E27FC236}">
                <a16:creationId xmlns:a16="http://schemas.microsoft.com/office/drawing/2014/main" id="{3C75EEBC-5AC0-41FB-C4B8-E0BA1674CBA9}"/>
              </a:ext>
            </a:extLst>
          </p:cNvPr>
          <p:cNvSpPr txBox="1"/>
          <p:nvPr/>
        </p:nvSpPr>
        <p:spPr>
          <a:xfrm>
            <a:off x="6474781" y="2763210"/>
            <a:ext cx="1921796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400">
                <a:latin typeface="Courier New" panose="02070309020205020404" pitchFamily="49" charset="0"/>
                <a:cs typeface="Courier New" panose="02070309020205020404" pitchFamily="49" charset="0"/>
              </a:rPr>
              <a:t>linestyle =':'</a:t>
            </a:r>
          </a:p>
        </p:txBody>
      </p:sp>
    </p:spTree>
    <p:extLst>
      <p:ext uri="{BB962C8B-B14F-4D97-AF65-F5344CB8AC3E}">
        <p14:creationId xmlns:p14="http://schemas.microsoft.com/office/powerpoint/2010/main" val="25915474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C8F85-7411-9FB8-14F5-25A9F2699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476EB79-0F40-B573-E7F3-761D17B3EE82}"/>
              </a:ext>
            </a:extLst>
          </p:cNvPr>
          <p:cNvGrpSpPr/>
          <p:nvPr/>
        </p:nvGrpSpPr>
        <p:grpSpPr>
          <a:xfrm>
            <a:off x="0" y="1528"/>
            <a:ext cx="9141285" cy="5141972"/>
            <a:chOff x="0" y="1528"/>
            <a:chExt cx="9141285" cy="5141972"/>
          </a:xfrm>
        </p:grpSpPr>
        <p:pic>
          <p:nvPicPr>
            <p:cNvPr id="7" name="Imagen 17">
              <a:extLst>
                <a:ext uri="{FF2B5EF4-FFF2-40B4-BE49-F238E27FC236}">
                  <a16:creationId xmlns:a16="http://schemas.microsoft.com/office/drawing/2014/main" id="{B2051DE2-F155-A9B7-7D3D-6844D4CACA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0" y="1528"/>
              <a:ext cx="9141285" cy="5141972"/>
            </a:xfrm>
            <a:prstGeom prst="rect">
              <a:avLst/>
            </a:prstGeom>
          </p:spPr>
        </p:pic>
        <p:sp>
          <p:nvSpPr>
            <p:cNvPr id="8" name="CuadroTexto 1">
              <a:extLst>
                <a:ext uri="{FF2B5EF4-FFF2-40B4-BE49-F238E27FC236}">
                  <a16:creationId xmlns:a16="http://schemas.microsoft.com/office/drawing/2014/main" id="{DDB04967-A6FE-6673-16BE-5028D69F75FB}"/>
                </a:ext>
              </a:extLst>
            </p:cNvPr>
            <p:cNvSpPr txBox="1"/>
            <p:nvPr/>
          </p:nvSpPr>
          <p:spPr>
            <a:xfrm>
              <a:off x="2586268" y="4243770"/>
              <a:ext cx="3968750" cy="4924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CL" sz="1000" dirty="0">
                  <a:solidFill>
                    <a:srgbClr val="012E46">
                      <a:alpha val="29869"/>
                    </a:srgbClr>
                  </a:solidFill>
                  <a:latin typeface="Product Sans" panose="020B0403030502040203" pitchFamily="34" charset="0"/>
                </a:rPr>
                <a:t>Plan Común:</a:t>
              </a:r>
            </a:p>
            <a:p>
              <a:pPr algn="ctr"/>
              <a:r>
                <a:rPr lang="es-CL" sz="1600" b="1" dirty="0">
                  <a:solidFill>
                    <a:srgbClr val="012E46">
                      <a:alpha val="29869"/>
                    </a:srgbClr>
                  </a:solidFill>
                  <a:latin typeface="Product Sans" panose="020B0403030502040203" pitchFamily="34" charset="0"/>
                </a:rPr>
                <a:t>Programación</a:t>
              </a:r>
            </a:p>
          </p:txBody>
        </p:sp>
      </p:grpSp>
      <p:sp>
        <p:nvSpPr>
          <p:cNvPr id="10" name="CuadroTexto 3">
            <a:extLst>
              <a:ext uri="{FF2B5EF4-FFF2-40B4-BE49-F238E27FC236}">
                <a16:creationId xmlns:a16="http://schemas.microsoft.com/office/drawing/2014/main" id="{1DC92FE0-6060-A424-E2C0-CF3E4164FA71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 err="1">
                <a:solidFill>
                  <a:srgbClr val="1956AF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matplotlib.pyplot</a:t>
            </a:r>
            <a:endParaRPr lang="es-CL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2" name="Imagen 5">
            <a:extLst>
              <a:ext uri="{FF2B5EF4-FFF2-40B4-BE49-F238E27FC236}">
                <a16:creationId xmlns:a16="http://schemas.microsoft.com/office/drawing/2014/main" id="{C48A0143-E907-E8C9-937E-5D66B6490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1263" y="2185603"/>
            <a:ext cx="3661538" cy="2957897"/>
          </a:xfrm>
          <a:prstGeom prst="rect">
            <a:avLst/>
          </a:prstGeom>
        </p:spPr>
      </p:pic>
      <p:sp>
        <p:nvSpPr>
          <p:cNvPr id="23" name="CuadroTexto 4">
            <a:extLst>
              <a:ext uri="{FF2B5EF4-FFF2-40B4-BE49-F238E27FC236}">
                <a16:creationId xmlns:a16="http://schemas.microsoft.com/office/drawing/2014/main" id="{9064F06D-3D1E-A5A7-0836-EB4C637855FE}"/>
              </a:ext>
            </a:extLst>
          </p:cNvPr>
          <p:cNvSpPr txBox="1"/>
          <p:nvPr/>
        </p:nvSpPr>
        <p:spPr>
          <a:xfrm>
            <a:off x="351258" y="1282496"/>
            <a:ext cx="6073395" cy="7386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r>
              <a:rPr lang="es-C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s-C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(x, y, </a:t>
            </a:r>
            <a:r>
              <a:rPr lang="es-C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marker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='o', </a:t>
            </a:r>
            <a:r>
              <a:rPr lang="es-C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linestyle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='-', </a:t>
            </a:r>
            <a:r>
              <a:rPr lang="es-CL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='blue')</a:t>
            </a:r>
          </a:p>
          <a:p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  <p:sp>
        <p:nvSpPr>
          <p:cNvPr id="24" name="Rectángulo redondeado 6">
            <a:extLst>
              <a:ext uri="{FF2B5EF4-FFF2-40B4-BE49-F238E27FC236}">
                <a16:creationId xmlns:a16="http://schemas.microsoft.com/office/drawing/2014/main" id="{004958D3-A11B-F9A6-F6F6-1690F0DD24FA}"/>
              </a:ext>
            </a:extLst>
          </p:cNvPr>
          <p:cNvSpPr/>
          <p:nvPr/>
        </p:nvSpPr>
        <p:spPr>
          <a:xfrm>
            <a:off x="4812706" y="1490768"/>
            <a:ext cx="1421117" cy="322119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25" name="Conector curvado 9">
            <a:extLst>
              <a:ext uri="{FF2B5EF4-FFF2-40B4-BE49-F238E27FC236}">
                <a16:creationId xmlns:a16="http://schemas.microsoft.com/office/drawing/2014/main" id="{6112BFB3-9C18-34E0-F0F3-6AA30A0912F3}"/>
              </a:ext>
            </a:extLst>
          </p:cNvPr>
          <p:cNvCxnSpPr>
            <a:cxnSpLocks/>
            <a:stCxn id="24" idx="2"/>
          </p:cNvCxnSpPr>
          <p:nvPr/>
        </p:nvCxnSpPr>
        <p:spPr>
          <a:xfrm rot="16200000" flipH="1">
            <a:off x="4845103" y="2491049"/>
            <a:ext cx="1899905" cy="543580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78945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DD44B-2E9A-27FB-EED9-CF577F0AD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C52E6305-6914-8497-2434-DD6FC68E2C1E}"/>
              </a:ext>
            </a:extLst>
          </p:cNvPr>
          <p:cNvGrpSpPr/>
          <p:nvPr/>
        </p:nvGrpSpPr>
        <p:grpSpPr>
          <a:xfrm>
            <a:off x="0" y="1528"/>
            <a:ext cx="9141285" cy="5141972"/>
            <a:chOff x="0" y="1528"/>
            <a:chExt cx="9141285" cy="5141972"/>
          </a:xfrm>
        </p:grpSpPr>
        <p:pic>
          <p:nvPicPr>
            <p:cNvPr id="7" name="Imagen 17">
              <a:extLst>
                <a:ext uri="{FF2B5EF4-FFF2-40B4-BE49-F238E27FC236}">
                  <a16:creationId xmlns:a16="http://schemas.microsoft.com/office/drawing/2014/main" id="{B9DF74B7-343E-4118-2AC3-0717AB6085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0" y="1528"/>
              <a:ext cx="9141285" cy="5141972"/>
            </a:xfrm>
            <a:prstGeom prst="rect">
              <a:avLst/>
            </a:prstGeom>
          </p:spPr>
        </p:pic>
        <p:sp>
          <p:nvSpPr>
            <p:cNvPr id="8" name="CuadroTexto 1">
              <a:extLst>
                <a:ext uri="{FF2B5EF4-FFF2-40B4-BE49-F238E27FC236}">
                  <a16:creationId xmlns:a16="http://schemas.microsoft.com/office/drawing/2014/main" id="{88255B16-FB69-0489-28ED-160172434436}"/>
                </a:ext>
              </a:extLst>
            </p:cNvPr>
            <p:cNvSpPr txBox="1"/>
            <p:nvPr/>
          </p:nvSpPr>
          <p:spPr>
            <a:xfrm>
              <a:off x="2586268" y="4243770"/>
              <a:ext cx="3968750" cy="4924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CL" sz="1000" dirty="0">
                  <a:solidFill>
                    <a:srgbClr val="012E46">
                      <a:alpha val="29869"/>
                    </a:srgbClr>
                  </a:solidFill>
                  <a:latin typeface="Product Sans" panose="020B0403030502040203" pitchFamily="34" charset="0"/>
                </a:rPr>
                <a:t>Plan Común:</a:t>
              </a:r>
            </a:p>
            <a:p>
              <a:pPr algn="ctr"/>
              <a:r>
                <a:rPr lang="es-CL" sz="1600" b="1" dirty="0">
                  <a:solidFill>
                    <a:srgbClr val="012E46">
                      <a:alpha val="29869"/>
                    </a:srgbClr>
                  </a:solidFill>
                  <a:latin typeface="Product Sans" panose="020B0403030502040203" pitchFamily="34" charset="0"/>
                </a:rPr>
                <a:t>Programación</a:t>
              </a:r>
            </a:p>
          </p:txBody>
        </p:sp>
      </p:grpSp>
      <p:sp>
        <p:nvSpPr>
          <p:cNvPr id="10" name="CuadroTexto 3">
            <a:extLst>
              <a:ext uri="{FF2B5EF4-FFF2-40B4-BE49-F238E27FC236}">
                <a16:creationId xmlns:a16="http://schemas.microsoft.com/office/drawing/2014/main" id="{EBFC844D-790F-B8EB-5695-F4B811602D5F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 err="1">
                <a:solidFill>
                  <a:srgbClr val="1956AF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matplotlib.pyplot</a:t>
            </a:r>
            <a:endParaRPr lang="es-CL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uadroTexto 7">
            <a:extLst>
              <a:ext uri="{FF2B5EF4-FFF2-40B4-BE49-F238E27FC236}">
                <a16:creationId xmlns:a16="http://schemas.microsoft.com/office/drawing/2014/main" id="{0E0BD2F1-7982-6A3E-1204-45384AAAC215}"/>
              </a:ext>
            </a:extLst>
          </p:cNvPr>
          <p:cNvSpPr txBox="1"/>
          <p:nvPr/>
        </p:nvSpPr>
        <p:spPr>
          <a:xfrm>
            <a:off x="3691139" y="1381785"/>
            <a:ext cx="1921796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color ='</a:t>
            </a:r>
            <a:r>
              <a:rPr lang="es-C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black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</a:p>
        </p:txBody>
      </p:sp>
      <p:pic>
        <p:nvPicPr>
          <p:cNvPr id="3" name="Imagen 10">
            <a:extLst>
              <a:ext uri="{FF2B5EF4-FFF2-40B4-BE49-F238E27FC236}">
                <a16:creationId xmlns:a16="http://schemas.microsoft.com/office/drawing/2014/main" id="{3260BAC3-8002-7908-E865-6FDBB179DF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0607" y="1942961"/>
            <a:ext cx="1620069" cy="875011"/>
          </a:xfrm>
          <a:prstGeom prst="rect">
            <a:avLst/>
          </a:prstGeom>
        </p:spPr>
      </p:pic>
      <p:sp>
        <p:nvSpPr>
          <p:cNvPr id="4" name="CuadroTexto 11">
            <a:extLst>
              <a:ext uri="{FF2B5EF4-FFF2-40B4-BE49-F238E27FC236}">
                <a16:creationId xmlns:a16="http://schemas.microsoft.com/office/drawing/2014/main" id="{13EF48E1-F492-1C19-8126-238D012CF6C8}"/>
              </a:ext>
            </a:extLst>
          </p:cNvPr>
          <p:cNvSpPr txBox="1"/>
          <p:nvPr/>
        </p:nvSpPr>
        <p:spPr>
          <a:xfrm>
            <a:off x="1102348" y="2899775"/>
            <a:ext cx="1921796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400">
                <a:latin typeface="Courier New" panose="02070309020205020404" pitchFamily="49" charset="0"/>
                <a:cs typeface="Courier New" panose="02070309020205020404" pitchFamily="49" charset="0"/>
              </a:rPr>
              <a:t>color ='red'</a:t>
            </a:r>
          </a:p>
        </p:txBody>
      </p:sp>
      <p:pic>
        <p:nvPicPr>
          <p:cNvPr id="5" name="Imagen 12">
            <a:extLst>
              <a:ext uri="{FF2B5EF4-FFF2-40B4-BE49-F238E27FC236}">
                <a16:creationId xmlns:a16="http://schemas.microsoft.com/office/drawing/2014/main" id="{881BCAB9-09CB-B590-1AEC-68342EC9B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482" y="3449138"/>
            <a:ext cx="1749527" cy="968969"/>
          </a:xfrm>
          <a:prstGeom prst="rect">
            <a:avLst/>
          </a:prstGeom>
        </p:spPr>
      </p:pic>
      <p:pic>
        <p:nvPicPr>
          <p:cNvPr id="6" name="Imagen 13">
            <a:extLst>
              <a:ext uri="{FF2B5EF4-FFF2-40B4-BE49-F238E27FC236}">
                <a16:creationId xmlns:a16="http://schemas.microsoft.com/office/drawing/2014/main" id="{A904C244-8351-3C29-8815-5BF10A6023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5993" y="3449137"/>
            <a:ext cx="1687044" cy="968969"/>
          </a:xfrm>
          <a:prstGeom prst="rect">
            <a:avLst/>
          </a:prstGeom>
        </p:spPr>
      </p:pic>
      <p:sp>
        <p:nvSpPr>
          <p:cNvPr id="11" name="CuadroTexto 14">
            <a:extLst>
              <a:ext uri="{FF2B5EF4-FFF2-40B4-BE49-F238E27FC236}">
                <a16:creationId xmlns:a16="http://schemas.microsoft.com/office/drawing/2014/main" id="{731605DA-E563-7D09-9CAC-4801C2FE0EEA}"/>
              </a:ext>
            </a:extLst>
          </p:cNvPr>
          <p:cNvSpPr txBox="1"/>
          <p:nvPr/>
        </p:nvSpPr>
        <p:spPr>
          <a:xfrm>
            <a:off x="6209136" y="2887961"/>
            <a:ext cx="1921796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400">
                <a:latin typeface="Courier New" panose="02070309020205020404" pitchFamily="49" charset="0"/>
                <a:cs typeface="Courier New" panose="02070309020205020404" pitchFamily="49" charset="0"/>
              </a:rPr>
              <a:t>color ='magenta'</a:t>
            </a:r>
          </a:p>
        </p:txBody>
      </p:sp>
    </p:spTree>
    <p:extLst>
      <p:ext uri="{BB962C8B-B14F-4D97-AF65-F5344CB8AC3E}">
        <p14:creationId xmlns:p14="http://schemas.microsoft.com/office/powerpoint/2010/main" val="22694109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AA277-F70E-7559-28A6-BA6C25442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F3D8FC2D-4D9B-C433-0687-7F9CEC315EB2}"/>
              </a:ext>
            </a:extLst>
          </p:cNvPr>
          <p:cNvGrpSpPr/>
          <p:nvPr/>
        </p:nvGrpSpPr>
        <p:grpSpPr>
          <a:xfrm>
            <a:off x="0" y="1528"/>
            <a:ext cx="9141285" cy="5141972"/>
            <a:chOff x="0" y="1528"/>
            <a:chExt cx="9141285" cy="5141972"/>
          </a:xfrm>
        </p:grpSpPr>
        <p:pic>
          <p:nvPicPr>
            <p:cNvPr id="7" name="Imagen 17">
              <a:extLst>
                <a:ext uri="{FF2B5EF4-FFF2-40B4-BE49-F238E27FC236}">
                  <a16:creationId xmlns:a16="http://schemas.microsoft.com/office/drawing/2014/main" id="{A5E66ED3-0260-1ACD-9518-CAE532E63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0" y="1528"/>
              <a:ext cx="9141285" cy="5141972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</p:pic>
        <p:sp>
          <p:nvSpPr>
            <p:cNvPr id="8" name="CuadroTexto 1">
              <a:extLst>
                <a:ext uri="{FF2B5EF4-FFF2-40B4-BE49-F238E27FC236}">
                  <a16:creationId xmlns:a16="http://schemas.microsoft.com/office/drawing/2014/main" id="{25FFDB02-EF68-0D96-0C7A-BFF008959929}"/>
                </a:ext>
              </a:extLst>
            </p:cNvPr>
            <p:cNvSpPr txBox="1"/>
            <p:nvPr/>
          </p:nvSpPr>
          <p:spPr>
            <a:xfrm>
              <a:off x="2586268" y="4243770"/>
              <a:ext cx="3968750" cy="4924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CL" sz="1000" dirty="0">
                  <a:solidFill>
                    <a:srgbClr val="012E46">
                      <a:alpha val="29869"/>
                    </a:srgbClr>
                  </a:solidFill>
                  <a:latin typeface="Product Sans" panose="020B0403030502040203" pitchFamily="34" charset="0"/>
                </a:rPr>
                <a:t>Plan Común:</a:t>
              </a:r>
            </a:p>
            <a:p>
              <a:pPr algn="ctr"/>
              <a:r>
                <a:rPr lang="es-CL" sz="1600" b="1" dirty="0">
                  <a:solidFill>
                    <a:srgbClr val="012E46">
                      <a:alpha val="29869"/>
                    </a:srgbClr>
                  </a:solidFill>
                  <a:latin typeface="Product Sans" panose="020B0403030502040203" pitchFamily="34" charset="0"/>
                </a:rPr>
                <a:t>Programación</a:t>
              </a:r>
            </a:p>
          </p:txBody>
        </p:sp>
      </p:grpSp>
      <p:sp>
        <p:nvSpPr>
          <p:cNvPr id="10" name="CuadroTexto 3">
            <a:extLst>
              <a:ext uri="{FF2B5EF4-FFF2-40B4-BE49-F238E27FC236}">
                <a16:creationId xmlns:a16="http://schemas.microsoft.com/office/drawing/2014/main" id="{EDC057C6-AE0D-3820-3A16-1969C244EE0F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 err="1">
                <a:solidFill>
                  <a:srgbClr val="1956AF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matplotlib.pyplot</a:t>
            </a:r>
            <a:endParaRPr lang="es-CL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CuadroTexto 4">
            <a:extLst>
              <a:ext uri="{FF2B5EF4-FFF2-40B4-BE49-F238E27FC236}">
                <a16:creationId xmlns:a16="http://schemas.microsoft.com/office/drawing/2014/main" id="{BF80EAF5-0082-FF98-6537-886D53604038}"/>
              </a:ext>
            </a:extLst>
          </p:cNvPr>
          <p:cNvSpPr txBox="1"/>
          <p:nvPr/>
        </p:nvSpPr>
        <p:spPr>
          <a:xfrm>
            <a:off x="591961" y="1696863"/>
            <a:ext cx="7960078" cy="7386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r>
              <a:rPr lang="es-C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s-C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(x, y, </a:t>
            </a:r>
            <a:r>
              <a:rPr lang="es-C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marker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='o', </a:t>
            </a:r>
            <a:r>
              <a:rPr lang="es-C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linestyle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='-', color='blue’, </a:t>
            </a:r>
            <a:r>
              <a:rPr lang="es-C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linewidth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=1 )</a:t>
            </a:r>
          </a:p>
          <a:p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  <p:cxnSp>
        <p:nvCxnSpPr>
          <p:cNvPr id="23" name="Conector recto de flecha 23">
            <a:extLst>
              <a:ext uri="{FF2B5EF4-FFF2-40B4-BE49-F238E27FC236}">
                <a16:creationId xmlns:a16="http://schemas.microsoft.com/office/drawing/2014/main" id="{3DC11C9A-1C39-8FD5-A44C-D3D994D0B415}"/>
              </a:ext>
            </a:extLst>
          </p:cNvPr>
          <p:cNvCxnSpPr>
            <a:cxnSpLocks/>
            <a:stCxn id="2" idx="2"/>
            <a:endCxn id="24" idx="0"/>
          </p:cNvCxnSpPr>
          <p:nvPr/>
        </p:nvCxnSpPr>
        <p:spPr>
          <a:xfrm>
            <a:off x="7227984" y="2235366"/>
            <a:ext cx="283894" cy="475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4" name="CuadroTexto 29">
            <a:extLst>
              <a:ext uri="{FF2B5EF4-FFF2-40B4-BE49-F238E27FC236}">
                <a16:creationId xmlns:a16="http://schemas.microsoft.com/office/drawing/2014/main" id="{AC0348C1-B0B3-B6A2-9F1B-DB9436C088F5}"/>
              </a:ext>
            </a:extLst>
          </p:cNvPr>
          <p:cNvSpPr txBox="1"/>
          <p:nvPr/>
        </p:nvSpPr>
        <p:spPr>
          <a:xfrm>
            <a:off x="6471717" y="2710962"/>
            <a:ext cx="2080321" cy="719034"/>
          </a:xfrm>
          <a:prstGeom prst="rect">
            <a:avLst/>
          </a:prstGeom>
          <a:solidFill>
            <a:schemeClr val="tx1"/>
          </a:solidFill>
        </p:spPr>
        <p:txBody>
          <a:bodyPr wrap="square" lIns="0" tIns="36000" rIns="0" bIns="3600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0" i="0" u="none" strike="noStrike" cap="none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Especifica el ancho de la línea que conecta los marcadores</a:t>
            </a:r>
          </a:p>
        </p:txBody>
      </p:sp>
      <p:sp>
        <p:nvSpPr>
          <p:cNvPr id="29" name="CuadroTexto 4">
            <a:extLst>
              <a:ext uri="{FF2B5EF4-FFF2-40B4-BE49-F238E27FC236}">
                <a16:creationId xmlns:a16="http://schemas.microsoft.com/office/drawing/2014/main" id="{C3211BCB-8ED8-1B16-9CB2-424008D23195}"/>
              </a:ext>
            </a:extLst>
          </p:cNvPr>
          <p:cNvSpPr txBox="1"/>
          <p:nvPr/>
        </p:nvSpPr>
        <p:spPr>
          <a:xfrm>
            <a:off x="4834393" y="1317323"/>
            <a:ext cx="3717646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r"/>
            <a:r>
              <a:rPr lang="es-CL" sz="14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Parámetros adicionales del módulo</a:t>
            </a:r>
          </a:p>
        </p:txBody>
      </p:sp>
      <p:sp>
        <p:nvSpPr>
          <p:cNvPr id="2" name="Rectángulo redondeado 22">
            <a:extLst>
              <a:ext uri="{FF2B5EF4-FFF2-40B4-BE49-F238E27FC236}">
                <a16:creationId xmlns:a16="http://schemas.microsoft.com/office/drawing/2014/main" id="{3DCD1BEC-CF17-FE45-84C8-3F7C39A1BAA6}"/>
              </a:ext>
            </a:extLst>
          </p:cNvPr>
          <p:cNvSpPr/>
          <p:nvPr/>
        </p:nvSpPr>
        <p:spPr>
          <a:xfrm>
            <a:off x="6555017" y="1913247"/>
            <a:ext cx="1345933" cy="322119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4" name="Imagen 15">
            <a:extLst>
              <a:ext uri="{FF2B5EF4-FFF2-40B4-BE49-F238E27FC236}">
                <a16:creationId xmlns:a16="http://schemas.microsoft.com/office/drawing/2014/main" id="{0272D50F-DA0A-315B-7D84-330A54ACB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37" y="3235223"/>
            <a:ext cx="1526191" cy="787193"/>
          </a:xfrm>
          <a:prstGeom prst="rect">
            <a:avLst/>
          </a:prstGeom>
        </p:spPr>
      </p:pic>
      <p:sp>
        <p:nvSpPr>
          <p:cNvPr id="15" name="CuadroTexto 18">
            <a:extLst>
              <a:ext uri="{FF2B5EF4-FFF2-40B4-BE49-F238E27FC236}">
                <a16:creationId xmlns:a16="http://schemas.microsoft.com/office/drawing/2014/main" id="{C4928375-E90B-BE10-D6FA-9F714A450129}"/>
              </a:ext>
            </a:extLst>
          </p:cNvPr>
          <p:cNvSpPr txBox="1"/>
          <p:nvPr/>
        </p:nvSpPr>
        <p:spPr>
          <a:xfrm>
            <a:off x="619137" y="2676284"/>
            <a:ext cx="1571662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linewidth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=0</a:t>
            </a:r>
          </a:p>
        </p:txBody>
      </p:sp>
      <p:sp>
        <p:nvSpPr>
          <p:cNvPr id="18" name="CuadroTexto 19">
            <a:extLst>
              <a:ext uri="{FF2B5EF4-FFF2-40B4-BE49-F238E27FC236}">
                <a16:creationId xmlns:a16="http://schemas.microsoft.com/office/drawing/2014/main" id="{9C2B181D-5CB3-1A0B-3F70-ACD6B588F11F}"/>
              </a:ext>
            </a:extLst>
          </p:cNvPr>
          <p:cNvSpPr txBox="1"/>
          <p:nvPr/>
        </p:nvSpPr>
        <p:spPr>
          <a:xfrm>
            <a:off x="2586268" y="2684249"/>
            <a:ext cx="1571662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linewidth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=0.5</a:t>
            </a:r>
          </a:p>
        </p:txBody>
      </p:sp>
      <p:pic>
        <p:nvPicPr>
          <p:cNvPr id="28" name="Imagen 21">
            <a:extLst>
              <a:ext uri="{FF2B5EF4-FFF2-40B4-BE49-F238E27FC236}">
                <a16:creationId xmlns:a16="http://schemas.microsoft.com/office/drawing/2014/main" id="{2015E612-2508-F9CF-5130-3E2DB16103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3767" y="3207830"/>
            <a:ext cx="1563673" cy="841978"/>
          </a:xfrm>
          <a:prstGeom prst="rect">
            <a:avLst/>
          </a:prstGeom>
        </p:spPr>
      </p:pic>
      <p:pic>
        <p:nvPicPr>
          <p:cNvPr id="30" name="Imagen 24">
            <a:extLst>
              <a:ext uri="{FF2B5EF4-FFF2-40B4-BE49-F238E27FC236}">
                <a16:creationId xmlns:a16="http://schemas.microsoft.com/office/drawing/2014/main" id="{66676E69-E830-6DD8-017F-A8327AD291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6892" y="3207830"/>
            <a:ext cx="1552636" cy="841977"/>
          </a:xfrm>
          <a:prstGeom prst="rect">
            <a:avLst/>
          </a:prstGeom>
        </p:spPr>
      </p:pic>
      <p:sp>
        <p:nvSpPr>
          <p:cNvPr id="31" name="CuadroTexto 25">
            <a:extLst>
              <a:ext uri="{FF2B5EF4-FFF2-40B4-BE49-F238E27FC236}">
                <a16:creationId xmlns:a16="http://schemas.microsoft.com/office/drawing/2014/main" id="{9379E9BD-FC5D-2D38-9C55-A820CF141B72}"/>
              </a:ext>
            </a:extLst>
          </p:cNvPr>
          <p:cNvSpPr txBox="1"/>
          <p:nvPr/>
        </p:nvSpPr>
        <p:spPr>
          <a:xfrm>
            <a:off x="4551616" y="2684248"/>
            <a:ext cx="1571662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linewidth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=1</a:t>
            </a:r>
          </a:p>
        </p:txBody>
      </p:sp>
    </p:spTree>
    <p:extLst>
      <p:ext uri="{BB962C8B-B14F-4D97-AF65-F5344CB8AC3E}">
        <p14:creationId xmlns:p14="http://schemas.microsoft.com/office/powerpoint/2010/main" val="3770770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FC554-33B8-44FE-1C90-40081AF6B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00D416E-EC27-34C5-B2DA-B780245163FE}"/>
              </a:ext>
            </a:extLst>
          </p:cNvPr>
          <p:cNvGrpSpPr/>
          <p:nvPr/>
        </p:nvGrpSpPr>
        <p:grpSpPr>
          <a:xfrm>
            <a:off x="0" y="1528"/>
            <a:ext cx="9141285" cy="5141972"/>
            <a:chOff x="0" y="1528"/>
            <a:chExt cx="9141285" cy="5141972"/>
          </a:xfrm>
        </p:grpSpPr>
        <p:pic>
          <p:nvPicPr>
            <p:cNvPr id="7" name="Imagen 17">
              <a:extLst>
                <a:ext uri="{FF2B5EF4-FFF2-40B4-BE49-F238E27FC236}">
                  <a16:creationId xmlns:a16="http://schemas.microsoft.com/office/drawing/2014/main" id="{82D15358-EC92-3523-B500-13B9E172E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0" y="1528"/>
              <a:ext cx="9141285" cy="5141972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</p:pic>
        <p:sp>
          <p:nvSpPr>
            <p:cNvPr id="8" name="CuadroTexto 1">
              <a:extLst>
                <a:ext uri="{FF2B5EF4-FFF2-40B4-BE49-F238E27FC236}">
                  <a16:creationId xmlns:a16="http://schemas.microsoft.com/office/drawing/2014/main" id="{047EE9ED-E042-CD3E-7058-44CB4CAE653F}"/>
                </a:ext>
              </a:extLst>
            </p:cNvPr>
            <p:cNvSpPr txBox="1"/>
            <p:nvPr/>
          </p:nvSpPr>
          <p:spPr>
            <a:xfrm>
              <a:off x="2586268" y="4243770"/>
              <a:ext cx="3968750" cy="4924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CL" sz="1000" dirty="0">
                  <a:solidFill>
                    <a:srgbClr val="012E46">
                      <a:alpha val="29869"/>
                    </a:srgbClr>
                  </a:solidFill>
                  <a:latin typeface="Product Sans" panose="020B0403030502040203" pitchFamily="34" charset="0"/>
                </a:rPr>
                <a:t>Plan Común:</a:t>
              </a:r>
            </a:p>
            <a:p>
              <a:pPr algn="ctr"/>
              <a:r>
                <a:rPr lang="es-CL" sz="1600" b="1" dirty="0">
                  <a:solidFill>
                    <a:srgbClr val="012E46">
                      <a:alpha val="29869"/>
                    </a:srgbClr>
                  </a:solidFill>
                  <a:latin typeface="Product Sans" panose="020B0403030502040203" pitchFamily="34" charset="0"/>
                </a:rPr>
                <a:t>Programación</a:t>
              </a:r>
            </a:p>
          </p:txBody>
        </p:sp>
      </p:grpSp>
      <p:sp>
        <p:nvSpPr>
          <p:cNvPr id="10" name="CuadroTexto 3">
            <a:extLst>
              <a:ext uri="{FF2B5EF4-FFF2-40B4-BE49-F238E27FC236}">
                <a16:creationId xmlns:a16="http://schemas.microsoft.com/office/drawing/2014/main" id="{6D5EC9F9-F3AF-BF2B-8EBD-70C0A97DE8BD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 err="1">
                <a:solidFill>
                  <a:srgbClr val="1956AF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matplotlib.pyplot</a:t>
            </a:r>
            <a:endParaRPr lang="es-CL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CuadroTexto 4">
            <a:extLst>
              <a:ext uri="{FF2B5EF4-FFF2-40B4-BE49-F238E27FC236}">
                <a16:creationId xmlns:a16="http://schemas.microsoft.com/office/drawing/2014/main" id="{C788EEB9-4F16-4E71-43D2-3B5444F7710C}"/>
              </a:ext>
            </a:extLst>
          </p:cNvPr>
          <p:cNvSpPr txBox="1"/>
          <p:nvPr/>
        </p:nvSpPr>
        <p:spPr>
          <a:xfrm>
            <a:off x="591961" y="1696863"/>
            <a:ext cx="7960078" cy="7386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r>
              <a:rPr lang="es-C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s-C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(x, y, </a:t>
            </a:r>
            <a:r>
              <a:rPr lang="es-C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marker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='o', </a:t>
            </a:r>
            <a:r>
              <a:rPr lang="es-C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linestyle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='-', color='blue’, </a:t>
            </a:r>
            <a:r>
              <a:rPr lang="es-C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markersize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=6 )</a:t>
            </a:r>
          </a:p>
          <a:p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  <p:cxnSp>
        <p:nvCxnSpPr>
          <p:cNvPr id="23" name="Conector recto de flecha 23">
            <a:extLst>
              <a:ext uri="{FF2B5EF4-FFF2-40B4-BE49-F238E27FC236}">
                <a16:creationId xmlns:a16="http://schemas.microsoft.com/office/drawing/2014/main" id="{5BDA822F-DE01-9E1A-6D05-F9DB9A943FD1}"/>
              </a:ext>
            </a:extLst>
          </p:cNvPr>
          <p:cNvCxnSpPr>
            <a:cxnSpLocks/>
            <a:stCxn id="2" idx="2"/>
            <a:endCxn id="24" idx="0"/>
          </p:cNvCxnSpPr>
          <p:nvPr/>
        </p:nvCxnSpPr>
        <p:spPr>
          <a:xfrm>
            <a:off x="7280990" y="2235366"/>
            <a:ext cx="230888" cy="475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4" name="CuadroTexto 29">
            <a:extLst>
              <a:ext uri="{FF2B5EF4-FFF2-40B4-BE49-F238E27FC236}">
                <a16:creationId xmlns:a16="http://schemas.microsoft.com/office/drawing/2014/main" id="{E558ADAF-02ED-59A8-3C3B-79C2B71BD6E4}"/>
              </a:ext>
            </a:extLst>
          </p:cNvPr>
          <p:cNvSpPr txBox="1"/>
          <p:nvPr/>
        </p:nvSpPr>
        <p:spPr>
          <a:xfrm>
            <a:off x="6471717" y="2710962"/>
            <a:ext cx="2080321" cy="503590"/>
          </a:xfrm>
          <a:prstGeom prst="rect">
            <a:avLst/>
          </a:prstGeom>
          <a:solidFill>
            <a:schemeClr val="tx1"/>
          </a:solidFill>
        </p:spPr>
        <p:txBody>
          <a:bodyPr wrap="square" lIns="0" tIns="36000" rIns="0" bIns="3600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0" i="0" u="none" strike="noStrike" cap="none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Especifica el tamaño del marcador</a:t>
            </a:r>
          </a:p>
        </p:txBody>
      </p:sp>
      <p:sp>
        <p:nvSpPr>
          <p:cNvPr id="29" name="CuadroTexto 4">
            <a:extLst>
              <a:ext uri="{FF2B5EF4-FFF2-40B4-BE49-F238E27FC236}">
                <a16:creationId xmlns:a16="http://schemas.microsoft.com/office/drawing/2014/main" id="{F430C8EA-BC11-ECC7-5AB6-9F1F5F4F76A2}"/>
              </a:ext>
            </a:extLst>
          </p:cNvPr>
          <p:cNvSpPr txBox="1"/>
          <p:nvPr/>
        </p:nvSpPr>
        <p:spPr>
          <a:xfrm>
            <a:off x="4834393" y="1317323"/>
            <a:ext cx="3717646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r"/>
            <a:r>
              <a:rPr lang="es-CL" sz="14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Parámetros adicionales del módulo</a:t>
            </a:r>
          </a:p>
        </p:txBody>
      </p:sp>
      <p:sp>
        <p:nvSpPr>
          <p:cNvPr id="2" name="Rectángulo redondeado 22">
            <a:extLst>
              <a:ext uri="{FF2B5EF4-FFF2-40B4-BE49-F238E27FC236}">
                <a16:creationId xmlns:a16="http://schemas.microsoft.com/office/drawing/2014/main" id="{123A3E21-34AA-6710-F2A0-64BECCA4FFCA}"/>
              </a:ext>
            </a:extLst>
          </p:cNvPr>
          <p:cNvSpPr/>
          <p:nvPr/>
        </p:nvSpPr>
        <p:spPr>
          <a:xfrm>
            <a:off x="6555017" y="1913247"/>
            <a:ext cx="1451946" cy="322119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CuadroTexto 18">
            <a:extLst>
              <a:ext uri="{FF2B5EF4-FFF2-40B4-BE49-F238E27FC236}">
                <a16:creationId xmlns:a16="http://schemas.microsoft.com/office/drawing/2014/main" id="{4F2557CD-ECA2-5EEB-EA41-CF8E6588B9F1}"/>
              </a:ext>
            </a:extLst>
          </p:cNvPr>
          <p:cNvSpPr txBox="1"/>
          <p:nvPr/>
        </p:nvSpPr>
        <p:spPr>
          <a:xfrm>
            <a:off x="619137" y="2676284"/>
            <a:ext cx="1571662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markersize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=0</a:t>
            </a:r>
          </a:p>
        </p:txBody>
      </p:sp>
      <p:sp>
        <p:nvSpPr>
          <p:cNvPr id="18" name="CuadroTexto 19">
            <a:extLst>
              <a:ext uri="{FF2B5EF4-FFF2-40B4-BE49-F238E27FC236}">
                <a16:creationId xmlns:a16="http://schemas.microsoft.com/office/drawing/2014/main" id="{4DC0A1DE-C9C6-B159-369C-015F9BB34679}"/>
              </a:ext>
            </a:extLst>
          </p:cNvPr>
          <p:cNvSpPr txBox="1"/>
          <p:nvPr/>
        </p:nvSpPr>
        <p:spPr>
          <a:xfrm>
            <a:off x="2586268" y="2684249"/>
            <a:ext cx="1571662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markersize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=6</a:t>
            </a:r>
          </a:p>
        </p:txBody>
      </p:sp>
      <p:sp>
        <p:nvSpPr>
          <p:cNvPr id="31" name="CuadroTexto 25">
            <a:extLst>
              <a:ext uri="{FF2B5EF4-FFF2-40B4-BE49-F238E27FC236}">
                <a16:creationId xmlns:a16="http://schemas.microsoft.com/office/drawing/2014/main" id="{2311C018-63CC-79BA-D66F-147009561E39}"/>
              </a:ext>
            </a:extLst>
          </p:cNvPr>
          <p:cNvSpPr txBox="1"/>
          <p:nvPr/>
        </p:nvSpPr>
        <p:spPr>
          <a:xfrm>
            <a:off x="4551616" y="2684248"/>
            <a:ext cx="1571662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markersize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=9</a:t>
            </a:r>
          </a:p>
        </p:txBody>
      </p:sp>
      <p:pic>
        <p:nvPicPr>
          <p:cNvPr id="3" name="Imagen 8">
            <a:extLst>
              <a:ext uri="{FF2B5EF4-FFF2-40B4-BE49-F238E27FC236}">
                <a16:creationId xmlns:a16="http://schemas.microsoft.com/office/drawing/2014/main" id="{26E28D89-BC26-811E-CE0B-88098A716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37" y="3264688"/>
            <a:ext cx="1571662" cy="856514"/>
          </a:xfrm>
          <a:prstGeom prst="rect">
            <a:avLst/>
          </a:prstGeom>
        </p:spPr>
      </p:pic>
      <p:pic>
        <p:nvPicPr>
          <p:cNvPr id="4" name="Imagen 12">
            <a:extLst>
              <a:ext uri="{FF2B5EF4-FFF2-40B4-BE49-F238E27FC236}">
                <a16:creationId xmlns:a16="http://schemas.microsoft.com/office/drawing/2014/main" id="{0D884290-6C98-A50A-9421-8229FAA540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6269" y="3315840"/>
            <a:ext cx="1571662" cy="874079"/>
          </a:xfrm>
          <a:prstGeom prst="rect">
            <a:avLst/>
          </a:prstGeom>
        </p:spPr>
      </p:pic>
      <p:pic>
        <p:nvPicPr>
          <p:cNvPr id="5" name="Imagen 14">
            <a:extLst>
              <a:ext uri="{FF2B5EF4-FFF2-40B4-BE49-F238E27FC236}">
                <a16:creationId xmlns:a16="http://schemas.microsoft.com/office/drawing/2014/main" id="{6F960FFB-08AF-BB69-A2F1-FEC494EA95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099" y="3265942"/>
            <a:ext cx="1624179" cy="92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9461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8BC98-C3A7-73F0-708F-1E66EB3F1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6C511A0-01F9-A799-ADC5-517A1CC2B342}"/>
              </a:ext>
            </a:extLst>
          </p:cNvPr>
          <p:cNvGrpSpPr/>
          <p:nvPr/>
        </p:nvGrpSpPr>
        <p:grpSpPr>
          <a:xfrm>
            <a:off x="0" y="1528"/>
            <a:ext cx="9141285" cy="5141972"/>
            <a:chOff x="0" y="1528"/>
            <a:chExt cx="9141285" cy="5141972"/>
          </a:xfrm>
        </p:grpSpPr>
        <p:pic>
          <p:nvPicPr>
            <p:cNvPr id="7" name="Imagen 17">
              <a:extLst>
                <a:ext uri="{FF2B5EF4-FFF2-40B4-BE49-F238E27FC236}">
                  <a16:creationId xmlns:a16="http://schemas.microsoft.com/office/drawing/2014/main" id="{AEDFA6C7-8521-F97C-595F-77F97B071A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0" y="1528"/>
              <a:ext cx="9141285" cy="5141972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</p:pic>
        <p:sp>
          <p:nvSpPr>
            <p:cNvPr id="8" name="CuadroTexto 1">
              <a:extLst>
                <a:ext uri="{FF2B5EF4-FFF2-40B4-BE49-F238E27FC236}">
                  <a16:creationId xmlns:a16="http://schemas.microsoft.com/office/drawing/2014/main" id="{822D24AB-D595-67C5-35DF-682538ED0241}"/>
                </a:ext>
              </a:extLst>
            </p:cNvPr>
            <p:cNvSpPr txBox="1"/>
            <p:nvPr/>
          </p:nvSpPr>
          <p:spPr>
            <a:xfrm>
              <a:off x="2586268" y="4243770"/>
              <a:ext cx="3968750" cy="4924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CL" sz="1000" dirty="0">
                  <a:solidFill>
                    <a:srgbClr val="012E46">
                      <a:alpha val="29869"/>
                    </a:srgbClr>
                  </a:solidFill>
                  <a:latin typeface="Product Sans" panose="020B0403030502040203" pitchFamily="34" charset="0"/>
                </a:rPr>
                <a:t>Plan Común:</a:t>
              </a:r>
            </a:p>
            <a:p>
              <a:pPr algn="ctr"/>
              <a:r>
                <a:rPr lang="es-CL" sz="1600" b="1" dirty="0">
                  <a:solidFill>
                    <a:srgbClr val="012E46">
                      <a:alpha val="29869"/>
                    </a:srgbClr>
                  </a:solidFill>
                  <a:latin typeface="Product Sans" panose="020B0403030502040203" pitchFamily="34" charset="0"/>
                </a:rPr>
                <a:t>Programación</a:t>
              </a:r>
            </a:p>
          </p:txBody>
        </p:sp>
      </p:grpSp>
      <p:sp>
        <p:nvSpPr>
          <p:cNvPr id="10" name="CuadroTexto 3">
            <a:extLst>
              <a:ext uri="{FF2B5EF4-FFF2-40B4-BE49-F238E27FC236}">
                <a16:creationId xmlns:a16="http://schemas.microsoft.com/office/drawing/2014/main" id="{1D4567B4-5E3E-0BE6-3EF7-5BC50B14661A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 err="1">
                <a:solidFill>
                  <a:srgbClr val="1956AF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matplotlib.pyplot</a:t>
            </a:r>
            <a:endParaRPr lang="es-CL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19AA1CB-67E1-B1D9-670A-2B9E39F37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1263" y="2185603"/>
            <a:ext cx="3661538" cy="2957897"/>
          </a:xfrm>
          <a:prstGeom prst="rect">
            <a:avLst/>
          </a:prstGeom>
        </p:spPr>
      </p:pic>
      <p:sp>
        <p:nvSpPr>
          <p:cNvPr id="14" name="CuadroTexto 4">
            <a:extLst>
              <a:ext uri="{FF2B5EF4-FFF2-40B4-BE49-F238E27FC236}">
                <a16:creationId xmlns:a16="http://schemas.microsoft.com/office/drawing/2014/main" id="{0CAF6C0F-D839-488A-406D-21CA75E3C74C}"/>
              </a:ext>
            </a:extLst>
          </p:cNvPr>
          <p:cNvSpPr txBox="1"/>
          <p:nvPr/>
        </p:nvSpPr>
        <p:spPr>
          <a:xfrm>
            <a:off x="417685" y="1204523"/>
            <a:ext cx="4395021" cy="7386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r>
              <a:rPr lang="es-C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s-C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title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('Gráfico de Líneas Simple')</a:t>
            </a:r>
          </a:p>
          <a:p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  <p:sp>
        <p:nvSpPr>
          <p:cNvPr id="12" name="Rectángulo redondeado 6">
            <a:extLst>
              <a:ext uri="{FF2B5EF4-FFF2-40B4-BE49-F238E27FC236}">
                <a16:creationId xmlns:a16="http://schemas.microsoft.com/office/drawing/2014/main" id="{FBA5B5A1-6F28-34F7-FD80-EC91BD01446F}"/>
              </a:ext>
            </a:extLst>
          </p:cNvPr>
          <p:cNvSpPr/>
          <p:nvPr/>
        </p:nvSpPr>
        <p:spPr>
          <a:xfrm>
            <a:off x="434514" y="1415335"/>
            <a:ext cx="4068475" cy="318051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13" name="Conector curvado 9">
            <a:extLst>
              <a:ext uri="{FF2B5EF4-FFF2-40B4-BE49-F238E27FC236}">
                <a16:creationId xmlns:a16="http://schemas.microsoft.com/office/drawing/2014/main" id="{82A0544C-87FA-4D10-76B2-4D3B2DB8E039}"/>
              </a:ext>
            </a:extLst>
          </p:cNvPr>
          <p:cNvCxnSpPr>
            <a:cxnSpLocks/>
            <a:stCxn id="12" idx="2"/>
          </p:cNvCxnSpPr>
          <p:nvPr/>
        </p:nvCxnSpPr>
        <p:spPr>
          <a:xfrm rot="16200000" flipH="1">
            <a:off x="3456766" y="745372"/>
            <a:ext cx="556590" cy="2532618"/>
          </a:xfrm>
          <a:prstGeom prst="curvedConnector2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92337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6E3FB-38E0-783C-42FA-622676A5A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FC8B8ABF-439F-0CD2-DA02-CFF03D1F7C21}"/>
              </a:ext>
            </a:extLst>
          </p:cNvPr>
          <p:cNvGrpSpPr/>
          <p:nvPr/>
        </p:nvGrpSpPr>
        <p:grpSpPr>
          <a:xfrm>
            <a:off x="0" y="1528"/>
            <a:ext cx="9141285" cy="5141972"/>
            <a:chOff x="0" y="1528"/>
            <a:chExt cx="9141285" cy="5141972"/>
          </a:xfrm>
        </p:grpSpPr>
        <p:pic>
          <p:nvPicPr>
            <p:cNvPr id="7" name="Imagen 17">
              <a:extLst>
                <a:ext uri="{FF2B5EF4-FFF2-40B4-BE49-F238E27FC236}">
                  <a16:creationId xmlns:a16="http://schemas.microsoft.com/office/drawing/2014/main" id="{B1B20352-7A7C-F632-CCD1-C888BED7E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0" y="1528"/>
              <a:ext cx="9141285" cy="5141972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</p:pic>
        <p:sp>
          <p:nvSpPr>
            <p:cNvPr id="8" name="CuadroTexto 1">
              <a:extLst>
                <a:ext uri="{FF2B5EF4-FFF2-40B4-BE49-F238E27FC236}">
                  <a16:creationId xmlns:a16="http://schemas.microsoft.com/office/drawing/2014/main" id="{2F368E54-4A77-F7DA-8B72-D0918B67B7E2}"/>
                </a:ext>
              </a:extLst>
            </p:cNvPr>
            <p:cNvSpPr txBox="1"/>
            <p:nvPr/>
          </p:nvSpPr>
          <p:spPr>
            <a:xfrm>
              <a:off x="2586268" y="4243770"/>
              <a:ext cx="3968750" cy="4924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CL" sz="1000" dirty="0">
                  <a:solidFill>
                    <a:srgbClr val="012E46">
                      <a:alpha val="29869"/>
                    </a:srgbClr>
                  </a:solidFill>
                  <a:latin typeface="Product Sans" panose="020B0403030502040203" pitchFamily="34" charset="0"/>
                </a:rPr>
                <a:t>Plan Común:</a:t>
              </a:r>
            </a:p>
            <a:p>
              <a:pPr algn="ctr"/>
              <a:r>
                <a:rPr lang="es-CL" sz="1600" b="1" dirty="0">
                  <a:solidFill>
                    <a:srgbClr val="012E46">
                      <a:alpha val="29869"/>
                    </a:srgbClr>
                  </a:solidFill>
                  <a:latin typeface="Product Sans" panose="020B0403030502040203" pitchFamily="34" charset="0"/>
                </a:rPr>
                <a:t>Programación</a:t>
              </a:r>
            </a:p>
          </p:txBody>
        </p:sp>
      </p:grpSp>
      <p:sp>
        <p:nvSpPr>
          <p:cNvPr id="10" name="CuadroTexto 3">
            <a:extLst>
              <a:ext uri="{FF2B5EF4-FFF2-40B4-BE49-F238E27FC236}">
                <a16:creationId xmlns:a16="http://schemas.microsoft.com/office/drawing/2014/main" id="{5FCDC314-80BA-D76A-1F31-B352D840F9AE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 err="1">
                <a:solidFill>
                  <a:srgbClr val="1956AF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matplotlib.pyplot</a:t>
            </a:r>
            <a:endParaRPr lang="es-CL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CuadroTexto 4">
            <a:extLst>
              <a:ext uri="{FF2B5EF4-FFF2-40B4-BE49-F238E27FC236}">
                <a16:creationId xmlns:a16="http://schemas.microsoft.com/office/drawing/2014/main" id="{33750B97-CE79-B41C-375E-E7B93865E5E4}"/>
              </a:ext>
            </a:extLst>
          </p:cNvPr>
          <p:cNvSpPr txBox="1"/>
          <p:nvPr/>
        </p:nvSpPr>
        <p:spPr>
          <a:xfrm>
            <a:off x="417685" y="1204523"/>
            <a:ext cx="8471873" cy="6924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r>
              <a:rPr lang="es-CL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s-CL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title</a:t>
            </a:r>
            <a:r>
              <a:rPr lang="es-CL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('Gráfico de Líneas Simple',</a:t>
            </a:r>
            <a:r>
              <a:rPr lang="es-CL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fontsize</a:t>
            </a:r>
            <a:r>
              <a:rPr lang="es-CL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=12,</a:t>
            </a:r>
            <a:r>
              <a:rPr lang="es-CL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fontweight</a:t>
            </a:r>
            <a:r>
              <a:rPr lang="es-CL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='normal',</a:t>
            </a:r>
            <a:r>
              <a:rPr lang="es-CL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style</a:t>
            </a:r>
            <a:r>
              <a:rPr lang="es-CL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='normal')</a:t>
            </a:r>
          </a:p>
          <a:p>
            <a:r>
              <a:rPr lang="es-CL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  <p:sp>
        <p:nvSpPr>
          <p:cNvPr id="2" name="CuadroTexto 5">
            <a:extLst>
              <a:ext uri="{FF2B5EF4-FFF2-40B4-BE49-F238E27FC236}">
                <a16:creationId xmlns:a16="http://schemas.microsoft.com/office/drawing/2014/main" id="{F86AF163-E83D-2054-D124-C39F80301B96}"/>
              </a:ext>
            </a:extLst>
          </p:cNvPr>
          <p:cNvSpPr txBox="1"/>
          <p:nvPr/>
        </p:nvSpPr>
        <p:spPr>
          <a:xfrm>
            <a:off x="3800973" y="2145934"/>
            <a:ext cx="1307254" cy="503590"/>
          </a:xfrm>
          <a:prstGeom prst="rect">
            <a:avLst/>
          </a:prstGeom>
          <a:solidFill>
            <a:schemeClr val="tx1"/>
          </a:solidFill>
        </p:spPr>
        <p:txBody>
          <a:bodyPr wrap="square" lIns="0" tIns="36000" rIns="0" bIns="3600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0" i="0" u="none" strike="noStrike" cap="none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Tamaño de letra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10, 12, 14, etc</a:t>
            </a:r>
            <a:endParaRPr lang="es-ES" sz="11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ectángulo redondeado 6">
            <a:extLst>
              <a:ext uri="{FF2B5EF4-FFF2-40B4-BE49-F238E27FC236}">
                <a16:creationId xmlns:a16="http://schemas.microsoft.com/office/drawing/2014/main" id="{B358891F-E392-6D73-E666-830EEDF54AE3}"/>
              </a:ext>
            </a:extLst>
          </p:cNvPr>
          <p:cNvSpPr/>
          <p:nvPr/>
        </p:nvSpPr>
        <p:spPr>
          <a:xfrm>
            <a:off x="4128937" y="1397243"/>
            <a:ext cx="1113084" cy="344832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/>
              <a:t> </a:t>
            </a:r>
          </a:p>
        </p:txBody>
      </p:sp>
      <p:cxnSp>
        <p:nvCxnSpPr>
          <p:cNvPr id="4" name="Conector recto de flecha 8">
            <a:extLst>
              <a:ext uri="{FF2B5EF4-FFF2-40B4-BE49-F238E27FC236}">
                <a16:creationId xmlns:a16="http://schemas.microsoft.com/office/drawing/2014/main" id="{10E585C5-68BA-368E-6D2D-A4E5C5B3E671}"/>
              </a:ext>
            </a:extLst>
          </p:cNvPr>
          <p:cNvCxnSpPr>
            <a:cxnSpLocks/>
            <a:stCxn id="3" idx="2"/>
            <a:endCxn id="2" idx="0"/>
          </p:cNvCxnSpPr>
          <p:nvPr/>
        </p:nvCxnSpPr>
        <p:spPr>
          <a:xfrm flipH="1">
            <a:off x="4454600" y="1742075"/>
            <a:ext cx="230879" cy="403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CuadroTexto 11">
            <a:extLst>
              <a:ext uri="{FF2B5EF4-FFF2-40B4-BE49-F238E27FC236}">
                <a16:creationId xmlns:a16="http://schemas.microsoft.com/office/drawing/2014/main" id="{1A55F5D9-D317-256F-CBC5-9475A9AC1680}"/>
              </a:ext>
            </a:extLst>
          </p:cNvPr>
          <p:cNvSpPr txBox="1"/>
          <p:nvPr/>
        </p:nvSpPr>
        <p:spPr>
          <a:xfrm>
            <a:off x="5242021" y="2143215"/>
            <a:ext cx="1936955" cy="503590"/>
          </a:xfrm>
          <a:prstGeom prst="rect">
            <a:avLst/>
          </a:prstGeom>
          <a:solidFill>
            <a:schemeClr val="tx1"/>
          </a:solidFill>
        </p:spPr>
        <p:txBody>
          <a:bodyPr wrap="square" lIns="0" tIns="36000" rIns="0" bIns="3600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0" i="0" u="none" strike="noStrike" cap="none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Grosor de la letra: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'normal', 'bold','light'</a:t>
            </a:r>
            <a:endParaRPr lang="es-ES" sz="11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Rectángulo redondeado 12">
            <a:extLst>
              <a:ext uri="{FF2B5EF4-FFF2-40B4-BE49-F238E27FC236}">
                <a16:creationId xmlns:a16="http://schemas.microsoft.com/office/drawing/2014/main" id="{467A90D7-1EEB-9742-888F-8F8B3D4F2923}"/>
              </a:ext>
            </a:extLst>
          </p:cNvPr>
          <p:cNvSpPr/>
          <p:nvPr/>
        </p:nvSpPr>
        <p:spPr>
          <a:xfrm>
            <a:off x="5306027" y="1389711"/>
            <a:ext cx="1872949" cy="344832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/>
              <a:t> </a:t>
            </a:r>
          </a:p>
        </p:txBody>
      </p:sp>
      <p:cxnSp>
        <p:nvCxnSpPr>
          <p:cNvPr id="15" name="Conector recto de flecha 13">
            <a:extLst>
              <a:ext uri="{FF2B5EF4-FFF2-40B4-BE49-F238E27FC236}">
                <a16:creationId xmlns:a16="http://schemas.microsoft.com/office/drawing/2014/main" id="{3D49FB62-538B-C1AE-C81E-F1D2D7075C80}"/>
              </a:ext>
            </a:extLst>
          </p:cNvPr>
          <p:cNvCxnSpPr>
            <a:cxnSpLocks/>
            <a:stCxn id="11" idx="2"/>
            <a:endCxn id="5" idx="0"/>
          </p:cNvCxnSpPr>
          <p:nvPr/>
        </p:nvCxnSpPr>
        <p:spPr>
          <a:xfrm flipH="1">
            <a:off x="6210499" y="1734543"/>
            <a:ext cx="32003" cy="4086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CuadroTexto 18">
            <a:extLst>
              <a:ext uri="{FF2B5EF4-FFF2-40B4-BE49-F238E27FC236}">
                <a16:creationId xmlns:a16="http://schemas.microsoft.com/office/drawing/2014/main" id="{40C248AF-18A6-990E-B6F7-CC5E95CB0EEA}"/>
              </a:ext>
            </a:extLst>
          </p:cNvPr>
          <p:cNvSpPr txBox="1"/>
          <p:nvPr/>
        </p:nvSpPr>
        <p:spPr>
          <a:xfrm>
            <a:off x="7310464" y="2143215"/>
            <a:ext cx="1614129" cy="503590"/>
          </a:xfrm>
          <a:prstGeom prst="rect">
            <a:avLst/>
          </a:prstGeom>
          <a:solidFill>
            <a:schemeClr val="tx1"/>
          </a:solidFill>
        </p:spPr>
        <p:txBody>
          <a:bodyPr wrap="square" lIns="0" tIns="36000" rIns="0" bIns="3600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0" i="0" u="none" strike="noStrike" cap="none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Estilo de la letra: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'normal', 'italic'</a:t>
            </a:r>
            <a:endParaRPr lang="es-ES" sz="11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Rectángulo redondeado 19">
            <a:extLst>
              <a:ext uri="{FF2B5EF4-FFF2-40B4-BE49-F238E27FC236}">
                <a16:creationId xmlns:a16="http://schemas.microsoft.com/office/drawing/2014/main" id="{61AA89E0-5078-E73A-9C4B-E631FE8D2AFA}"/>
              </a:ext>
            </a:extLst>
          </p:cNvPr>
          <p:cNvSpPr/>
          <p:nvPr/>
        </p:nvSpPr>
        <p:spPr>
          <a:xfrm>
            <a:off x="7247797" y="1402592"/>
            <a:ext cx="1406415" cy="322119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/>
              <a:t> </a:t>
            </a:r>
          </a:p>
        </p:txBody>
      </p:sp>
      <p:cxnSp>
        <p:nvCxnSpPr>
          <p:cNvPr id="18" name="Conector recto de flecha 20">
            <a:extLst>
              <a:ext uri="{FF2B5EF4-FFF2-40B4-BE49-F238E27FC236}">
                <a16:creationId xmlns:a16="http://schemas.microsoft.com/office/drawing/2014/main" id="{4ECE5E86-0CF3-CB05-701D-8E0A8A43CBC6}"/>
              </a:ext>
            </a:extLst>
          </p:cNvPr>
          <p:cNvCxnSpPr>
            <a:cxnSpLocks/>
            <a:stCxn id="17" idx="2"/>
            <a:endCxn id="16" idx="0"/>
          </p:cNvCxnSpPr>
          <p:nvPr/>
        </p:nvCxnSpPr>
        <p:spPr>
          <a:xfrm>
            <a:off x="7951005" y="1724711"/>
            <a:ext cx="166524" cy="4185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0" name="CuadroTexto 26">
            <a:extLst>
              <a:ext uri="{FF2B5EF4-FFF2-40B4-BE49-F238E27FC236}">
                <a16:creationId xmlns:a16="http://schemas.microsoft.com/office/drawing/2014/main" id="{BD62D2E9-02E9-C757-8A6F-A9460E8EF182}"/>
              </a:ext>
            </a:extLst>
          </p:cNvPr>
          <p:cNvSpPr txBox="1"/>
          <p:nvPr/>
        </p:nvSpPr>
        <p:spPr>
          <a:xfrm>
            <a:off x="833399" y="2971174"/>
            <a:ext cx="2194936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fontsize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=12,</a:t>
            </a:r>
          </a:p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fontweight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='normal',</a:t>
            </a:r>
          </a:p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style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='normal'</a:t>
            </a:r>
          </a:p>
        </p:txBody>
      </p:sp>
      <p:pic>
        <p:nvPicPr>
          <p:cNvPr id="31" name="Imagen 27">
            <a:extLst>
              <a:ext uri="{FF2B5EF4-FFF2-40B4-BE49-F238E27FC236}">
                <a16:creationId xmlns:a16="http://schemas.microsoft.com/office/drawing/2014/main" id="{C43172C2-1353-FF3B-6E5D-D3D2D03C3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0659" y="4059748"/>
            <a:ext cx="4812919" cy="631912"/>
          </a:xfrm>
          <a:prstGeom prst="rect">
            <a:avLst/>
          </a:prstGeom>
        </p:spPr>
      </p:pic>
      <p:sp>
        <p:nvSpPr>
          <p:cNvPr id="32" name="CuadroTexto 28">
            <a:extLst>
              <a:ext uri="{FF2B5EF4-FFF2-40B4-BE49-F238E27FC236}">
                <a16:creationId xmlns:a16="http://schemas.microsoft.com/office/drawing/2014/main" id="{8991AF18-345E-D46A-5FAC-2F72EB82B8B7}"/>
              </a:ext>
            </a:extLst>
          </p:cNvPr>
          <p:cNvSpPr txBox="1"/>
          <p:nvPr/>
        </p:nvSpPr>
        <p:spPr>
          <a:xfrm>
            <a:off x="833399" y="4089882"/>
            <a:ext cx="2194936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fontsize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=18,</a:t>
            </a:r>
          </a:p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fontweight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='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bold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</a:p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style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='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italic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</a:p>
        </p:txBody>
      </p:sp>
      <p:pic>
        <p:nvPicPr>
          <p:cNvPr id="33" name="Imagen 29">
            <a:extLst>
              <a:ext uri="{FF2B5EF4-FFF2-40B4-BE49-F238E27FC236}">
                <a16:creationId xmlns:a16="http://schemas.microsoft.com/office/drawing/2014/main" id="{E4D4BA98-579F-42C9-2C64-266542EABD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2693" y="3023148"/>
            <a:ext cx="4230599" cy="542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9635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AC7AD-C7D7-F267-A706-E6E605F36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D73EFAF-B896-6A2A-1E22-9262116B8816}"/>
              </a:ext>
            </a:extLst>
          </p:cNvPr>
          <p:cNvGrpSpPr/>
          <p:nvPr/>
        </p:nvGrpSpPr>
        <p:grpSpPr>
          <a:xfrm>
            <a:off x="0" y="1528"/>
            <a:ext cx="9141285" cy="5141972"/>
            <a:chOff x="0" y="1528"/>
            <a:chExt cx="9141285" cy="5141972"/>
          </a:xfrm>
        </p:grpSpPr>
        <p:pic>
          <p:nvPicPr>
            <p:cNvPr id="7" name="Imagen 17">
              <a:extLst>
                <a:ext uri="{FF2B5EF4-FFF2-40B4-BE49-F238E27FC236}">
                  <a16:creationId xmlns:a16="http://schemas.microsoft.com/office/drawing/2014/main" id="{3E453294-0757-F827-D1E8-EEA2C4C53E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0" y="1528"/>
              <a:ext cx="9141285" cy="5141972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</p:pic>
        <p:sp>
          <p:nvSpPr>
            <p:cNvPr id="8" name="CuadroTexto 1">
              <a:extLst>
                <a:ext uri="{FF2B5EF4-FFF2-40B4-BE49-F238E27FC236}">
                  <a16:creationId xmlns:a16="http://schemas.microsoft.com/office/drawing/2014/main" id="{8E13879B-84CF-5650-49F7-97599F61DFFD}"/>
                </a:ext>
              </a:extLst>
            </p:cNvPr>
            <p:cNvSpPr txBox="1"/>
            <p:nvPr/>
          </p:nvSpPr>
          <p:spPr>
            <a:xfrm>
              <a:off x="2586268" y="4243770"/>
              <a:ext cx="3968750" cy="4924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CL" sz="1000" dirty="0">
                  <a:solidFill>
                    <a:srgbClr val="012E46">
                      <a:alpha val="29869"/>
                    </a:srgbClr>
                  </a:solidFill>
                  <a:latin typeface="Product Sans" panose="020B0403030502040203" pitchFamily="34" charset="0"/>
                </a:rPr>
                <a:t>Plan Común:</a:t>
              </a:r>
            </a:p>
            <a:p>
              <a:pPr algn="ctr"/>
              <a:r>
                <a:rPr lang="es-CL" sz="1600" b="1" dirty="0">
                  <a:solidFill>
                    <a:srgbClr val="012E46">
                      <a:alpha val="29869"/>
                    </a:srgbClr>
                  </a:solidFill>
                  <a:latin typeface="Product Sans" panose="020B0403030502040203" pitchFamily="34" charset="0"/>
                </a:rPr>
                <a:t>Programación</a:t>
              </a:r>
            </a:p>
          </p:txBody>
        </p:sp>
      </p:grpSp>
      <p:sp>
        <p:nvSpPr>
          <p:cNvPr id="10" name="CuadroTexto 3">
            <a:extLst>
              <a:ext uri="{FF2B5EF4-FFF2-40B4-BE49-F238E27FC236}">
                <a16:creationId xmlns:a16="http://schemas.microsoft.com/office/drawing/2014/main" id="{D205BA2D-4121-D336-C918-987786283C96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 err="1">
                <a:solidFill>
                  <a:srgbClr val="1956AF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matplotlib.pyplot</a:t>
            </a:r>
            <a:endParaRPr lang="es-CL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4E6AD23-C415-A7A9-15AC-6415D59FA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1263" y="2185603"/>
            <a:ext cx="3661538" cy="2957897"/>
          </a:xfrm>
          <a:prstGeom prst="rect">
            <a:avLst/>
          </a:prstGeom>
        </p:spPr>
      </p:pic>
      <p:sp>
        <p:nvSpPr>
          <p:cNvPr id="14" name="CuadroTexto 4">
            <a:extLst>
              <a:ext uri="{FF2B5EF4-FFF2-40B4-BE49-F238E27FC236}">
                <a16:creationId xmlns:a16="http://schemas.microsoft.com/office/drawing/2014/main" id="{4B78BC77-ACC0-8AC1-270B-056BE3622C05}"/>
              </a:ext>
            </a:extLst>
          </p:cNvPr>
          <p:cNvSpPr txBox="1"/>
          <p:nvPr/>
        </p:nvSpPr>
        <p:spPr>
          <a:xfrm>
            <a:off x="417685" y="1204523"/>
            <a:ext cx="4395021" cy="9541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s-CL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xlabel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('Eje X')</a:t>
            </a:r>
          </a:p>
          <a:p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s-CL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ylabel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('Eje y')</a:t>
            </a:r>
          </a:p>
          <a:p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  <p:sp>
        <p:nvSpPr>
          <p:cNvPr id="12" name="Rectángulo redondeado 6">
            <a:extLst>
              <a:ext uri="{FF2B5EF4-FFF2-40B4-BE49-F238E27FC236}">
                <a16:creationId xmlns:a16="http://schemas.microsoft.com/office/drawing/2014/main" id="{80539B61-C621-4F2A-61AC-4BDC1F872F75}"/>
              </a:ext>
            </a:extLst>
          </p:cNvPr>
          <p:cNvSpPr/>
          <p:nvPr/>
        </p:nvSpPr>
        <p:spPr>
          <a:xfrm>
            <a:off x="434514" y="1431235"/>
            <a:ext cx="2151754" cy="226999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13" name="Conector curvado 9">
            <a:extLst>
              <a:ext uri="{FF2B5EF4-FFF2-40B4-BE49-F238E27FC236}">
                <a16:creationId xmlns:a16="http://schemas.microsoft.com/office/drawing/2014/main" id="{3BA39D51-BC94-B7AE-1715-A1E341804423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2586268" y="1544735"/>
            <a:ext cx="3059158" cy="3416879"/>
          </a:xfrm>
          <a:prstGeom prst="curvedConnector2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ángulo redondeado 6">
            <a:extLst>
              <a:ext uri="{FF2B5EF4-FFF2-40B4-BE49-F238E27FC236}">
                <a16:creationId xmlns:a16="http://schemas.microsoft.com/office/drawing/2014/main" id="{5F540070-C232-1F57-4AD5-898A1E88C9E4}"/>
              </a:ext>
            </a:extLst>
          </p:cNvPr>
          <p:cNvSpPr/>
          <p:nvPr/>
        </p:nvSpPr>
        <p:spPr>
          <a:xfrm>
            <a:off x="434514" y="1671037"/>
            <a:ext cx="2151754" cy="223983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15" name="Conector curvado 9">
            <a:extLst>
              <a:ext uri="{FF2B5EF4-FFF2-40B4-BE49-F238E27FC236}">
                <a16:creationId xmlns:a16="http://schemas.microsoft.com/office/drawing/2014/main" id="{F0C3EE28-3D18-8C2E-F5AF-8AD745AE3C19}"/>
              </a:ext>
            </a:extLst>
          </p:cNvPr>
          <p:cNvCxnSpPr>
            <a:cxnSpLocks/>
            <a:stCxn id="4" idx="2"/>
            <a:endCxn id="6" idx="1"/>
          </p:cNvCxnSpPr>
          <p:nvPr/>
        </p:nvCxnSpPr>
        <p:spPr>
          <a:xfrm rot="16200000" flipH="1">
            <a:off x="1726061" y="1679350"/>
            <a:ext cx="1769532" cy="2200872"/>
          </a:xfrm>
          <a:prstGeom prst="curvedConnector2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30672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69E54-569E-8D0B-98E4-6ACD801EC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CCC4E3C0-FBB0-1CA4-B2D2-7EC4A2F49404}"/>
              </a:ext>
            </a:extLst>
          </p:cNvPr>
          <p:cNvGrpSpPr/>
          <p:nvPr/>
        </p:nvGrpSpPr>
        <p:grpSpPr>
          <a:xfrm>
            <a:off x="0" y="1528"/>
            <a:ext cx="9141285" cy="5141972"/>
            <a:chOff x="0" y="1528"/>
            <a:chExt cx="9141285" cy="5141972"/>
          </a:xfrm>
        </p:grpSpPr>
        <p:pic>
          <p:nvPicPr>
            <p:cNvPr id="7" name="Imagen 17">
              <a:extLst>
                <a:ext uri="{FF2B5EF4-FFF2-40B4-BE49-F238E27FC236}">
                  <a16:creationId xmlns:a16="http://schemas.microsoft.com/office/drawing/2014/main" id="{77021366-33DB-354E-9C2C-86EB0F5CB5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0" y="1528"/>
              <a:ext cx="9141285" cy="5141972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</p:pic>
        <p:sp>
          <p:nvSpPr>
            <p:cNvPr id="8" name="CuadroTexto 1">
              <a:extLst>
                <a:ext uri="{FF2B5EF4-FFF2-40B4-BE49-F238E27FC236}">
                  <a16:creationId xmlns:a16="http://schemas.microsoft.com/office/drawing/2014/main" id="{9F5FA05F-28D0-146C-7F7F-2323F154D4C0}"/>
                </a:ext>
              </a:extLst>
            </p:cNvPr>
            <p:cNvSpPr txBox="1"/>
            <p:nvPr/>
          </p:nvSpPr>
          <p:spPr>
            <a:xfrm>
              <a:off x="2586268" y="4243770"/>
              <a:ext cx="3968750" cy="4924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CL" sz="1000" dirty="0">
                  <a:solidFill>
                    <a:srgbClr val="012E46">
                      <a:alpha val="29869"/>
                    </a:srgbClr>
                  </a:solidFill>
                  <a:latin typeface="Product Sans" panose="020B0403030502040203" pitchFamily="34" charset="0"/>
                </a:rPr>
                <a:t>Plan Común:</a:t>
              </a:r>
            </a:p>
            <a:p>
              <a:pPr algn="ctr"/>
              <a:r>
                <a:rPr lang="es-CL" sz="1600" b="1" dirty="0">
                  <a:solidFill>
                    <a:srgbClr val="012E46">
                      <a:alpha val="29869"/>
                    </a:srgbClr>
                  </a:solidFill>
                  <a:latin typeface="Product Sans" panose="020B0403030502040203" pitchFamily="34" charset="0"/>
                </a:rPr>
                <a:t>Programación</a:t>
              </a:r>
            </a:p>
          </p:txBody>
        </p:sp>
      </p:grpSp>
      <p:sp>
        <p:nvSpPr>
          <p:cNvPr id="10" name="CuadroTexto 3">
            <a:extLst>
              <a:ext uri="{FF2B5EF4-FFF2-40B4-BE49-F238E27FC236}">
                <a16:creationId xmlns:a16="http://schemas.microsoft.com/office/drawing/2014/main" id="{16048D21-B954-09A4-7942-5A2D7A79E858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 err="1">
                <a:solidFill>
                  <a:srgbClr val="1956AF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matplotlib.pyplot</a:t>
            </a:r>
            <a:endParaRPr lang="es-CL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CuadroTexto 4">
            <a:extLst>
              <a:ext uri="{FF2B5EF4-FFF2-40B4-BE49-F238E27FC236}">
                <a16:creationId xmlns:a16="http://schemas.microsoft.com/office/drawing/2014/main" id="{0FB3F6C5-E511-C7AC-143F-5690AE6EAD6F}"/>
              </a:ext>
            </a:extLst>
          </p:cNvPr>
          <p:cNvSpPr txBox="1"/>
          <p:nvPr/>
        </p:nvSpPr>
        <p:spPr>
          <a:xfrm>
            <a:off x="417685" y="1204523"/>
            <a:ext cx="8471873" cy="6924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r>
              <a:rPr lang="es-CL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s-CL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xlabel</a:t>
            </a:r>
            <a:r>
              <a:rPr lang="es-CL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('Eje X',</a:t>
            </a:r>
            <a:r>
              <a:rPr lang="es-CL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fontsize</a:t>
            </a:r>
            <a:r>
              <a:rPr lang="es-CL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=12,</a:t>
            </a:r>
            <a:r>
              <a:rPr lang="es-CL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fontweight</a:t>
            </a:r>
            <a:r>
              <a:rPr lang="es-CL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='normal',</a:t>
            </a:r>
            <a:r>
              <a:rPr lang="es-CL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style</a:t>
            </a:r>
            <a:r>
              <a:rPr lang="es-CL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='normal')</a:t>
            </a:r>
          </a:p>
          <a:p>
            <a:r>
              <a:rPr lang="es-CL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  <p:sp>
        <p:nvSpPr>
          <p:cNvPr id="2" name="CuadroTexto 5">
            <a:extLst>
              <a:ext uri="{FF2B5EF4-FFF2-40B4-BE49-F238E27FC236}">
                <a16:creationId xmlns:a16="http://schemas.microsoft.com/office/drawing/2014/main" id="{07F9D380-E489-C1D2-1899-1CB01AD8F623}"/>
              </a:ext>
            </a:extLst>
          </p:cNvPr>
          <p:cNvSpPr txBox="1"/>
          <p:nvPr/>
        </p:nvSpPr>
        <p:spPr>
          <a:xfrm>
            <a:off x="2279875" y="2099529"/>
            <a:ext cx="1307254" cy="503590"/>
          </a:xfrm>
          <a:prstGeom prst="rect">
            <a:avLst/>
          </a:prstGeom>
          <a:solidFill>
            <a:schemeClr val="tx1"/>
          </a:solidFill>
        </p:spPr>
        <p:txBody>
          <a:bodyPr wrap="square" lIns="0" tIns="36000" rIns="0" bIns="3600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0" i="0" u="none" strike="noStrike" cap="none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Tamaño de letra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10, 12, 14, etc</a:t>
            </a:r>
            <a:endParaRPr lang="es-ES" sz="11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ectángulo redondeado 6">
            <a:extLst>
              <a:ext uri="{FF2B5EF4-FFF2-40B4-BE49-F238E27FC236}">
                <a16:creationId xmlns:a16="http://schemas.microsoft.com/office/drawing/2014/main" id="{8E31B82F-5555-001E-38D3-D0DC294A0C5F}"/>
              </a:ext>
            </a:extLst>
          </p:cNvPr>
          <p:cNvSpPr/>
          <p:nvPr/>
        </p:nvSpPr>
        <p:spPr>
          <a:xfrm>
            <a:off x="2376960" y="1405754"/>
            <a:ext cx="1113084" cy="344832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/>
              <a:t> </a:t>
            </a:r>
          </a:p>
        </p:txBody>
      </p:sp>
      <p:cxnSp>
        <p:nvCxnSpPr>
          <p:cNvPr id="4" name="Conector recto de flecha 8">
            <a:extLst>
              <a:ext uri="{FF2B5EF4-FFF2-40B4-BE49-F238E27FC236}">
                <a16:creationId xmlns:a16="http://schemas.microsoft.com/office/drawing/2014/main" id="{E5FAC634-DFDA-6F64-1211-B229911E713F}"/>
              </a:ext>
            </a:extLst>
          </p:cNvPr>
          <p:cNvCxnSpPr>
            <a:cxnSpLocks/>
            <a:stCxn id="3" idx="2"/>
            <a:endCxn id="2" idx="0"/>
          </p:cNvCxnSpPr>
          <p:nvPr/>
        </p:nvCxnSpPr>
        <p:spPr>
          <a:xfrm>
            <a:off x="2933502" y="1750586"/>
            <a:ext cx="0" cy="348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CuadroTexto 11">
            <a:extLst>
              <a:ext uri="{FF2B5EF4-FFF2-40B4-BE49-F238E27FC236}">
                <a16:creationId xmlns:a16="http://schemas.microsoft.com/office/drawing/2014/main" id="{1CA9B1FB-0463-B256-8DBF-1AB7673E5DEB}"/>
              </a:ext>
            </a:extLst>
          </p:cNvPr>
          <p:cNvSpPr txBox="1"/>
          <p:nvPr/>
        </p:nvSpPr>
        <p:spPr>
          <a:xfrm>
            <a:off x="3734723" y="2099529"/>
            <a:ext cx="1936955" cy="503590"/>
          </a:xfrm>
          <a:prstGeom prst="rect">
            <a:avLst/>
          </a:prstGeom>
          <a:solidFill>
            <a:schemeClr val="tx1"/>
          </a:solidFill>
        </p:spPr>
        <p:txBody>
          <a:bodyPr wrap="square" lIns="0" tIns="36000" rIns="0" bIns="3600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0" i="0" u="none" strike="noStrike" cap="none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Grosor de la letra: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'normal', 'bold','light'</a:t>
            </a:r>
            <a:endParaRPr lang="es-ES" sz="11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Rectángulo redondeado 12">
            <a:extLst>
              <a:ext uri="{FF2B5EF4-FFF2-40B4-BE49-F238E27FC236}">
                <a16:creationId xmlns:a16="http://schemas.microsoft.com/office/drawing/2014/main" id="{53DC1C3F-A1E8-A337-FBDC-465943BDC071}"/>
              </a:ext>
            </a:extLst>
          </p:cNvPr>
          <p:cNvSpPr/>
          <p:nvPr/>
        </p:nvSpPr>
        <p:spPr>
          <a:xfrm>
            <a:off x="3566514" y="1397756"/>
            <a:ext cx="1872949" cy="344832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/>
              <a:t> </a:t>
            </a:r>
          </a:p>
        </p:txBody>
      </p:sp>
      <p:cxnSp>
        <p:nvCxnSpPr>
          <p:cNvPr id="15" name="Conector recto de flecha 13">
            <a:extLst>
              <a:ext uri="{FF2B5EF4-FFF2-40B4-BE49-F238E27FC236}">
                <a16:creationId xmlns:a16="http://schemas.microsoft.com/office/drawing/2014/main" id="{C32F2B6F-D394-D4A6-8F31-576C5113E680}"/>
              </a:ext>
            </a:extLst>
          </p:cNvPr>
          <p:cNvCxnSpPr>
            <a:cxnSpLocks/>
            <a:stCxn id="11" idx="2"/>
            <a:endCxn id="5" idx="0"/>
          </p:cNvCxnSpPr>
          <p:nvPr/>
        </p:nvCxnSpPr>
        <p:spPr>
          <a:xfrm>
            <a:off x="4502989" y="1742588"/>
            <a:ext cx="200212" cy="3569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CuadroTexto 18">
            <a:extLst>
              <a:ext uri="{FF2B5EF4-FFF2-40B4-BE49-F238E27FC236}">
                <a16:creationId xmlns:a16="http://schemas.microsoft.com/office/drawing/2014/main" id="{086C98F0-07F4-543D-CFB1-9D9C5034D7B5}"/>
              </a:ext>
            </a:extLst>
          </p:cNvPr>
          <p:cNvSpPr txBox="1"/>
          <p:nvPr/>
        </p:nvSpPr>
        <p:spPr>
          <a:xfrm>
            <a:off x="5819272" y="2096624"/>
            <a:ext cx="1614129" cy="503590"/>
          </a:xfrm>
          <a:prstGeom prst="rect">
            <a:avLst/>
          </a:prstGeom>
          <a:solidFill>
            <a:schemeClr val="tx1"/>
          </a:solidFill>
        </p:spPr>
        <p:txBody>
          <a:bodyPr wrap="square" lIns="0" tIns="36000" rIns="0" bIns="3600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0" i="0" u="none" strike="noStrike" cap="none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Estilo de la letra: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'normal', 'italic'</a:t>
            </a:r>
            <a:endParaRPr lang="es-ES" sz="11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Rectángulo redondeado 19">
            <a:extLst>
              <a:ext uri="{FF2B5EF4-FFF2-40B4-BE49-F238E27FC236}">
                <a16:creationId xmlns:a16="http://schemas.microsoft.com/office/drawing/2014/main" id="{1D779CDE-F47B-0DB8-35D7-45CF6731CA2A}"/>
              </a:ext>
            </a:extLst>
          </p:cNvPr>
          <p:cNvSpPr/>
          <p:nvPr/>
        </p:nvSpPr>
        <p:spPr>
          <a:xfrm>
            <a:off x="5515933" y="1404127"/>
            <a:ext cx="1406415" cy="322119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/>
              <a:t> </a:t>
            </a:r>
          </a:p>
        </p:txBody>
      </p:sp>
      <p:cxnSp>
        <p:nvCxnSpPr>
          <p:cNvPr id="18" name="Conector recto de flecha 20">
            <a:extLst>
              <a:ext uri="{FF2B5EF4-FFF2-40B4-BE49-F238E27FC236}">
                <a16:creationId xmlns:a16="http://schemas.microsoft.com/office/drawing/2014/main" id="{19341605-E528-0C57-F644-7A4D4745389B}"/>
              </a:ext>
            </a:extLst>
          </p:cNvPr>
          <p:cNvCxnSpPr>
            <a:cxnSpLocks/>
            <a:stCxn id="17" idx="2"/>
            <a:endCxn id="16" idx="0"/>
          </p:cNvCxnSpPr>
          <p:nvPr/>
        </p:nvCxnSpPr>
        <p:spPr>
          <a:xfrm>
            <a:off x="6219141" y="1726246"/>
            <a:ext cx="407196" cy="370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0" name="CuadroTexto 26">
            <a:extLst>
              <a:ext uri="{FF2B5EF4-FFF2-40B4-BE49-F238E27FC236}">
                <a16:creationId xmlns:a16="http://schemas.microsoft.com/office/drawing/2014/main" id="{EDD2DC40-67B8-88AA-DC1F-F2FA29B62BBF}"/>
              </a:ext>
            </a:extLst>
          </p:cNvPr>
          <p:cNvSpPr txBox="1"/>
          <p:nvPr/>
        </p:nvSpPr>
        <p:spPr>
          <a:xfrm>
            <a:off x="833399" y="2971174"/>
            <a:ext cx="2194936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fontsize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=12,</a:t>
            </a:r>
          </a:p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fontweight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='normal',</a:t>
            </a:r>
          </a:p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style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='normal'</a:t>
            </a:r>
          </a:p>
        </p:txBody>
      </p:sp>
      <p:sp>
        <p:nvSpPr>
          <p:cNvPr id="32" name="CuadroTexto 28">
            <a:extLst>
              <a:ext uri="{FF2B5EF4-FFF2-40B4-BE49-F238E27FC236}">
                <a16:creationId xmlns:a16="http://schemas.microsoft.com/office/drawing/2014/main" id="{26B9E667-70E5-36F6-B7FE-ADBFDD59D598}"/>
              </a:ext>
            </a:extLst>
          </p:cNvPr>
          <p:cNvSpPr txBox="1"/>
          <p:nvPr/>
        </p:nvSpPr>
        <p:spPr>
          <a:xfrm>
            <a:off x="833399" y="4089882"/>
            <a:ext cx="2194936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fontsize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=8,</a:t>
            </a:r>
          </a:p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fontweight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='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bold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</a:p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style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='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italic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</a:p>
        </p:txBody>
      </p:sp>
      <p:pic>
        <p:nvPicPr>
          <p:cNvPr id="23" name="Imagen 27">
            <a:extLst>
              <a:ext uri="{FF2B5EF4-FFF2-40B4-BE49-F238E27FC236}">
                <a16:creationId xmlns:a16="http://schemas.microsoft.com/office/drawing/2014/main" id="{55F44118-3A8C-BF50-A001-13499F71C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0636" y="2946058"/>
            <a:ext cx="1879600" cy="850900"/>
          </a:xfrm>
          <a:prstGeom prst="rect">
            <a:avLst/>
          </a:prstGeom>
        </p:spPr>
      </p:pic>
      <p:pic>
        <p:nvPicPr>
          <p:cNvPr id="24" name="Imagen 30">
            <a:extLst>
              <a:ext uri="{FF2B5EF4-FFF2-40B4-BE49-F238E27FC236}">
                <a16:creationId xmlns:a16="http://schemas.microsoft.com/office/drawing/2014/main" id="{506F7FAA-5053-27C0-C893-FE7FFF4054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841" y="4057813"/>
            <a:ext cx="19177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1313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DB466-4436-9152-AC65-E9BCD367C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D7BCAAC-2FEB-7F27-1F44-38A45056BBFA}"/>
              </a:ext>
            </a:extLst>
          </p:cNvPr>
          <p:cNvGrpSpPr/>
          <p:nvPr/>
        </p:nvGrpSpPr>
        <p:grpSpPr>
          <a:xfrm>
            <a:off x="0" y="1528"/>
            <a:ext cx="9141285" cy="5141972"/>
            <a:chOff x="0" y="1528"/>
            <a:chExt cx="9141285" cy="5141972"/>
          </a:xfrm>
        </p:grpSpPr>
        <p:pic>
          <p:nvPicPr>
            <p:cNvPr id="7" name="Imagen 17">
              <a:extLst>
                <a:ext uri="{FF2B5EF4-FFF2-40B4-BE49-F238E27FC236}">
                  <a16:creationId xmlns:a16="http://schemas.microsoft.com/office/drawing/2014/main" id="{610B1B45-AF5D-E972-BE1A-8B41A3F535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0" y="1528"/>
              <a:ext cx="9141285" cy="5141972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</p:pic>
        <p:sp>
          <p:nvSpPr>
            <p:cNvPr id="8" name="CuadroTexto 1">
              <a:extLst>
                <a:ext uri="{FF2B5EF4-FFF2-40B4-BE49-F238E27FC236}">
                  <a16:creationId xmlns:a16="http://schemas.microsoft.com/office/drawing/2014/main" id="{F0139B6D-B165-B42D-F197-83862D985278}"/>
                </a:ext>
              </a:extLst>
            </p:cNvPr>
            <p:cNvSpPr txBox="1"/>
            <p:nvPr/>
          </p:nvSpPr>
          <p:spPr>
            <a:xfrm>
              <a:off x="2586268" y="4243770"/>
              <a:ext cx="3968750" cy="4924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CL" sz="1000" dirty="0">
                  <a:solidFill>
                    <a:srgbClr val="012E46">
                      <a:alpha val="29869"/>
                    </a:srgbClr>
                  </a:solidFill>
                  <a:latin typeface="Product Sans" panose="020B0403030502040203" pitchFamily="34" charset="0"/>
                </a:rPr>
                <a:t>Plan Común:</a:t>
              </a:r>
            </a:p>
            <a:p>
              <a:pPr algn="ctr"/>
              <a:r>
                <a:rPr lang="es-CL" sz="1600" b="1" dirty="0">
                  <a:solidFill>
                    <a:srgbClr val="012E46">
                      <a:alpha val="29869"/>
                    </a:srgbClr>
                  </a:solidFill>
                  <a:latin typeface="Product Sans" panose="020B0403030502040203" pitchFamily="34" charset="0"/>
                </a:rPr>
                <a:t>Programación</a:t>
              </a:r>
            </a:p>
          </p:txBody>
        </p:sp>
      </p:grpSp>
      <p:sp>
        <p:nvSpPr>
          <p:cNvPr id="10" name="CuadroTexto 3">
            <a:extLst>
              <a:ext uri="{FF2B5EF4-FFF2-40B4-BE49-F238E27FC236}">
                <a16:creationId xmlns:a16="http://schemas.microsoft.com/office/drawing/2014/main" id="{A3D2F30D-0263-1B81-44B4-30EBB6D7AAA0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 err="1">
                <a:solidFill>
                  <a:srgbClr val="1956AF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matplotlib.pyplot</a:t>
            </a:r>
            <a:endParaRPr lang="es-CL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uadroTexto 4">
            <a:extLst>
              <a:ext uri="{FF2B5EF4-FFF2-40B4-BE49-F238E27FC236}">
                <a16:creationId xmlns:a16="http://schemas.microsoft.com/office/drawing/2014/main" id="{BEAACCCA-68E5-B9C5-0F1F-E47D082BBC8F}"/>
              </a:ext>
            </a:extLst>
          </p:cNvPr>
          <p:cNvSpPr txBox="1"/>
          <p:nvPr/>
        </p:nvSpPr>
        <p:spPr>
          <a:xfrm>
            <a:off x="1033839" y="1397206"/>
            <a:ext cx="2566221" cy="7386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r>
              <a:rPr lang="es-C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s-C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  <p:pic>
        <p:nvPicPr>
          <p:cNvPr id="3" name="Imagen 7">
            <a:extLst>
              <a:ext uri="{FF2B5EF4-FFF2-40B4-BE49-F238E27FC236}">
                <a16:creationId xmlns:a16="http://schemas.microsoft.com/office/drawing/2014/main" id="{B7708CDC-E2A5-333D-19DC-C1DB0FD98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92" y="2362629"/>
            <a:ext cx="3044381" cy="2459339"/>
          </a:xfrm>
          <a:prstGeom prst="rect">
            <a:avLst/>
          </a:prstGeom>
        </p:spPr>
      </p:pic>
      <p:cxnSp>
        <p:nvCxnSpPr>
          <p:cNvPr id="11" name="Conector curvado 29">
            <a:extLst>
              <a:ext uri="{FF2B5EF4-FFF2-40B4-BE49-F238E27FC236}">
                <a16:creationId xmlns:a16="http://schemas.microsoft.com/office/drawing/2014/main" id="{A5FE9853-60B0-90C7-2306-00DA2752A22B}"/>
              </a:ext>
            </a:extLst>
          </p:cNvPr>
          <p:cNvCxnSpPr>
            <a:cxnSpLocks/>
            <a:stCxn id="19" idx="3"/>
          </p:cNvCxnSpPr>
          <p:nvPr/>
        </p:nvCxnSpPr>
        <p:spPr>
          <a:xfrm flipH="1">
            <a:off x="1741336" y="1777817"/>
            <a:ext cx="889609" cy="1482218"/>
          </a:xfrm>
          <a:prstGeom prst="curvedConnector4">
            <a:avLst>
              <a:gd name="adj1" fmla="val -25697"/>
              <a:gd name="adj2" fmla="val 55816"/>
            </a:avLst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Imagen 13">
            <a:extLst>
              <a:ext uri="{FF2B5EF4-FFF2-40B4-BE49-F238E27FC236}">
                <a16:creationId xmlns:a16="http://schemas.microsoft.com/office/drawing/2014/main" id="{7D3E7D7A-C3BA-6ADF-5C9D-EE77F8A64C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1889" y="2410015"/>
            <a:ext cx="3044380" cy="2459339"/>
          </a:xfrm>
          <a:prstGeom prst="rect">
            <a:avLst/>
          </a:prstGeom>
        </p:spPr>
      </p:pic>
      <p:sp>
        <p:nvSpPr>
          <p:cNvPr id="19" name="Rectángulo redondeado 6">
            <a:extLst>
              <a:ext uri="{FF2B5EF4-FFF2-40B4-BE49-F238E27FC236}">
                <a16:creationId xmlns:a16="http://schemas.microsoft.com/office/drawing/2014/main" id="{81583A99-2101-787B-4CE6-97C7A667FE9C}"/>
              </a:ext>
            </a:extLst>
          </p:cNvPr>
          <p:cNvSpPr/>
          <p:nvPr/>
        </p:nvSpPr>
        <p:spPr>
          <a:xfrm>
            <a:off x="1517861" y="1605401"/>
            <a:ext cx="1113084" cy="344832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/>
              <a:t> </a:t>
            </a:r>
          </a:p>
        </p:txBody>
      </p:sp>
      <p:sp>
        <p:nvSpPr>
          <p:cNvPr id="26" name="CuadroTexto 4">
            <a:extLst>
              <a:ext uri="{FF2B5EF4-FFF2-40B4-BE49-F238E27FC236}">
                <a16:creationId xmlns:a16="http://schemas.microsoft.com/office/drawing/2014/main" id="{561017D9-317D-0480-002A-D21ED3E26654}"/>
              </a:ext>
            </a:extLst>
          </p:cNvPr>
          <p:cNvSpPr txBox="1"/>
          <p:nvPr/>
        </p:nvSpPr>
        <p:spPr>
          <a:xfrm>
            <a:off x="5543940" y="1395303"/>
            <a:ext cx="2566221" cy="7386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r>
              <a:rPr lang="es-C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s-C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  <p:cxnSp>
        <p:nvCxnSpPr>
          <p:cNvPr id="27" name="Conector curvado 29">
            <a:extLst>
              <a:ext uri="{FF2B5EF4-FFF2-40B4-BE49-F238E27FC236}">
                <a16:creationId xmlns:a16="http://schemas.microsoft.com/office/drawing/2014/main" id="{F5114E87-31F2-DEC9-01F4-A4B5D4FF06FA}"/>
              </a:ext>
            </a:extLst>
          </p:cNvPr>
          <p:cNvCxnSpPr>
            <a:cxnSpLocks/>
            <a:stCxn id="28" idx="3"/>
          </p:cNvCxnSpPr>
          <p:nvPr/>
        </p:nvCxnSpPr>
        <p:spPr>
          <a:xfrm flipH="1">
            <a:off x="6251437" y="1775914"/>
            <a:ext cx="984249" cy="1482218"/>
          </a:xfrm>
          <a:prstGeom prst="curvedConnector4">
            <a:avLst>
              <a:gd name="adj1" fmla="val -23226"/>
              <a:gd name="adj2" fmla="val 55816"/>
            </a:avLst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ángulo redondeado 6">
            <a:extLst>
              <a:ext uri="{FF2B5EF4-FFF2-40B4-BE49-F238E27FC236}">
                <a16:creationId xmlns:a16="http://schemas.microsoft.com/office/drawing/2014/main" id="{DD506A63-0B8E-DC9D-DB5C-6FB234FDB70F}"/>
              </a:ext>
            </a:extLst>
          </p:cNvPr>
          <p:cNvSpPr/>
          <p:nvPr/>
        </p:nvSpPr>
        <p:spPr>
          <a:xfrm>
            <a:off x="6027961" y="1603498"/>
            <a:ext cx="1207725" cy="344832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987637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45F14-BABF-676A-7325-A40A1DB27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F5CB42A-340A-2696-EB3E-280F924DCBA0}"/>
              </a:ext>
            </a:extLst>
          </p:cNvPr>
          <p:cNvGrpSpPr/>
          <p:nvPr/>
        </p:nvGrpSpPr>
        <p:grpSpPr>
          <a:xfrm>
            <a:off x="0" y="1528"/>
            <a:ext cx="9141285" cy="5141972"/>
            <a:chOff x="0" y="1528"/>
            <a:chExt cx="9141285" cy="5141972"/>
          </a:xfrm>
        </p:grpSpPr>
        <p:pic>
          <p:nvPicPr>
            <p:cNvPr id="7" name="Imagen 17">
              <a:extLst>
                <a:ext uri="{FF2B5EF4-FFF2-40B4-BE49-F238E27FC236}">
                  <a16:creationId xmlns:a16="http://schemas.microsoft.com/office/drawing/2014/main" id="{C9A3C26E-49B3-1877-144E-28DB498CF9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0" y="1528"/>
              <a:ext cx="9141285" cy="5141972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</p:pic>
        <p:sp>
          <p:nvSpPr>
            <p:cNvPr id="8" name="CuadroTexto 1">
              <a:extLst>
                <a:ext uri="{FF2B5EF4-FFF2-40B4-BE49-F238E27FC236}">
                  <a16:creationId xmlns:a16="http://schemas.microsoft.com/office/drawing/2014/main" id="{4FC29F46-EEA3-5A3B-783A-D07659CC5636}"/>
                </a:ext>
              </a:extLst>
            </p:cNvPr>
            <p:cNvSpPr txBox="1"/>
            <p:nvPr/>
          </p:nvSpPr>
          <p:spPr>
            <a:xfrm>
              <a:off x="2586268" y="4243770"/>
              <a:ext cx="3968750" cy="4924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CL" sz="1000" dirty="0">
                  <a:solidFill>
                    <a:srgbClr val="012E46">
                      <a:alpha val="29869"/>
                    </a:srgbClr>
                  </a:solidFill>
                  <a:latin typeface="Product Sans" panose="020B0403030502040203" pitchFamily="34" charset="0"/>
                </a:rPr>
                <a:t>Plan Común:</a:t>
              </a:r>
            </a:p>
            <a:p>
              <a:pPr algn="ctr"/>
              <a:r>
                <a:rPr lang="es-CL" sz="1600" b="1" dirty="0">
                  <a:solidFill>
                    <a:srgbClr val="012E46">
                      <a:alpha val="29869"/>
                    </a:srgbClr>
                  </a:solidFill>
                  <a:latin typeface="Product Sans" panose="020B0403030502040203" pitchFamily="34" charset="0"/>
                </a:rPr>
                <a:t>Programación</a:t>
              </a:r>
            </a:p>
          </p:txBody>
        </p:sp>
      </p:grpSp>
      <p:sp>
        <p:nvSpPr>
          <p:cNvPr id="10" name="CuadroTexto 3">
            <a:extLst>
              <a:ext uri="{FF2B5EF4-FFF2-40B4-BE49-F238E27FC236}">
                <a16:creationId xmlns:a16="http://schemas.microsoft.com/office/drawing/2014/main" id="{A83CB2B7-CD68-0F0A-ACA1-37CEDD718EDE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 err="1">
                <a:solidFill>
                  <a:srgbClr val="1956AF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matplotlib.pyplot</a:t>
            </a:r>
            <a:endParaRPr lang="es-CL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CuadroTexto 4">
            <a:extLst>
              <a:ext uri="{FF2B5EF4-FFF2-40B4-BE49-F238E27FC236}">
                <a16:creationId xmlns:a16="http://schemas.microsoft.com/office/drawing/2014/main" id="{208EED2C-474C-78D9-139A-A164B6CF9AC0}"/>
              </a:ext>
            </a:extLst>
          </p:cNvPr>
          <p:cNvSpPr txBox="1"/>
          <p:nvPr/>
        </p:nvSpPr>
        <p:spPr>
          <a:xfrm>
            <a:off x="417685" y="1204523"/>
            <a:ext cx="5601451" cy="6924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r>
              <a:rPr lang="es-CL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s-CL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</a:t>
            </a:r>
            <a:r>
              <a:rPr lang="es-CL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axis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='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both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’, 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linestyle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='-’, 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linewidth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=0.5</a:t>
            </a:r>
            <a:r>
              <a:rPr lang="es-CL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s-CL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  <p:sp>
        <p:nvSpPr>
          <p:cNvPr id="2" name="CuadroTexto 5">
            <a:extLst>
              <a:ext uri="{FF2B5EF4-FFF2-40B4-BE49-F238E27FC236}">
                <a16:creationId xmlns:a16="http://schemas.microsoft.com/office/drawing/2014/main" id="{4328F9BC-CB21-07E0-3077-0653E4115193}"/>
              </a:ext>
            </a:extLst>
          </p:cNvPr>
          <p:cNvSpPr txBox="1"/>
          <p:nvPr/>
        </p:nvSpPr>
        <p:spPr>
          <a:xfrm>
            <a:off x="6074913" y="820858"/>
            <a:ext cx="3010595" cy="749812"/>
          </a:xfrm>
          <a:prstGeom prst="rect">
            <a:avLst/>
          </a:prstGeom>
          <a:solidFill>
            <a:schemeClr val="tx1"/>
          </a:solidFill>
        </p:spPr>
        <p:txBody>
          <a:bodyPr wrap="square" lIns="0" tIns="36000" rIns="0" bIns="3600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0" i="0" u="none" strike="noStrike" cap="none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Especifica en qué ejes se aplicará la cuadrícula.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0" i="0" u="none" strike="noStrike" cap="none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'</a:t>
            </a:r>
            <a:r>
              <a:rPr lang="es-ES" sz="1100" b="0" i="0" u="none" strike="noStrike" cap="none" dirty="0" err="1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both</a:t>
            </a:r>
            <a:r>
              <a:rPr lang="es-ES" sz="1100" b="0" i="0" u="none" strike="noStrike" cap="none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': Aplica la cuadrícula a ambos ejes (x e y).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0" i="0" u="none" strike="noStrike" cap="none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'x': Aplica la cuadrícula solo al eje x.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0" i="0" u="none" strike="noStrike" cap="none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'y': Aplica la cuadrícula solo al eje y.</a:t>
            </a:r>
            <a:endParaRPr lang="es-ES" sz="10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ectángulo redondeado 6">
            <a:extLst>
              <a:ext uri="{FF2B5EF4-FFF2-40B4-BE49-F238E27FC236}">
                <a16:creationId xmlns:a16="http://schemas.microsoft.com/office/drawing/2014/main" id="{3F52B4BC-2E04-41FB-1CFE-DF058DC7D1FF}"/>
              </a:ext>
            </a:extLst>
          </p:cNvPr>
          <p:cNvSpPr/>
          <p:nvPr/>
        </p:nvSpPr>
        <p:spPr>
          <a:xfrm>
            <a:off x="1907300" y="1398254"/>
            <a:ext cx="1113084" cy="344832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/>
              <a:t> </a:t>
            </a:r>
          </a:p>
        </p:txBody>
      </p:sp>
      <p:cxnSp>
        <p:nvCxnSpPr>
          <p:cNvPr id="4" name="Conector recto de flecha 8">
            <a:extLst>
              <a:ext uri="{FF2B5EF4-FFF2-40B4-BE49-F238E27FC236}">
                <a16:creationId xmlns:a16="http://schemas.microsoft.com/office/drawing/2014/main" id="{B0F2ACCD-B52B-AD75-C8E6-9C7D9C81862E}"/>
              </a:ext>
            </a:extLst>
          </p:cNvPr>
          <p:cNvCxnSpPr>
            <a:cxnSpLocks/>
            <a:stCxn id="3" idx="0"/>
            <a:endCxn id="2" idx="1"/>
          </p:cNvCxnSpPr>
          <p:nvPr/>
        </p:nvCxnSpPr>
        <p:spPr>
          <a:xfrm flipV="1">
            <a:off x="2463842" y="1195764"/>
            <a:ext cx="3611071" cy="2024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2" name="Imagen 12">
            <a:extLst>
              <a:ext uri="{FF2B5EF4-FFF2-40B4-BE49-F238E27FC236}">
                <a16:creationId xmlns:a16="http://schemas.microsoft.com/office/drawing/2014/main" id="{97E874C2-3AB9-FDA9-02CB-6D8EEDEEB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1126" y="2917964"/>
            <a:ext cx="2614382" cy="2111974"/>
          </a:xfrm>
          <a:prstGeom prst="rect">
            <a:avLst/>
          </a:prstGeom>
        </p:spPr>
      </p:pic>
      <p:pic>
        <p:nvPicPr>
          <p:cNvPr id="25" name="Imagen 13">
            <a:extLst>
              <a:ext uri="{FF2B5EF4-FFF2-40B4-BE49-F238E27FC236}">
                <a16:creationId xmlns:a16="http://schemas.microsoft.com/office/drawing/2014/main" id="{87A36A19-4C49-3047-CF6E-90F13C4FEB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8607" y="2917964"/>
            <a:ext cx="2614382" cy="2111974"/>
          </a:xfrm>
          <a:prstGeom prst="rect">
            <a:avLst/>
          </a:prstGeom>
        </p:spPr>
      </p:pic>
      <p:sp>
        <p:nvSpPr>
          <p:cNvPr id="33" name="CuadroTexto 7">
            <a:extLst>
              <a:ext uri="{FF2B5EF4-FFF2-40B4-BE49-F238E27FC236}">
                <a16:creationId xmlns:a16="http://schemas.microsoft.com/office/drawing/2014/main" id="{368B154D-118B-2FFF-0FCC-05E60E04231A}"/>
              </a:ext>
            </a:extLst>
          </p:cNvPr>
          <p:cNvSpPr txBox="1"/>
          <p:nvPr/>
        </p:nvSpPr>
        <p:spPr>
          <a:xfrm>
            <a:off x="417712" y="2089099"/>
            <a:ext cx="2046130" cy="116955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s-C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s-CL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s-CL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axis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='x',</a:t>
            </a:r>
          </a:p>
          <a:p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s-C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linestyle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='--',</a:t>
            </a:r>
          </a:p>
          <a:p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s-C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linewidth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=0.5)</a:t>
            </a:r>
          </a:p>
        </p:txBody>
      </p:sp>
      <p:sp>
        <p:nvSpPr>
          <p:cNvPr id="34" name="CuadroTexto 7">
            <a:extLst>
              <a:ext uri="{FF2B5EF4-FFF2-40B4-BE49-F238E27FC236}">
                <a16:creationId xmlns:a16="http://schemas.microsoft.com/office/drawing/2014/main" id="{A1A56733-638E-EEA5-B3BA-D2B59C8A7F14}"/>
              </a:ext>
            </a:extLst>
          </p:cNvPr>
          <p:cNvSpPr txBox="1"/>
          <p:nvPr/>
        </p:nvSpPr>
        <p:spPr>
          <a:xfrm>
            <a:off x="5009558" y="2081380"/>
            <a:ext cx="2046130" cy="116955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s-C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s-CL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s-CL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axis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='y',</a:t>
            </a:r>
          </a:p>
          <a:p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s-C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linestyle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=':',</a:t>
            </a:r>
          </a:p>
          <a:p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s-C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linewidth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=4.5)</a:t>
            </a:r>
          </a:p>
        </p:txBody>
      </p:sp>
    </p:spTree>
    <p:extLst>
      <p:ext uri="{BB962C8B-B14F-4D97-AF65-F5344CB8AC3E}">
        <p14:creationId xmlns:p14="http://schemas.microsoft.com/office/powerpoint/2010/main" val="25542019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41F0B-E063-0318-2537-937CBC34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6CEA31C3-5CC5-3A35-FF89-EC58CE5623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528"/>
            <a:ext cx="9141285" cy="5141972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B901473F-9CF9-80D1-4E28-926C7C55D7B0}"/>
              </a:ext>
            </a:extLst>
          </p:cNvPr>
          <p:cNvSpPr txBox="1"/>
          <p:nvPr/>
        </p:nvSpPr>
        <p:spPr>
          <a:xfrm>
            <a:off x="3247660" y="3205238"/>
            <a:ext cx="4241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dirty="0">
                <a:solidFill>
                  <a:srgbClr val="012E46">
                    <a:alpha val="70035"/>
                  </a:srgbClr>
                </a:solidFill>
                <a:latin typeface="SWISS 721 CONDENSED BT" panose="020B0506020202030204" pitchFamily="34" charset="0"/>
              </a:rPr>
              <a:t>Módulo 01: Gráficos matemáticos - Ejercicio 01</a:t>
            </a:r>
          </a:p>
        </p:txBody>
      </p:sp>
    </p:spTree>
    <p:extLst>
      <p:ext uri="{BB962C8B-B14F-4D97-AF65-F5344CB8AC3E}">
        <p14:creationId xmlns:p14="http://schemas.microsoft.com/office/powerpoint/2010/main" val="29804503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92D21-735D-C77E-1A0A-867B40197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E8D4FF26-2AC1-60C4-E712-82EDCAB8B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8E2F82F0-412C-D301-08FD-58AF3B12CAEF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28" name="CuadroTexto 3">
            <a:extLst>
              <a:ext uri="{FF2B5EF4-FFF2-40B4-BE49-F238E27FC236}">
                <a16:creationId xmlns:a16="http://schemas.microsoft.com/office/drawing/2014/main" id="{4DB6BD72-AEC5-F669-FDC3-9703825D96F0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Ejercicio 01</a:t>
            </a:r>
            <a:endParaRPr lang="es-CL" sz="2000" dirty="0"/>
          </a:p>
        </p:txBody>
      </p:sp>
      <p:sp>
        <p:nvSpPr>
          <p:cNvPr id="5" name="CuadroTexto 2">
            <a:extLst>
              <a:ext uri="{FF2B5EF4-FFF2-40B4-BE49-F238E27FC236}">
                <a16:creationId xmlns:a16="http://schemas.microsoft.com/office/drawing/2014/main" id="{A10360C6-E6F0-705B-8C2D-1D075BE02DEB}"/>
              </a:ext>
            </a:extLst>
          </p:cNvPr>
          <p:cNvSpPr txBox="1"/>
          <p:nvPr/>
        </p:nvSpPr>
        <p:spPr>
          <a:xfrm>
            <a:off x="461033" y="1271422"/>
            <a:ext cx="8142378" cy="36057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n-US" dirty="0"/>
              <a:t>Una </a:t>
            </a:r>
            <a:r>
              <a:rPr lang="en-US" dirty="0" err="1"/>
              <a:t>empresa</a:t>
            </a:r>
            <a:r>
              <a:rPr lang="en-US" dirty="0"/>
              <a:t> de </a:t>
            </a:r>
            <a:r>
              <a:rPr lang="en-US" dirty="0" err="1"/>
              <a:t>monitoreo</a:t>
            </a:r>
            <a:r>
              <a:rPr lang="en-US" dirty="0"/>
              <a:t> </a:t>
            </a:r>
            <a:r>
              <a:rPr lang="en-US" dirty="0" err="1"/>
              <a:t>ambiental</a:t>
            </a:r>
            <a:r>
              <a:rPr lang="en-US" dirty="0"/>
              <a:t> </a:t>
            </a:r>
            <a:r>
              <a:rPr lang="en-US" dirty="0" err="1"/>
              <a:t>quiere</a:t>
            </a:r>
            <a:r>
              <a:rPr lang="en-US" dirty="0"/>
              <a:t> </a:t>
            </a:r>
            <a:r>
              <a:rPr lang="en-US" dirty="0" err="1"/>
              <a:t>proyectar</a:t>
            </a:r>
            <a:r>
              <a:rPr lang="en-US" dirty="0"/>
              <a:t> las </a:t>
            </a:r>
            <a:r>
              <a:rPr lang="en-US" dirty="0" err="1"/>
              <a:t>temperaturas</a:t>
            </a:r>
            <a:r>
              <a:rPr lang="en-US" dirty="0"/>
              <a:t> </a:t>
            </a:r>
            <a:r>
              <a:rPr lang="en-US" dirty="0" err="1"/>
              <a:t>diarias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/>
              <a:t>ciudad que </a:t>
            </a:r>
            <a:r>
              <a:rPr lang="en-US" dirty="0" err="1"/>
              <a:t>deberían</a:t>
            </a:r>
            <a:r>
              <a:rPr lang="en-US" dirty="0"/>
              <a:t> </a:t>
            </a:r>
            <a:r>
              <a:rPr lang="en-US" dirty="0" err="1"/>
              <a:t>ocurrir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mes</a:t>
            </a:r>
            <a:r>
              <a:rPr lang="en-US" dirty="0"/>
              <a:t> de </a:t>
            </a:r>
            <a:r>
              <a:rPr lang="en-US" dirty="0" err="1"/>
              <a:t>diciembre</a:t>
            </a:r>
            <a:r>
              <a:rPr lang="en-US" dirty="0"/>
              <a:t> de 2024. Para </a:t>
            </a:r>
            <a:r>
              <a:rPr lang="en-US" dirty="0" err="1"/>
              <a:t>ello</a:t>
            </a:r>
            <a:r>
              <a:rPr lang="en-US" dirty="0"/>
              <a:t>, se </a:t>
            </a:r>
            <a:r>
              <a:rPr lang="en-US" dirty="0" err="1"/>
              <a:t>requiere</a:t>
            </a:r>
            <a:r>
              <a:rPr lang="en-US" dirty="0"/>
              <a:t> </a:t>
            </a:r>
            <a:r>
              <a:rPr lang="en-US" dirty="0" err="1"/>
              <a:t>generar</a:t>
            </a:r>
            <a:r>
              <a:rPr lang="en-US" dirty="0"/>
              <a:t> y </a:t>
            </a:r>
            <a:r>
              <a:rPr lang="en-US" dirty="0" err="1"/>
              <a:t>graficar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serie</a:t>
            </a:r>
            <a:r>
              <a:rPr lang="en-US" dirty="0"/>
              <a:t> de </a:t>
            </a:r>
            <a:r>
              <a:rPr lang="en-US" dirty="0" err="1"/>
              <a:t>temperaturas</a:t>
            </a:r>
            <a:r>
              <a:rPr lang="en-US" dirty="0"/>
              <a:t> </a:t>
            </a:r>
            <a:r>
              <a:rPr lang="en-US" dirty="0" err="1"/>
              <a:t>simuladas</a:t>
            </a:r>
            <a:r>
              <a:rPr lang="en-US" dirty="0"/>
              <a:t> para 31 días. Para </a:t>
            </a:r>
            <a:r>
              <a:rPr lang="en-US" dirty="0" err="1"/>
              <a:t>ello</a:t>
            </a:r>
            <a:r>
              <a:rPr lang="en-US" dirty="0"/>
              <a:t>, se </a:t>
            </a:r>
            <a:r>
              <a:rPr lang="en-US" dirty="0" err="1"/>
              <a:t>pide</a:t>
            </a:r>
            <a:r>
              <a:rPr lang="en-US" dirty="0"/>
              <a:t> que </a:t>
            </a:r>
            <a:r>
              <a:rPr lang="en-US" dirty="0" err="1"/>
              <a:t>escriba</a:t>
            </a:r>
            <a:r>
              <a:rPr lang="en-US" dirty="0"/>
              <a:t> un </a:t>
            </a:r>
            <a:r>
              <a:rPr lang="en-US" dirty="0" err="1"/>
              <a:t>programa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Python que </a:t>
            </a:r>
            <a:r>
              <a:rPr lang="en-US" dirty="0" err="1"/>
              <a:t>realice</a:t>
            </a:r>
            <a:r>
              <a:rPr lang="en-US" dirty="0"/>
              <a:t> las </a:t>
            </a:r>
            <a:r>
              <a:rPr lang="en-US" dirty="0" err="1"/>
              <a:t>siguientes</a:t>
            </a:r>
            <a:r>
              <a:rPr lang="en-US" dirty="0"/>
              <a:t> </a:t>
            </a:r>
            <a:r>
              <a:rPr lang="en-US" dirty="0" err="1"/>
              <a:t>tareas</a:t>
            </a:r>
            <a:r>
              <a:rPr lang="en-US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Generar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lista</a:t>
            </a:r>
            <a:r>
              <a:rPr lang="en-US" dirty="0"/>
              <a:t> de 31 </a:t>
            </a:r>
            <a:r>
              <a:rPr lang="en-US" dirty="0" err="1"/>
              <a:t>valores</a:t>
            </a:r>
            <a:r>
              <a:rPr lang="en-US" dirty="0"/>
              <a:t> de </a:t>
            </a:r>
            <a:r>
              <a:rPr lang="en-US" dirty="0" err="1"/>
              <a:t>temperatura</a:t>
            </a:r>
            <a:r>
              <a:rPr lang="en-US" dirty="0"/>
              <a:t> </a:t>
            </a:r>
            <a:r>
              <a:rPr lang="en-US" dirty="0" err="1"/>
              <a:t>aleatorios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grados</a:t>
            </a:r>
            <a:r>
              <a:rPr lang="en-US" dirty="0"/>
              <a:t> Celsius, con </a:t>
            </a:r>
            <a:r>
              <a:rPr lang="en-US" dirty="0" err="1"/>
              <a:t>valores</a:t>
            </a:r>
            <a:r>
              <a:rPr lang="en-US" dirty="0"/>
              <a:t> entre 23 y 37 </a:t>
            </a:r>
            <a:r>
              <a:rPr lang="en-US" dirty="0" err="1"/>
              <a:t>grados</a:t>
            </a:r>
            <a:r>
              <a:rPr lang="en-US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Crea un </a:t>
            </a:r>
            <a:r>
              <a:rPr lang="en-US" dirty="0" err="1"/>
              <a:t>gráfico</a:t>
            </a:r>
            <a:r>
              <a:rPr lang="en-US" dirty="0"/>
              <a:t> de </a:t>
            </a:r>
            <a:r>
              <a:rPr lang="en-US" dirty="0" err="1"/>
              <a:t>línea</a:t>
            </a:r>
            <a:r>
              <a:rPr lang="en-US" dirty="0"/>
              <a:t> </a:t>
            </a:r>
            <a:r>
              <a:rPr lang="en-US" dirty="0" err="1"/>
              <a:t>usando</a:t>
            </a:r>
            <a:r>
              <a:rPr lang="en-US" dirty="0"/>
              <a:t> matplotlib para </a:t>
            </a:r>
            <a:r>
              <a:rPr lang="en-US" dirty="0" err="1"/>
              <a:t>mostrar</a:t>
            </a:r>
            <a:r>
              <a:rPr lang="en-US" dirty="0"/>
              <a:t> la </a:t>
            </a:r>
            <a:r>
              <a:rPr lang="en-US" dirty="0" err="1"/>
              <a:t>variación</a:t>
            </a:r>
            <a:r>
              <a:rPr lang="en-US" dirty="0"/>
              <a:t> de </a:t>
            </a:r>
            <a:r>
              <a:rPr lang="en-US" dirty="0" err="1"/>
              <a:t>temperatura</a:t>
            </a:r>
            <a:r>
              <a:rPr lang="en-US" dirty="0"/>
              <a:t> a lo largo del </a:t>
            </a:r>
            <a:r>
              <a:rPr lang="en-US" dirty="0" err="1"/>
              <a:t>mes</a:t>
            </a:r>
            <a:r>
              <a:rPr lang="en-US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Configura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gráfico</a:t>
            </a:r>
            <a:r>
              <a:rPr lang="en-US" dirty="0"/>
              <a:t> con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siguientes</a:t>
            </a:r>
            <a:r>
              <a:rPr lang="en-US" dirty="0"/>
              <a:t> </a:t>
            </a:r>
            <a:r>
              <a:rPr lang="en-US" dirty="0" err="1"/>
              <a:t>elementos</a:t>
            </a:r>
            <a:r>
              <a:rPr lang="en-US" dirty="0"/>
              <a:t>: </a:t>
            </a:r>
            <a:r>
              <a:rPr lang="en-US" dirty="0" err="1"/>
              <a:t>título</a:t>
            </a:r>
            <a:r>
              <a:rPr lang="en-US" dirty="0"/>
              <a:t>, </a:t>
            </a:r>
            <a:r>
              <a:rPr lang="en-US" dirty="0" err="1"/>
              <a:t>etiquetas</a:t>
            </a:r>
            <a:r>
              <a:rPr lang="en-US" dirty="0"/>
              <a:t> para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ejes</a:t>
            </a:r>
            <a:r>
              <a:rPr lang="en-US" dirty="0"/>
              <a:t>, </a:t>
            </a:r>
            <a:r>
              <a:rPr lang="en-US" dirty="0" err="1"/>
              <a:t>personalizar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color y </a:t>
            </a:r>
            <a:r>
              <a:rPr lang="en-US" dirty="0" err="1"/>
              <a:t>estilo</a:t>
            </a:r>
            <a:r>
              <a:rPr lang="en-US" dirty="0"/>
              <a:t> de la </a:t>
            </a:r>
            <a:r>
              <a:rPr lang="en-US" dirty="0" err="1"/>
              <a:t>línea</a:t>
            </a:r>
            <a:r>
              <a:rPr lang="en-US" dirty="0"/>
              <a:t>. </a:t>
            </a:r>
            <a:r>
              <a:rPr lang="en-US" dirty="0" err="1"/>
              <a:t>Finalmente</a:t>
            </a:r>
            <a:r>
              <a:rPr lang="en-US" dirty="0"/>
              <a:t>,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gráfico</a:t>
            </a:r>
            <a:r>
              <a:rPr lang="en-US" dirty="0"/>
              <a:t> </a:t>
            </a:r>
            <a:r>
              <a:rPr lang="en-US" dirty="0" err="1"/>
              <a:t>debe</a:t>
            </a:r>
            <a:r>
              <a:rPr lang="en-US" dirty="0"/>
              <a:t> </a:t>
            </a:r>
            <a:r>
              <a:rPr lang="en-US" dirty="0" err="1"/>
              <a:t>incluir</a:t>
            </a:r>
            <a:r>
              <a:rPr lang="en-US" dirty="0"/>
              <a:t> la </a:t>
            </a:r>
            <a:r>
              <a:rPr lang="en-US" dirty="0" err="1"/>
              <a:t>cuadrícula</a:t>
            </a:r>
            <a:r>
              <a:rPr lang="en-US" dirty="0"/>
              <a:t> para </a:t>
            </a:r>
            <a:r>
              <a:rPr lang="en-US" dirty="0" err="1"/>
              <a:t>facilitar</a:t>
            </a:r>
            <a:r>
              <a:rPr lang="en-US" dirty="0"/>
              <a:t> la </a:t>
            </a:r>
            <a:r>
              <a:rPr lang="en-US" dirty="0" err="1"/>
              <a:t>visualización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738945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1758C-2C84-693E-EED5-F78D3AC80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1269436D-43DB-4DAE-FB80-53FB45C539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E9E8857D-13C2-53A1-5A13-97008627D519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28" name="CuadroTexto 3">
            <a:extLst>
              <a:ext uri="{FF2B5EF4-FFF2-40B4-BE49-F238E27FC236}">
                <a16:creationId xmlns:a16="http://schemas.microsoft.com/office/drawing/2014/main" id="{ED21ED07-9365-22D7-B22F-B0BEC1144DAF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Ejercicio 01 – Solución</a:t>
            </a:r>
            <a:endParaRPr lang="es-CL" sz="2000" dirty="0"/>
          </a:p>
        </p:txBody>
      </p:sp>
      <p:sp>
        <p:nvSpPr>
          <p:cNvPr id="4" name="CuadroTexto 2">
            <a:extLst>
              <a:ext uri="{FF2B5EF4-FFF2-40B4-BE49-F238E27FC236}">
                <a16:creationId xmlns:a16="http://schemas.microsoft.com/office/drawing/2014/main" id="{6097891A-8C4F-5DFC-34C1-06EFEA3D23D7}"/>
              </a:ext>
            </a:extLst>
          </p:cNvPr>
          <p:cNvSpPr txBox="1"/>
          <p:nvPr/>
        </p:nvSpPr>
        <p:spPr>
          <a:xfrm>
            <a:off x="461033" y="1148329"/>
            <a:ext cx="5184393" cy="36202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random 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matplotlib.pyplot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Generar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datos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aleatorios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temperaturas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[]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dias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[]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range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(1,32):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temperaturas.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append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random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(23, 37))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dias.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append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7116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B1F74-B2CC-6312-F821-06E218476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6DF53637-B8B7-0494-D095-33E902E6C7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A20F0CC8-F1B4-910E-6A0A-B41DA77B2C28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28" name="CuadroTexto 3">
            <a:extLst>
              <a:ext uri="{FF2B5EF4-FFF2-40B4-BE49-F238E27FC236}">
                <a16:creationId xmlns:a16="http://schemas.microsoft.com/office/drawing/2014/main" id="{05F22AEC-2105-E67E-3C19-DB1FD25C79AA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Ejercicio 01 – Solución</a:t>
            </a:r>
            <a:endParaRPr lang="es-CL" sz="2000" dirty="0"/>
          </a:p>
        </p:txBody>
      </p:sp>
      <p:sp>
        <p:nvSpPr>
          <p:cNvPr id="4" name="CuadroTexto 2">
            <a:extLst>
              <a:ext uri="{FF2B5EF4-FFF2-40B4-BE49-F238E27FC236}">
                <a16:creationId xmlns:a16="http://schemas.microsoft.com/office/drawing/2014/main" id="{F925A0A6-6BFD-3098-192F-3E668D987F06}"/>
              </a:ext>
            </a:extLst>
          </p:cNvPr>
          <p:cNvSpPr txBox="1"/>
          <p:nvPr/>
        </p:nvSpPr>
        <p:spPr>
          <a:xfrm>
            <a:off x="461033" y="1148329"/>
            <a:ext cx="7871934" cy="39433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Crear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gráfico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dias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temperaturas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linestyle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='-',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marker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='o',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='blue') 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title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Temperaturas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Simuladas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para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Diciembre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2024") 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xlabel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("Día") 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ylabel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Temperatura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(°C)") 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Configurar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eje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X para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mostrar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todos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números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del 1 al 31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xticks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dias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Mostrar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gráfico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show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3556952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A68B3-7230-CB38-E245-F6E7DC32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9BCB58C1-1953-F556-057C-BEB7F2A9BC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C45482E7-0F34-AF51-9B51-4FA63F2E4B1C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28" name="CuadroTexto 3">
            <a:extLst>
              <a:ext uri="{FF2B5EF4-FFF2-40B4-BE49-F238E27FC236}">
                <a16:creationId xmlns:a16="http://schemas.microsoft.com/office/drawing/2014/main" id="{906EB929-30A7-ACA9-8325-05A4AD9443D1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Ejercicio 01 – Solución</a:t>
            </a:r>
            <a:endParaRPr lang="es-CL" sz="2000" dirty="0"/>
          </a:p>
        </p:txBody>
      </p:sp>
      <p:sp>
        <p:nvSpPr>
          <p:cNvPr id="2" name="CuadroTexto 2">
            <a:extLst>
              <a:ext uri="{FF2B5EF4-FFF2-40B4-BE49-F238E27FC236}">
                <a16:creationId xmlns:a16="http://schemas.microsoft.com/office/drawing/2014/main" id="{AFE3E84C-B7D5-BC47-A465-0E7641725347}"/>
              </a:ext>
            </a:extLst>
          </p:cNvPr>
          <p:cNvSpPr txBox="1"/>
          <p:nvPr/>
        </p:nvSpPr>
        <p:spPr>
          <a:xfrm>
            <a:off x="461034" y="1148329"/>
            <a:ext cx="4786828" cy="39549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 random 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matplotlib.pyplot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endParaRPr lang="en-US" sz="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Generar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datos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aleatorios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temperaturas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[]</a:t>
            </a:r>
          </a:p>
          <a:p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dias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[]</a:t>
            </a:r>
          </a:p>
          <a:p>
            <a:endParaRPr lang="en-US" sz="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dia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range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(1,32):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temperaturas.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append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random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randint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(23, 37))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dias.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append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dia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endParaRPr lang="en-US" sz="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# Crear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gráfico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dias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temperaturas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linestyle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='-', 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marker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='o', 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='blue') </a:t>
            </a:r>
          </a:p>
          <a:p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title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Temperaturas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Simuladas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para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Diciembre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2024") </a:t>
            </a:r>
          </a:p>
          <a:p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xlabel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("Día") </a:t>
            </a:r>
          </a:p>
          <a:p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ylabel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Temperatura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(°C)") </a:t>
            </a:r>
          </a:p>
          <a:p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Configurar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eje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X para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mostrar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todos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números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del 1 al 31</a:t>
            </a:r>
          </a:p>
          <a:p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xticks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dias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Mostrar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gráfico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show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pic>
        <p:nvPicPr>
          <p:cNvPr id="6" name="Picture 5" descr="A graph with blue lines and numbers&#10;&#10;Description automatically generated">
            <a:extLst>
              <a:ext uri="{FF2B5EF4-FFF2-40B4-BE49-F238E27FC236}">
                <a16:creationId xmlns:a16="http://schemas.microsoft.com/office/drawing/2014/main" id="{7A067B52-6036-D09D-DB75-3162A1241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223" y="0"/>
            <a:ext cx="5481777" cy="3061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9410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C9972-1C43-A011-2564-CFD7E5CBF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BAF0885C-E79D-71EA-B238-171E158F88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4991" y="-47349"/>
            <a:ext cx="9263921" cy="5249555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7D44F45A-D7D6-D9B5-2E55-DE793DCC593E}"/>
              </a:ext>
            </a:extLst>
          </p:cNvPr>
          <p:cNvSpPr txBox="1"/>
          <p:nvPr/>
        </p:nvSpPr>
        <p:spPr>
          <a:xfrm>
            <a:off x="3266449" y="3205238"/>
            <a:ext cx="4241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dirty="0">
                <a:solidFill>
                  <a:schemeClr val="bg1">
                    <a:alpha val="70035"/>
                  </a:schemeClr>
                </a:solidFill>
                <a:latin typeface="SWISS 721 CONDENSED BT" panose="020B0506020202030204" pitchFamily="34" charset="0"/>
              </a:rPr>
              <a:t>Visualización de datos</a:t>
            </a:r>
          </a:p>
        </p:txBody>
      </p:sp>
    </p:spTree>
    <p:extLst>
      <p:ext uri="{BB962C8B-B14F-4D97-AF65-F5344CB8AC3E}">
        <p14:creationId xmlns:p14="http://schemas.microsoft.com/office/powerpoint/2010/main" val="7552760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 12">
      <a:dk1>
        <a:srgbClr val="002060"/>
      </a:dk1>
      <a:lt1>
        <a:sysClr val="window" lastClr="FFFFFF"/>
      </a:lt1>
      <a:dk2>
        <a:srgbClr val="233F70"/>
      </a:dk2>
      <a:lt2>
        <a:srgbClr val="E7E6E6"/>
      </a:lt2>
      <a:accent1>
        <a:srgbClr val="8EAADB"/>
      </a:accent1>
      <a:accent2>
        <a:srgbClr val="ED7D31"/>
      </a:accent2>
      <a:accent3>
        <a:srgbClr val="A5A5A5"/>
      </a:accent3>
      <a:accent4>
        <a:srgbClr val="4B1E7D"/>
      </a:accent4>
      <a:accent5>
        <a:srgbClr val="5B9BD5"/>
      </a:accent5>
      <a:accent6>
        <a:srgbClr val="70AD47"/>
      </a:accent6>
      <a:hlink>
        <a:srgbClr val="7093D2"/>
      </a:hlink>
      <a:folHlink>
        <a:srgbClr val="757070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319FEBDE55BBC4C9423A487D4FB469E" ma:contentTypeVersion="14" ma:contentTypeDescription="Crear nuevo documento." ma:contentTypeScope="" ma:versionID="6e20bc3b459ff0cd322c92a7397b2624">
  <xsd:schema xmlns:xsd="http://www.w3.org/2001/XMLSchema" xmlns:xs="http://www.w3.org/2001/XMLSchema" xmlns:p="http://schemas.microsoft.com/office/2006/metadata/properties" xmlns:ns2="58e3b983-b9c9-4a9a-8434-0fe099e73c0e" xmlns:ns3="39f852db-6116-43f0-a01a-f747f551a9b7" targetNamespace="http://schemas.microsoft.com/office/2006/metadata/properties" ma:root="true" ma:fieldsID="d782a4296dd0c5e1e37edb3cb453af0e" ns2:_="" ns3:_="">
    <xsd:import namespace="58e3b983-b9c9-4a9a-8434-0fe099e73c0e"/>
    <xsd:import namespace="39f852db-6116-43f0-a01a-f747f551a9b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e3b983-b9c9-4a9a-8434-0fe099e73c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705287f6-a0ce-4ec6-a30b-593201b7cd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f852db-6116-43f0-a01a-f747f551a9b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70869caf-8c76-40f7-8ad7-64eead9b68ad}" ma:internalName="TaxCatchAll" ma:showField="CatchAllData" ma:web="39f852db-6116-43f0-a01a-f747f551a9b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9f852db-6116-43f0-a01a-f747f551a9b7" xsi:nil="true"/>
    <lcf76f155ced4ddcb4097134ff3c332f xmlns="58e3b983-b9c9-4a9a-8434-0fe099e73c0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7EAC05D-539B-49D6-A976-B2E885212C7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4F54C0-274B-4BA8-8CED-CC105680EB86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8e3b983-b9c9-4a9a-8434-0fe099e73c0e"/>
    <ds:schemaRef ds:uri="39f852db-6116-43f0-a01a-f747f551a9b7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507E65D-B7E7-4384-A3FB-C858AB328B01}">
  <ds:schemaRefs>
    <ds:schemaRef ds:uri="http://schemas.microsoft.com/office/2006/metadata/properties"/>
    <ds:schemaRef ds:uri="http://www.w3.org/2000/xmlns/"/>
    <ds:schemaRef ds:uri="39f852db-6116-43f0-a01a-f747f551a9b7"/>
    <ds:schemaRef ds:uri="http://www.w3.org/2001/XMLSchema-instance"/>
    <ds:schemaRef ds:uri="58e3b983-b9c9-4a9a-8434-0fe099e73c0e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{9DE77B2E-F1C7-7F4C-8A13-4B231F3723D3}tf16401378</Template>
  <TotalTime>2298</TotalTime>
  <Words>1574</Words>
  <Application>Microsoft Macintosh PowerPoint</Application>
  <PresentationFormat>On-screen Show (16:9)</PresentationFormat>
  <Paragraphs>302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</vt:lpstr>
      <vt:lpstr>Calibri</vt:lpstr>
      <vt:lpstr>Calibri Light</vt:lpstr>
      <vt:lpstr>Courier New</vt:lpstr>
      <vt:lpstr>Helvetica Neue</vt:lpstr>
      <vt:lpstr>Product Sans</vt:lpstr>
      <vt:lpstr>SWISS 721 CONDENSED BT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</dc:title>
  <dc:creator>Usuario</dc:creator>
  <cp:lastModifiedBy>Rodrigo Olivares</cp:lastModifiedBy>
  <cp:revision>115</cp:revision>
  <dcterms:created xsi:type="dcterms:W3CDTF">2022-04-13T14:03:33Z</dcterms:created>
  <dcterms:modified xsi:type="dcterms:W3CDTF">2024-11-11T19:56:11Z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0x0101006319FEBDE55BBC4C9423A487D4FB469E</vt:lpwstr>
  </property>
</Properties>
</file>