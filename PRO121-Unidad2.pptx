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2"/>
  </p:notesMasterIdLst>
  <p:sldIdLst>
    <p:sldId id="265" r:id="rId5"/>
    <p:sldId id="266" r:id="rId6"/>
    <p:sldId id="271" r:id="rId7"/>
    <p:sldId id="273" r:id="rId8"/>
    <p:sldId id="311" r:id="rId9"/>
    <p:sldId id="314" r:id="rId10"/>
    <p:sldId id="315" r:id="rId11"/>
    <p:sldId id="317" r:id="rId12"/>
    <p:sldId id="318" r:id="rId13"/>
    <p:sldId id="325" r:id="rId14"/>
    <p:sldId id="319" r:id="rId15"/>
    <p:sldId id="320" r:id="rId16"/>
    <p:sldId id="324" r:id="rId17"/>
    <p:sldId id="321" r:id="rId18"/>
    <p:sldId id="326" r:id="rId19"/>
    <p:sldId id="328" r:id="rId20"/>
    <p:sldId id="329" r:id="rId21"/>
    <p:sldId id="327" r:id="rId22"/>
    <p:sldId id="330" r:id="rId23"/>
    <p:sldId id="331" r:id="rId24"/>
    <p:sldId id="332" r:id="rId25"/>
    <p:sldId id="333" r:id="rId26"/>
    <p:sldId id="335" r:id="rId27"/>
    <p:sldId id="336" r:id="rId28"/>
    <p:sldId id="316" r:id="rId29"/>
    <p:sldId id="338" r:id="rId30"/>
    <p:sldId id="339" r:id="rId31"/>
    <p:sldId id="340" r:id="rId32"/>
    <p:sldId id="341" r:id="rId33"/>
    <p:sldId id="342" r:id="rId34"/>
    <p:sldId id="343" r:id="rId35"/>
    <p:sldId id="345" r:id="rId36"/>
    <p:sldId id="346" r:id="rId37"/>
    <p:sldId id="347" r:id="rId38"/>
    <p:sldId id="322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356" r:id="rId48"/>
    <p:sldId id="357" r:id="rId49"/>
    <p:sldId id="358" r:id="rId50"/>
    <p:sldId id="323" r:id="rId5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E46"/>
    <a:srgbClr val="00272F"/>
    <a:srgbClr val="929292"/>
    <a:srgbClr val="12707F"/>
    <a:srgbClr val="020288"/>
    <a:srgbClr val="00C1E6"/>
    <a:srgbClr val="7C1F41"/>
    <a:srgbClr val="008BE0"/>
    <a:srgbClr val="F3F3F3"/>
    <a:srgbClr val="1E3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 autoAdjust="0"/>
    <p:restoredTop sz="94660"/>
  </p:normalViewPr>
  <p:slideViewPr>
    <p:cSldViewPr snapToGrid="0">
      <p:cViewPr varScale="1">
        <p:scale>
          <a:sx n="246" d="100"/>
          <a:sy n="246" d="100"/>
        </p:scale>
        <p:origin x="1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3C1A0-04C4-440C-BEFE-07A149FF1468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91657-8EC8-443E-BD4D-DECB8E2BAD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5489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937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494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654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169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6249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551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440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734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35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561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315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24799-18C8-4AD2-B665-5924014CD327}" type="datetimeFigureOut">
              <a:rPr lang="es-CL" smtClean="0"/>
              <a:t>03-10-24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19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F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6F051D-B807-4B11-92AA-B3AD05548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" y="761"/>
            <a:ext cx="9141287" cy="51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43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83E587A-2136-DAFC-A5C8-BF2B6D52E5AC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Estructuras</a:t>
            </a:r>
          </a:p>
        </p:txBody>
      </p:sp>
    </p:spTree>
    <p:extLst>
      <p:ext uri="{BB962C8B-B14F-4D97-AF65-F5344CB8AC3E}">
        <p14:creationId xmlns:p14="http://schemas.microsoft.com/office/powerpoint/2010/main" val="3989501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B44EB2-7E04-8FA6-AAEA-9A4342877FB5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Previamente...</a:t>
            </a:r>
          </a:p>
        </p:txBody>
      </p:sp>
    </p:spTree>
    <p:extLst>
      <p:ext uri="{BB962C8B-B14F-4D97-AF65-F5344CB8AC3E}">
        <p14:creationId xmlns:p14="http://schemas.microsoft.com/office/powerpoint/2010/main" val="3784209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0713582C-534E-D44B-DE88-56DB92F3771F}"/>
              </a:ext>
            </a:extLst>
          </p:cNvPr>
          <p:cNvSpPr txBox="1"/>
          <p:nvPr/>
        </p:nvSpPr>
        <p:spPr>
          <a:xfrm>
            <a:off x="461033" y="748219"/>
            <a:ext cx="2344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Tipos de datos</a:t>
            </a:r>
            <a:endParaRPr lang="es-CL" sz="2000" dirty="0"/>
          </a:p>
        </p:txBody>
      </p:sp>
      <p:sp>
        <p:nvSpPr>
          <p:cNvPr id="29" name="CuadroTexto 4">
            <a:extLst>
              <a:ext uri="{FF2B5EF4-FFF2-40B4-BE49-F238E27FC236}">
                <a16:creationId xmlns:a16="http://schemas.microsoft.com/office/drawing/2014/main" id="{6D1F360D-8C30-A2E8-0DBE-8776BF9703FE}"/>
              </a:ext>
            </a:extLst>
          </p:cNvPr>
          <p:cNvSpPr txBox="1"/>
          <p:nvPr/>
        </p:nvSpPr>
        <p:spPr>
          <a:xfrm>
            <a:off x="461033" y="1801759"/>
            <a:ext cx="3294334" cy="13781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>
              <a:lnSpc>
                <a:spcPts val="2100"/>
              </a:lnSpc>
            </a:pPr>
            <a:r>
              <a:rPr lang="es-CL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Booleano : </a:t>
            </a:r>
            <a:r>
              <a:rPr lang="es-CL" sz="1400" b="1" dirty="0" err="1">
                <a:solidFill>
                  <a:schemeClr val="dk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bool</a:t>
            </a:r>
            <a:endParaRPr lang="es-CL" sz="1400" b="1" dirty="0">
              <a:solidFill>
                <a:schemeClr val="dk1"/>
              </a:solidFill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pPr>
              <a:lnSpc>
                <a:spcPts val="2100"/>
              </a:lnSpc>
            </a:pPr>
            <a:r>
              <a:rPr lang="es-CL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Entero: </a:t>
            </a:r>
            <a:r>
              <a:rPr lang="es-CL" sz="1400" b="1" dirty="0" err="1">
                <a:solidFill>
                  <a:schemeClr val="dk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int</a:t>
            </a:r>
            <a:endParaRPr lang="es-CL" sz="1400" b="1" dirty="0">
              <a:solidFill>
                <a:schemeClr val="dk1"/>
              </a:solidFill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pPr>
              <a:lnSpc>
                <a:spcPts val="2100"/>
              </a:lnSpc>
            </a:pPr>
            <a:r>
              <a:rPr lang="es-CL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Flotante (real):</a:t>
            </a:r>
            <a:r>
              <a:rPr lang="es-CL" sz="1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s-CL" sz="1400" b="1" dirty="0" err="1">
                <a:solidFill>
                  <a:schemeClr val="dk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float</a:t>
            </a:r>
            <a:endParaRPr lang="es-CL" sz="1400" b="1" dirty="0">
              <a:solidFill>
                <a:schemeClr val="dk1"/>
              </a:solidFill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pPr>
              <a:lnSpc>
                <a:spcPts val="2100"/>
              </a:lnSpc>
            </a:pPr>
            <a:r>
              <a:rPr lang="es-CL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Cadena de caracteres: </a:t>
            </a:r>
            <a:r>
              <a:rPr lang="es-CL" sz="1400" b="1" dirty="0" err="1">
                <a:solidFill>
                  <a:schemeClr val="dk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String</a:t>
            </a:r>
            <a:endParaRPr lang="es-CL" sz="1400" b="1" dirty="0">
              <a:solidFill>
                <a:schemeClr val="dk1"/>
              </a:solidFill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  <a:p>
            <a:pPr>
              <a:lnSpc>
                <a:spcPts val="2100"/>
              </a:lnSpc>
            </a:pPr>
            <a:r>
              <a:rPr lang="es-CL" sz="1400" dirty="0">
                <a:solidFill>
                  <a:schemeClr val="dk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Ausencia de tipo: </a:t>
            </a:r>
            <a:r>
              <a:rPr lang="es-CL" sz="1400" b="1" dirty="0" err="1">
                <a:solidFill>
                  <a:schemeClr val="dk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  <a:sym typeface="Helvetica Neue"/>
              </a:rPr>
              <a:t>None</a:t>
            </a:r>
            <a:endParaRPr lang="es-ES" sz="1400" b="1" dirty="0">
              <a:solidFill>
                <a:schemeClr val="dk1"/>
              </a:solidFill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30" name="CuadroTexto 4">
            <a:extLst>
              <a:ext uri="{FF2B5EF4-FFF2-40B4-BE49-F238E27FC236}">
                <a16:creationId xmlns:a16="http://schemas.microsoft.com/office/drawing/2014/main" id="{DD628008-A5E8-BFEB-C838-2A0C7A68E66D}"/>
              </a:ext>
            </a:extLst>
          </p:cNvPr>
          <p:cNvSpPr txBox="1"/>
          <p:nvPr/>
        </p:nvSpPr>
        <p:spPr>
          <a:xfrm>
            <a:off x="1415900" y="1509371"/>
            <a:ext cx="2340735" cy="2923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r>
              <a:rPr lang="es-CL" sz="1600" dirty="0">
                <a:latin typeface="Calibri" panose="020F0502020204030204" pitchFamily="34" charset="0"/>
                <a:cs typeface="Calibri" panose="020F0502020204030204" pitchFamily="34" charset="0"/>
              </a:rPr>
              <a:t>Tipos de datos </a:t>
            </a:r>
            <a:r>
              <a:rPr lang="es-CL" sz="1600" i="1" dirty="0">
                <a:latin typeface="Calibri" panose="020F0502020204030204" pitchFamily="34" charset="0"/>
                <a:cs typeface="Calibri" panose="020F0502020204030204" pitchFamily="34" charset="0"/>
              </a:rPr>
              <a:t>primitivos</a:t>
            </a:r>
            <a:endParaRPr lang="es-ES" sz="1600" i="1" dirty="0">
              <a:solidFill>
                <a:schemeClr val="dk1"/>
              </a:solidFill>
              <a:latin typeface="Courier New" panose="02070309020205020404" pitchFamily="49" charset="0"/>
              <a:ea typeface="Helvetica Neue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31" name="CuadroTexto 6">
            <a:extLst>
              <a:ext uri="{FF2B5EF4-FFF2-40B4-BE49-F238E27FC236}">
                <a16:creationId xmlns:a16="http://schemas.microsoft.com/office/drawing/2014/main" id="{D6FC7DBB-8FC0-A458-3EB1-569B45CCBE27}"/>
              </a:ext>
            </a:extLst>
          </p:cNvPr>
          <p:cNvSpPr txBox="1"/>
          <p:nvPr/>
        </p:nvSpPr>
        <p:spPr>
          <a:xfrm>
            <a:off x="3906821" y="1398825"/>
            <a:ext cx="4971856" cy="698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Estos tipos de datos se pueden usar en variables, constantes, funciones, etc., pero tienen una limitación: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CuadroTexto 7">
            <a:extLst>
              <a:ext uri="{FF2B5EF4-FFF2-40B4-BE49-F238E27FC236}">
                <a16:creationId xmlns:a16="http://schemas.microsoft.com/office/drawing/2014/main" id="{2469D74F-5CFB-EF19-DDDC-68504EE24393}"/>
              </a:ext>
            </a:extLst>
          </p:cNvPr>
          <p:cNvSpPr txBox="1"/>
          <p:nvPr/>
        </p:nvSpPr>
        <p:spPr>
          <a:xfrm>
            <a:off x="461033" y="3219388"/>
            <a:ext cx="8518303" cy="1020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tener más herramientas para solucionar problemas, se estudiará una nueva categoría de tipos: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tipos compuestos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Estos tipos reciben este nombre debido a que están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compuestos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otros tipos, a diferencia de los tipos primitivos. </a:t>
            </a:r>
          </a:p>
        </p:txBody>
      </p:sp>
      <p:sp>
        <p:nvSpPr>
          <p:cNvPr id="34" name="CuadroTexto 9">
            <a:extLst>
              <a:ext uri="{FF2B5EF4-FFF2-40B4-BE49-F238E27FC236}">
                <a16:creationId xmlns:a16="http://schemas.microsoft.com/office/drawing/2014/main" id="{5170BF03-45B1-4DFF-359F-62181BD9B8A4}"/>
              </a:ext>
            </a:extLst>
          </p:cNvPr>
          <p:cNvSpPr txBox="1"/>
          <p:nvPr/>
        </p:nvSpPr>
        <p:spPr>
          <a:xfrm>
            <a:off x="4797771" y="2571109"/>
            <a:ext cx="3189955" cy="37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 pueden combinar entre sí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0878E352-BBE2-8013-6E7A-5471B7C68E42}"/>
              </a:ext>
            </a:extLst>
          </p:cNvPr>
          <p:cNvSpPr/>
          <p:nvPr/>
        </p:nvSpPr>
        <p:spPr>
          <a:xfrm>
            <a:off x="6269103" y="2228000"/>
            <a:ext cx="247290" cy="343109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1552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83E587A-2136-DAFC-A5C8-BF2B6D52E5AC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Módulo 01: Sets</a:t>
            </a:r>
          </a:p>
        </p:txBody>
      </p:sp>
    </p:spTree>
    <p:extLst>
      <p:ext uri="{BB962C8B-B14F-4D97-AF65-F5344CB8AC3E}">
        <p14:creationId xmlns:p14="http://schemas.microsoft.com/office/powerpoint/2010/main" val="370542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95CAA-3CDB-1290-71C1-0A63ABC23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695376EA-138F-5320-AEC3-F643FA1DB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0FFF2A93-2D74-A8CC-C919-A12366A5221D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944607E0-51AB-6D89-C6A6-CA36E15BECD6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Sets</a:t>
            </a:r>
            <a:endParaRPr lang="es-CL" sz="2000" dirty="0"/>
          </a:p>
        </p:txBody>
      </p:sp>
      <p:sp>
        <p:nvSpPr>
          <p:cNvPr id="2" name="CuadroTexto 2">
            <a:extLst>
              <a:ext uri="{FF2B5EF4-FFF2-40B4-BE49-F238E27FC236}">
                <a16:creationId xmlns:a16="http://schemas.microsoft.com/office/drawing/2014/main" id="{56B7B865-C87E-50DE-8AFC-3EF49F3B0CA8}"/>
              </a:ext>
            </a:extLst>
          </p:cNvPr>
          <p:cNvSpPr txBox="1"/>
          <p:nvPr/>
        </p:nvSpPr>
        <p:spPr>
          <a:xfrm>
            <a:off x="386270" y="1513889"/>
            <a:ext cx="8142377" cy="22147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180000" bIns="1800000">
            <a:spAutoFit/>
          </a:bodyPr>
          <a:lstStyle>
            <a:defPPr>
              <a:defRPr lang="en-US"/>
            </a:defPPr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Es una colección </a:t>
            </a:r>
            <a:r>
              <a:rPr lang="es-ES" sz="1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desordenada</a:t>
            </a:r>
            <a:r>
              <a:rPr lang="es-E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 de elementos </a:t>
            </a:r>
            <a:r>
              <a:rPr lang="es-ES" sz="1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únicos</a:t>
            </a:r>
            <a:r>
              <a:rPr lang="es-E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Neue"/>
              </a:rPr>
              <a:t>.</a:t>
            </a:r>
          </a:p>
        </p:txBody>
      </p:sp>
      <p:sp>
        <p:nvSpPr>
          <p:cNvPr id="4" name="CuadroTexto 2">
            <a:extLst>
              <a:ext uri="{FF2B5EF4-FFF2-40B4-BE49-F238E27FC236}">
                <a16:creationId xmlns:a16="http://schemas.microsoft.com/office/drawing/2014/main" id="{CF89EA31-16F1-47F2-5CAC-CA719B33D8C3}"/>
              </a:ext>
            </a:extLst>
          </p:cNvPr>
          <p:cNvSpPr txBox="1"/>
          <p:nvPr/>
        </p:nvSpPr>
        <p:spPr>
          <a:xfrm>
            <a:off x="386271" y="2283210"/>
            <a:ext cx="8142378" cy="1343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sets se utilizan para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almacenar múltiples elementos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sola variable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son particularmente útiles cuando se necesita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verificar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pertenencia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un elemento,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duplicados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una lista, o realizar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matemáticas de conjuntos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como la unión, intersección y diferencia.</a:t>
            </a:r>
          </a:p>
        </p:txBody>
      </p:sp>
    </p:spTree>
    <p:extLst>
      <p:ext uri="{BB962C8B-B14F-4D97-AF65-F5344CB8AC3E}">
        <p14:creationId xmlns:p14="http://schemas.microsoft.com/office/powerpoint/2010/main" val="2205180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D37B-7C49-14BE-4D6A-39BCB80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BD273682-45D3-5A33-4A93-45367589E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AF34D735-0091-AB09-9D64-8CFFAFA57CA3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54C43E86-DF72-22E4-4DCF-409FD556F531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Sets - Características</a:t>
            </a:r>
            <a:endParaRPr lang="es-CL" sz="2000" dirty="0"/>
          </a:p>
        </p:txBody>
      </p:sp>
      <p:sp>
        <p:nvSpPr>
          <p:cNvPr id="2" name="CuadroTexto 2">
            <a:extLst>
              <a:ext uri="{FF2B5EF4-FFF2-40B4-BE49-F238E27FC236}">
                <a16:creationId xmlns:a16="http://schemas.microsoft.com/office/drawing/2014/main" id="{3A72BE9C-316B-F68C-2D9B-D1EE5B33F1EF}"/>
              </a:ext>
            </a:extLst>
          </p:cNvPr>
          <p:cNvSpPr txBox="1"/>
          <p:nvPr/>
        </p:nvSpPr>
        <p:spPr>
          <a:xfrm>
            <a:off x="499454" y="1182465"/>
            <a:ext cx="8142377" cy="35537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180000" bIns="180000">
            <a:spAutoFit/>
          </a:bodyPr>
          <a:lstStyle>
            <a:defPPr>
              <a:defRPr lang="en-US"/>
            </a:defPPr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Elementos únicos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Un set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puede 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contener elementos duplicados. Si se intenta añadir un elemento que ya existe en el set, </a:t>
            </a:r>
            <a:r>
              <a:rPr lang="es-ES" sz="1400" b="0" i="1" u="sng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 produce ningún cambio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1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Desordenado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Los elementos en un set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tienen un orden específico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Esto significa que </a:t>
            </a:r>
            <a:r>
              <a:rPr lang="es-ES" sz="1400" b="0" i="1" u="sng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 puede acceder a los elementos a través de un índice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1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Mutables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 pueden añadir o eliminar elementos de un set después de su creación.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1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Elementos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Los elementos que contiene deben ser inmutables (por ejemplo, números, cadenas de caracteres  y </a:t>
            </a:r>
            <a:r>
              <a:rPr lang="es-ES" sz="1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tuplas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s-ES" sz="1400" b="0" i="0" u="none" strike="noStrike" cap="none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es una </a:t>
            </a:r>
            <a:r>
              <a:rPr lang="es-ES" sz="1400" b="0" i="1" u="none" strike="noStrike" cap="none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tupla</a:t>
            </a:r>
            <a:r>
              <a:rPr lang="es-ES" sz="1400" b="0" i="0" u="none" strike="noStrike" cap="none" dirty="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58849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D7C1-DA52-C2C2-64D0-6DC24A77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7A89B9C4-96E0-DF57-ACF7-366DBBEC0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92FCA995-ABCB-0536-35CA-1327E8FFCD07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53D77D31-52AE-B785-9378-BBCA86786E43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Sets - Operaciones</a:t>
            </a:r>
            <a:endParaRPr lang="es-CL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E3444C-A5EF-1CA1-8BB2-0DC52726F877}"/>
              </a:ext>
            </a:extLst>
          </p:cNvPr>
          <p:cNvGrpSpPr/>
          <p:nvPr/>
        </p:nvGrpSpPr>
        <p:grpSpPr>
          <a:xfrm>
            <a:off x="580674" y="1206327"/>
            <a:ext cx="3065690" cy="1778159"/>
            <a:chOff x="580674" y="1206327"/>
            <a:chExt cx="3065690" cy="1778159"/>
          </a:xfrm>
        </p:grpSpPr>
        <p:sp>
          <p:nvSpPr>
            <p:cNvPr id="4" name="CuadroTexto 4">
              <a:extLst>
                <a:ext uri="{FF2B5EF4-FFF2-40B4-BE49-F238E27FC236}">
                  <a16:creationId xmlns:a16="http://schemas.microsoft.com/office/drawing/2014/main" id="{DE0FC9D9-9FD0-1EFC-94A1-A2DE75159325}"/>
                </a:ext>
              </a:extLst>
            </p:cNvPr>
            <p:cNvSpPr txBox="1"/>
            <p:nvPr/>
          </p:nvSpPr>
          <p:spPr>
            <a:xfrm>
              <a:off x="2166909" y="1206327"/>
              <a:ext cx="1479455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Crear un set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5" name="CuadroTexto 6">
              <a:extLst>
                <a:ext uri="{FF2B5EF4-FFF2-40B4-BE49-F238E27FC236}">
                  <a16:creationId xmlns:a16="http://schemas.microsoft.com/office/drawing/2014/main" id="{8B213536-A09F-A160-DDA2-177A22229AD9}"/>
                </a:ext>
              </a:extLst>
            </p:cNvPr>
            <p:cNvSpPr txBox="1"/>
            <p:nvPr/>
          </p:nvSpPr>
          <p:spPr>
            <a:xfrm>
              <a:off x="580674" y="1507158"/>
              <a:ext cx="3061271" cy="14773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Crear un set vacío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set_vacio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set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set_vacio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  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set()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Crear un set con elementos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{1, 2, 3, 4, 5}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  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{1, 2, 3, 4, 5}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07BCD72-0C98-A0CD-A688-B9FB1A47B0D0}"/>
              </a:ext>
            </a:extLst>
          </p:cNvPr>
          <p:cNvGrpSpPr/>
          <p:nvPr/>
        </p:nvGrpSpPr>
        <p:grpSpPr>
          <a:xfrm>
            <a:off x="5563154" y="264234"/>
            <a:ext cx="3159731" cy="1636729"/>
            <a:chOff x="5563154" y="264234"/>
            <a:chExt cx="3159731" cy="1636729"/>
          </a:xfrm>
        </p:grpSpPr>
        <p:sp>
          <p:nvSpPr>
            <p:cNvPr id="6" name="CuadroTexto 7">
              <a:extLst>
                <a:ext uri="{FF2B5EF4-FFF2-40B4-BE49-F238E27FC236}">
                  <a16:creationId xmlns:a16="http://schemas.microsoft.com/office/drawing/2014/main" id="{0DE27F5C-C28C-CB02-BDF0-041915DB51A4}"/>
                </a:ext>
              </a:extLst>
            </p:cNvPr>
            <p:cNvSpPr txBox="1"/>
            <p:nvPr/>
          </p:nvSpPr>
          <p:spPr>
            <a:xfrm>
              <a:off x="5563154" y="562135"/>
              <a:ext cx="3159731" cy="13388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Agregar un elemento a un set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add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(6)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{1, 2, 3, 4, 5, 6}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Intentar agregar un elemento duplicado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add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(3)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{1, 2, 3, 4, 5, 6}</a:t>
              </a:r>
            </a:p>
          </p:txBody>
        </p:sp>
        <p:sp>
          <p:nvSpPr>
            <p:cNvPr id="7" name="CuadroTexto 8">
              <a:extLst>
                <a:ext uri="{FF2B5EF4-FFF2-40B4-BE49-F238E27FC236}">
                  <a16:creationId xmlns:a16="http://schemas.microsoft.com/office/drawing/2014/main" id="{488BD185-839B-016D-34F3-C3D3F6D267CF}"/>
                </a:ext>
              </a:extLst>
            </p:cNvPr>
            <p:cNvSpPr txBox="1"/>
            <p:nvPr/>
          </p:nvSpPr>
          <p:spPr>
            <a:xfrm>
              <a:off x="6489781" y="264234"/>
              <a:ext cx="2233104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r">
                <a:defRPr sz="1400" b="1" i="1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defRPr>
              </a:lvl1pPr>
            </a:lstStyle>
            <a:p>
              <a:r>
                <a:rPr lang="es-ES_tradnl" dirty="0"/>
                <a:t>Agregar un elemento</a:t>
              </a:r>
              <a:endParaRPr lang="es-CL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19B1F1-33A7-D17D-E166-E4B3E0952709}"/>
              </a:ext>
            </a:extLst>
          </p:cNvPr>
          <p:cNvGrpSpPr/>
          <p:nvPr/>
        </p:nvGrpSpPr>
        <p:grpSpPr>
          <a:xfrm>
            <a:off x="580675" y="3209232"/>
            <a:ext cx="3062747" cy="804844"/>
            <a:chOff x="580675" y="3209232"/>
            <a:chExt cx="3062747" cy="804844"/>
          </a:xfrm>
        </p:grpSpPr>
        <p:sp>
          <p:nvSpPr>
            <p:cNvPr id="15" name="CuadroTexto 4">
              <a:extLst>
                <a:ext uri="{FF2B5EF4-FFF2-40B4-BE49-F238E27FC236}">
                  <a16:creationId xmlns:a16="http://schemas.microsoft.com/office/drawing/2014/main" id="{064B6D96-F904-3FBB-84D7-A7284F0C04AB}"/>
                </a:ext>
              </a:extLst>
            </p:cNvPr>
            <p:cNvSpPr txBox="1"/>
            <p:nvPr/>
          </p:nvSpPr>
          <p:spPr>
            <a:xfrm>
              <a:off x="2250281" y="3209232"/>
              <a:ext cx="139314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Acceso a set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8" name="CuadroTexto 9">
              <a:extLst>
                <a:ext uri="{FF2B5EF4-FFF2-40B4-BE49-F238E27FC236}">
                  <a16:creationId xmlns:a16="http://schemas.microsoft.com/office/drawing/2014/main" id="{99BCD8AD-6286-7BFB-9ACA-DD7C5EFB42B5}"/>
                </a:ext>
              </a:extLst>
            </p:cNvPr>
            <p:cNvSpPr txBox="1"/>
            <p:nvPr/>
          </p:nvSpPr>
          <p:spPr>
            <a:xfrm>
              <a:off x="580675" y="3506245"/>
              <a:ext cx="3061272" cy="5078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Comprobar si un elemento está en el set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(3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True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48989D-3C2C-4C58-0D35-FC300A160B1D}"/>
              </a:ext>
            </a:extLst>
          </p:cNvPr>
          <p:cNvGrpSpPr/>
          <p:nvPr/>
        </p:nvGrpSpPr>
        <p:grpSpPr>
          <a:xfrm>
            <a:off x="4960859" y="2130657"/>
            <a:ext cx="3762026" cy="1919642"/>
            <a:chOff x="4428160" y="2816664"/>
            <a:chExt cx="3762026" cy="1919642"/>
          </a:xfrm>
        </p:grpSpPr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18ADFF55-3CBF-5810-6A8A-05057D0A7222}"/>
                </a:ext>
              </a:extLst>
            </p:cNvPr>
            <p:cNvSpPr txBox="1"/>
            <p:nvPr/>
          </p:nvSpPr>
          <p:spPr>
            <a:xfrm>
              <a:off x="4428160" y="3120479"/>
              <a:ext cx="3762026" cy="16158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Opción 1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remove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(1) # Elimina el número 1 del conjunto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remove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(1) # El número 1 ya no existe, por lo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# que la operación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lanza una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#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excepción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Opción 2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discard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(3) # Elimina el número 3 del conjunto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discard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(3) # El número 3 ya no existe, por lo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# que la operación no hace nada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CuadroTexto 15">
              <a:extLst>
                <a:ext uri="{FF2B5EF4-FFF2-40B4-BE49-F238E27FC236}">
                  <a16:creationId xmlns:a16="http://schemas.microsoft.com/office/drawing/2014/main" id="{E14D577D-84C8-AE87-BC61-7C730271C7C2}"/>
                </a:ext>
              </a:extLst>
            </p:cNvPr>
            <p:cNvSpPr txBox="1"/>
            <p:nvPr/>
          </p:nvSpPr>
          <p:spPr>
            <a:xfrm>
              <a:off x="5957082" y="2816664"/>
              <a:ext cx="2233104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r">
                <a:defRPr sz="1400" b="1" i="1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defRPr>
              </a:lvl1pPr>
            </a:lstStyle>
            <a:p>
              <a:r>
                <a:rPr lang="es-ES_tradnl" dirty="0"/>
                <a:t>Eliminar un elemento</a:t>
              </a:r>
              <a:endParaRPr lang="es-CL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5A7948-15EB-DC37-0BA0-1539BA44C34E}"/>
              </a:ext>
            </a:extLst>
          </p:cNvPr>
          <p:cNvGrpSpPr/>
          <p:nvPr/>
        </p:nvGrpSpPr>
        <p:grpSpPr>
          <a:xfrm>
            <a:off x="5667947" y="4279993"/>
            <a:ext cx="3054938" cy="530535"/>
            <a:chOff x="535085" y="4213758"/>
            <a:chExt cx="3054938" cy="530535"/>
          </a:xfrm>
        </p:grpSpPr>
        <p:sp>
          <p:nvSpPr>
            <p:cNvPr id="12" name="CuadroTexto 16">
              <a:extLst>
                <a:ext uri="{FF2B5EF4-FFF2-40B4-BE49-F238E27FC236}">
                  <a16:creationId xmlns:a16="http://schemas.microsoft.com/office/drawing/2014/main" id="{96D4557C-D212-25C6-7D46-89A4185CBA51}"/>
                </a:ext>
              </a:extLst>
            </p:cNvPr>
            <p:cNvSpPr txBox="1"/>
            <p:nvPr/>
          </p:nvSpPr>
          <p:spPr>
            <a:xfrm>
              <a:off x="878681" y="4213758"/>
              <a:ext cx="2711342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r">
                <a:defRPr sz="1400" b="1" i="1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defRPr>
              </a:lvl1pPr>
            </a:lstStyle>
            <a:p>
              <a:r>
                <a:rPr lang="es-ES_tradnl" dirty="0"/>
                <a:t>Eliminar todos los elementos</a:t>
              </a:r>
              <a:endParaRPr lang="es-CL" dirty="0"/>
            </a:p>
          </p:txBody>
        </p:sp>
        <p:sp>
          <p:nvSpPr>
            <p:cNvPr id="13" name="CuadroTexto 17">
              <a:extLst>
                <a:ext uri="{FF2B5EF4-FFF2-40B4-BE49-F238E27FC236}">
                  <a16:creationId xmlns:a16="http://schemas.microsoft.com/office/drawing/2014/main" id="{ED5DC46F-C687-5DE8-FBE2-75BFBA513807}"/>
                </a:ext>
              </a:extLst>
            </p:cNvPr>
            <p:cNvSpPr txBox="1"/>
            <p:nvPr/>
          </p:nvSpPr>
          <p:spPr>
            <a:xfrm>
              <a:off x="535085" y="4513461"/>
              <a:ext cx="3054937" cy="2308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mi_set.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clear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1842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7AE95-9B09-F7B2-E7A2-D7228842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240257C7-D7AD-673B-5E21-7C42BD583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0C0BE2CD-38B9-C258-03D4-89B3D0D4345F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CD09CE-A4DB-C1E5-051E-FDC059081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815326"/>
              </p:ext>
            </p:extLst>
          </p:nvPr>
        </p:nvGraphicFramePr>
        <p:xfrm>
          <a:off x="461032" y="1278729"/>
          <a:ext cx="8232911" cy="3383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4956">
                  <a:extLst>
                    <a:ext uri="{9D8B030D-6E8A-4147-A177-3AD203B41FA5}">
                      <a16:colId xmlns:a16="http://schemas.microsoft.com/office/drawing/2014/main" val="1753903797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10103721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823088993"/>
                    </a:ext>
                  </a:extLst>
                </a:gridCol>
                <a:gridCol w="4607718">
                  <a:extLst>
                    <a:ext uri="{9D8B030D-6E8A-4147-A177-3AD203B41FA5}">
                      <a16:colId xmlns:a16="http://schemas.microsoft.com/office/drawing/2014/main" val="1632577220"/>
                    </a:ext>
                  </a:extLst>
                </a:gridCol>
              </a:tblGrid>
              <a:tr h="218478">
                <a:tc>
                  <a:txBody>
                    <a:bodyPr/>
                    <a:lstStyle/>
                    <a:p>
                      <a:r>
                        <a:rPr lang="es-CL" sz="1200" dirty="0"/>
                        <a:t>Operación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de 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200" dirty="0"/>
                        <a:t>Explicación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998168"/>
                  </a:ext>
                </a:extLst>
              </a:tr>
              <a:tr h="259488">
                <a:tc>
                  <a:txBody>
                    <a:bodyPr/>
                    <a:lstStyle/>
                    <a:p>
                      <a:r>
                        <a:rPr lang="es-CL" sz="1200" dirty="0"/>
                        <a:t>Unión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⋃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|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s-CL" sz="1200" dirty="0"/>
                        <a:t>Retorna la </a:t>
                      </a:r>
                      <a:r>
                        <a:rPr lang="es-CL" sz="1200" b="1" dirty="0"/>
                        <a:t>unión</a:t>
                      </a:r>
                      <a:r>
                        <a:rPr lang="es-CL" sz="1200" dirty="0"/>
                        <a:t> de los conjuntos A y B. Este nuevo conjunto contiene los elementos de A y B, considerando solo una vez los duplicados.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027913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endParaRPr lang="es-CL" sz="600" b="1" dirty="0"/>
                    </a:p>
                    <a:p>
                      <a:r>
                        <a:rPr lang="es-CL" sz="1200" b="1" dirty="0"/>
                        <a:t>Ejemplo</a:t>
                      </a:r>
                    </a:p>
                    <a:p>
                      <a:endParaRPr lang="es-CL" sz="600" b="1" dirty="0"/>
                    </a:p>
                    <a:p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union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{1,2,3,4,5} | {4,5,6,7,8} 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union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             # Salida: {1,2,3,4,5,6,7,8}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CL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820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Intersección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⋂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dirty="0"/>
                        <a:t>Retorna la </a:t>
                      </a:r>
                      <a:r>
                        <a:rPr lang="es-CL" sz="1200" b="1" dirty="0"/>
                        <a:t>intersección</a:t>
                      </a:r>
                      <a:r>
                        <a:rPr lang="es-CL" sz="1200" dirty="0"/>
                        <a:t> de los conjuntos A y B. Este nuevo conjunto contiene los elementos que se encuentran en A y también en B. Los elementos restantes </a:t>
                      </a:r>
                      <a:r>
                        <a:rPr lang="es-CL" sz="1200" b="1" dirty="0"/>
                        <a:t>no son considerados</a:t>
                      </a:r>
                      <a:r>
                        <a:rPr lang="es-CL" sz="1200" dirty="0"/>
                        <a:t>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688018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endParaRPr lang="es-CL" sz="600" b="1" dirty="0"/>
                    </a:p>
                    <a:p>
                      <a:r>
                        <a:rPr lang="es-CL" sz="1200" b="1" dirty="0"/>
                        <a:t>Ejemplo</a:t>
                      </a:r>
                    </a:p>
                    <a:p>
                      <a:endParaRPr lang="es-CL" sz="600" b="1" dirty="0"/>
                    </a:p>
                    <a:p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interseccion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{1,2,3,4,5} &amp; {4,5,6,7,8} 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interseccion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      # Salida: {4,5}</a:t>
                      </a:r>
                    </a:p>
                    <a:p>
                      <a:endParaRPr lang="es-CL" sz="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400453"/>
                  </a:ext>
                </a:extLst>
              </a:tr>
            </a:tbl>
          </a:graphicData>
        </a:graphic>
      </p:graphicFrame>
      <p:sp>
        <p:nvSpPr>
          <p:cNvPr id="9" name="CuadroTexto 3">
            <a:extLst>
              <a:ext uri="{FF2B5EF4-FFF2-40B4-BE49-F238E27FC236}">
                <a16:creationId xmlns:a16="http://schemas.microsoft.com/office/drawing/2014/main" id="{DA892085-5083-E9BF-317F-1EC242827DD6}"/>
              </a:ext>
            </a:extLst>
          </p:cNvPr>
          <p:cNvSpPr txBox="1"/>
          <p:nvPr/>
        </p:nvSpPr>
        <p:spPr>
          <a:xfrm>
            <a:off x="461032" y="748219"/>
            <a:ext cx="54897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Sets - Operaciones con otros Sets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612249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EF86-2087-BEED-FF96-95C8AF30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2353D945-F01D-0C98-DCC1-26B30F334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4A959753-3AAA-BBCB-1D7C-0D6EEC5F03E3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7F8E8-4D42-B313-2785-E4DCC4BC5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188483"/>
              </p:ext>
            </p:extLst>
          </p:nvPr>
        </p:nvGraphicFramePr>
        <p:xfrm>
          <a:off x="461032" y="1278729"/>
          <a:ext cx="8232911" cy="3383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4956">
                  <a:extLst>
                    <a:ext uri="{9D8B030D-6E8A-4147-A177-3AD203B41FA5}">
                      <a16:colId xmlns:a16="http://schemas.microsoft.com/office/drawing/2014/main" val="1753903797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10103721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823088993"/>
                    </a:ext>
                  </a:extLst>
                </a:gridCol>
                <a:gridCol w="4607718">
                  <a:extLst>
                    <a:ext uri="{9D8B030D-6E8A-4147-A177-3AD203B41FA5}">
                      <a16:colId xmlns:a16="http://schemas.microsoft.com/office/drawing/2014/main" val="1632577220"/>
                    </a:ext>
                  </a:extLst>
                </a:gridCol>
              </a:tblGrid>
              <a:tr h="218478">
                <a:tc>
                  <a:txBody>
                    <a:bodyPr/>
                    <a:lstStyle/>
                    <a:p>
                      <a:r>
                        <a:rPr lang="es-CL" sz="1200" dirty="0"/>
                        <a:t>Operación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de 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200" dirty="0"/>
                        <a:t>Explicación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99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Diferencia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-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-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Retorna la </a:t>
                      </a:r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diferencia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los conjuntos A y B. Los elementos de A, pero que no se encuentran en B.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400453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endParaRPr lang="es-CL" sz="600" b="0" dirty="0"/>
                    </a:p>
                    <a:p>
                      <a:r>
                        <a:rPr lang="es-CL" sz="1200" b="1" dirty="0"/>
                        <a:t>Ejemplo</a:t>
                      </a:r>
                    </a:p>
                    <a:p>
                      <a:endParaRPr lang="es-CL" sz="600" b="1" dirty="0"/>
                    </a:p>
                    <a:p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diff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{1,2,3,4,5} - {4,5,6,7,8} 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diff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               # Salida: {1,2,3}</a:t>
                      </a:r>
                    </a:p>
                    <a:p>
                      <a:endParaRPr lang="es-CL" sz="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19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Diferencia simétrica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∆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^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Retorna la diferencia simétrica de A y B. La diferencia simétrica es un </a:t>
                      </a:r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nuevo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que contiene los elementos que están en </a:t>
                      </a:r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uno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 </a:t>
                      </a:r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otro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conjunto, </a:t>
                      </a:r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pero no en ambos</a:t>
                      </a: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387294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endParaRPr lang="es-CL" sz="600" b="0" dirty="0"/>
                    </a:p>
                    <a:p>
                      <a:r>
                        <a:rPr lang="es-CL" sz="1200" b="1" dirty="0"/>
                        <a:t>Ejemplo</a:t>
                      </a:r>
                    </a:p>
                    <a:p>
                      <a:endParaRPr lang="es-CL" sz="600" b="1" dirty="0"/>
                    </a:p>
                    <a:p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diff_simetrica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{1,2,3,4,5} ^ {4,5,6,7,8}  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diff_simetrica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     # Salida: {1,2,3,6,7,8}</a:t>
                      </a:r>
                    </a:p>
                    <a:p>
                      <a:endParaRPr lang="es-CL" sz="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479656"/>
                  </a:ext>
                </a:extLst>
              </a:tr>
            </a:tbl>
          </a:graphicData>
        </a:graphic>
      </p:graphicFrame>
      <p:sp>
        <p:nvSpPr>
          <p:cNvPr id="9" name="CuadroTexto 3">
            <a:extLst>
              <a:ext uri="{FF2B5EF4-FFF2-40B4-BE49-F238E27FC236}">
                <a16:creationId xmlns:a16="http://schemas.microsoft.com/office/drawing/2014/main" id="{AD0D438A-B916-A181-84CE-48966EF818EC}"/>
              </a:ext>
            </a:extLst>
          </p:cNvPr>
          <p:cNvSpPr txBox="1"/>
          <p:nvPr/>
        </p:nvSpPr>
        <p:spPr>
          <a:xfrm>
            <a:off x="461032" y="748219"/>
            <a:ext cx="54897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Sets - Operaciones con otros Sets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876603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F666-31C5-E88F-94A4-4FB6CA8A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11D47767-3CF0-1F83-C461-E78D792F2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F5E1FA2F-272E-AE0A-2B62-95099FD1E983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B5D5DD-BB63-90A3-C5AB-49AB72F13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179684"/>
              </p:ext>
            </p:extLst>
          </p:nvPr>
        </p:nvGraphicFramePr>
        <p:xfrm>
          <a:off x="461032" y="1278729"/>
          <a:ext cx="8232911" cy="3383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4956">
                  <a:extLst>
                    <a:ext uri="{9D8B030D-6E8A-4147-A177-3AD203B41FA5}">
                      <a16:colId xmlns:a16="http://schemas.microsoft.com/office/drawing/2014/main" val="1753903797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10103721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823088993"/>
                    </a:ext>
                  </a:extLst>
                </a:gridCol>
                <a:gridCol w="4607718">
                  <a:extLst>
                    <a:ext uri="{9D8B030D-6E8A-4147-A177-3AD203B41FA5}">
                      <a16:colId xmlns:a16="http://schemas.microsoft.com/office/drawing/2014/main" val="1632577220"/>
                    </a:ext>
                  </a:extLst>
                </a:gridCol>
              </a:tblGrid>
              <a:tr h="218478">
                <a:tc>
                  <a:txBody>
                    <a:bodyPr/>
                    <a:lstStyle/>
                    <a:p>
                      <a:r>
                        <a:rPr lang="es-CL" sz="1200" dirty="0"/>
                        <a:t>Operación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de 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200" dirty="0"/>
                        <a:t>Explicación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99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Es subconjunto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⊂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&lt;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Retorna </a:t>
                      </a:r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todos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elementos de un conjunto A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están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B y conjunto A es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estrictamente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más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pequeño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(no es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igual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que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B.</a:t>
                      </a: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021496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Ejemplo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</a:p>
                    <a:p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({1,2} &lt; {1,2,3})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         # Salida: 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200" b="1" i="0" u="none" strike="noStrike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({1,2,3} &lt; {1,2,3})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       # Salida: 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550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Es superconjunto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⊃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&gt;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Retorna </a:t>
                      </a:r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A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contiene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todos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elementos del conjunto B y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A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tiene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más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elementos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que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B.</a:t>
                      </a: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105646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Ejemplo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</a:p>
                    <a:p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({1,2,3} &gt; {1,2})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         # Salida: 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200" b="1" i="0" u="none" strike="noStrike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({1,2,3} &gt; {1,2,3})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       # Salida: 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376536"/>
                  </a:ext>
                </a:extLst>
              </a:tr>
            </a:tbl>
          </a:graphicData>
        </a:graphic>
      </p:graphicFrame>
      <p:sp>
        <p:nvSpPr>
          <p:cNvPr id="9" name="CuadroTexto 3">
            <a:extLst>
              <a:ext uri="{FF2B5EF4-FFF2-40B4-BE49-F238E27FC236}">
                <a16:creationId xmlns:a16="http://schemas.microsoft.com/office/drawing/2014/main" id="{17F7F225-D6E5-BE5A-F851-0342A0CF2E5A}"/>
              </a:ext>
            </a:extLst>
          </p:cNvPr>
          <p:cNvSpPr txBox="1"/>
          <p:nvPr/>
        </p:nvSpPr>
        <p:spPr>
          <a:xfrm>
            <a:off x="461032" y="748219"/>
            <a:ext cx="54897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Sets - Operaciones con otros Sets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414128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34876-6FBC-5CAF-696C-4518B5EF2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1FE573A3-7843-31C2-2539-F69CD1372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894C7DA8-13D9-DBCF-F5E5-885A8F7A9767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C56CC3-9550-2AD8-D380-C97918FAA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305582"/>
              </p:ext>
            </p:extLst>
          </p:nvPr>
        </p:nvGraphicFramePr>
        <p:xfrm>
          <a:off x="461032" y="1278729"/>
          <a:ext cx="8232911" cy="3581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4956">
                  <a:extLst>
                    <a:ext uri="{9D8B030D-6E8A-4147-A177-3AD203B41FA5}">
                      <a16:colId xmlns:a16="http://schemas.microsoft.com/office/drawing/2014/main" val="1753903797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10103721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823088993"/>
                    </a:ext>
                  </a:extLst>
                </a:gridCol>
                <a:gridCol w="4607718">
                  <a:extLst>
                    <a:ext uri="{9D8B030D-6E8A-4147-A177-3AD203B41FA5}">
                      <a16:colId xmlns:a16="http://schemas.microsoft.com/office/drawing/2014/main" val="1632577220"/>
                    </a:ext>
                  </a:extLst>
                </a:gridCol>
              </a:tblGrid>
              <a:tr h="218478">
                <a:tc>
                  <a:txBody>
                    <a:bodyPr/>
                    <a:lstStyle/>
                    <a:p>
                      <a:r>
                        <a:rPr lang="es-CL" sz="1200" dirty="0"/>
                        <a:t>Operación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de 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200" dirty="0"/>
                        <a:t>Explicación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99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Es subconjunto o igual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⊆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&lt;=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Retorna </a:t>
                      </a:r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todos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elementos de un conjunto A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están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B y conjunto A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puede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tener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misma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cantidad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elementos que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B.</a:t>
                      </a: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021496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Ejemplo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</a:p>
                    <a:p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({1,2} &lt;= {1,2,3})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         # Salida: 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200" b="1" i="0" u="none" strike="noStrike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({1,2,3} &lt;= {1,2,3})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       # Salida: 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200" b="1" i="0" u="none" strike="noStrike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6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Es superconjunto o igual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⊇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&gt;=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Retorna </a:t>
                      </a:r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si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A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contiene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todos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los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elementos del conjunto B y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B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puede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tener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misma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cantidad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elementos que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A.</a:t>
                      </a: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550030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Ejemplo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 </a:t>
                      </a:r>
                    </a:p>
                    <a:p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({1,2,3} &gt;= {1,2})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         # Salida: 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200" b="1" i="0" u="none" strike="noStrike" kern="1200" dirty="0">
                        <a:solidFill>
                          <a:schemeClr val="dk1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</a:t>
                      </a:r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({1,2,3} &gt;= {1,2,3})</a:t>
                      </a: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        # Salida: </a:t>
                      </a:r>
                      <a:r>
                        <a:rPr lang="en-US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CL" sz="12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105646"/>
                  </a:ext>
                </a:extLst>
              </a:tr>
            </a:tbl>
          </a:graphicData>
        </a:graphic>
      </p:graphicFrame>
      <p:sp>
        <p:nvSpPr>
          <p:cNvPr id="9" name="CuadroTexto 3">
            <a:extLst>
              <a:ext uri="{FF2B5EF4-FFF2-40B4-BE49-F238E27FC236}">
                <a16:creationId xmlns:a16="http://schemas.microsoft.com/office/drawing/2014/main" id="{F816CAA6-DCF1-7CAF-FF61-811971977A95}"/>
              </a:ext>
            </a:extLst>
          </p:cNvPr>
          <p:cNvSpPr txBox="1"/>
          <p:nvPr/>
        </p:nvSpPr>
        <p:spPr>
          <a:xfrm>
            <a:off x="461032" y="748219"/>
            <a:ext cx="54897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Sets - Operaciones con otros Sets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28206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8AF5-975A-3DAC-4687-8422CF61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E60D9C87-5250-4D6C-557C-D668EAC47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BC195AB0-F953-A6F0-E2D9-44B3B65AC951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316490-63D3-6A2E-5690-90BCE06EF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548541"/>
              </p:ext>
            </p:extLst>
          </p:nvPr>
        </p:nvGraphicFramePr>
        <p:xfrm>
          <a:off x="461032" y="1278729"/>
          <a:ext cx="8232911" cy="2651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4956">
                  <a:extLst>
                    <a:ext uri="{9D8B030D-6E8A-4147-A177-3AD203B41FA5}">
                      <a16:colId xmlns:a16="http://schemas.microsoft.com/office/drawing/2014/main" val="1753903797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10103721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823088993"/>
                    </a:ext>
                  </a:extLst>
                </a:gridCol>
                <a:gridCol w="4607718">
                  <a:extLst>
                    <a:ext uri="{9D8B030D-6E8A-4147-A177-3AD203B41FA5}">
                      <a16:colId xmlns:a16="http://schemas.microsoft.com/office/drawing/2014/main" val="1632577220"/>
                    </a:ext>
                  </a:extLst>
                </a:gridCol>
              </a:tblGrid>
              <a:tr h="218478">
                <a:tc>
                  <a:txBody>
                    <a:bodyPr/>
                    <a:lstStyle/>
                    <a:p>
                      <a:r>
                        <a:rPr lang="es-CL" sz="1200" dirty="0"/>
                        <a:t>Operación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de 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Ejemplo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Alternativa de implementación en Python (con funciones)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99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Unión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⋃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|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</a:t>
                      </a:r>
                      <a:r>
                        <a:rPr lang="es-CL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union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021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Intersección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⋂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</a:t>
                      </a:r>
                      <a:r>
                        <a:rPr lang="es-CL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intersection</a:t>
                      </a:r>
                      <a:r>
                        <a:rPr lang="es-CL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581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Diferencia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-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-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A.</a:t>
                      </a:r>
                      <a:r>
                        <a:rPr lang="es-CL" sz="12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difference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5324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Diferencia simétrica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∆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^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A.</a:t>
                      </a:r>
                      <a:r>
                        <a:rPr lang="es-CL" sz="12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symmetric_difference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31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Es subconjunto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⊂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&lt;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03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Es superconjunto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⊃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&gt;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6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Es subconjunto o igual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⊆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&lt;=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A.</a:t>
                      </a:r>
                      <a:r>
                        <a:rPr lang="es-CL" sz="12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issubset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550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200" dirty="0"/>
                        <a:t>Es superconjunto o igual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⊇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 &gt;=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A.</a:t>
                      </a:r>
                      <a:r>
                        <a:rPr lang="es-CL" sz="1200" b="1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issuperset</a:t>
                      </a:r>
                      <a:r>
                        <a:rPr lang="es-CL" sz="12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105646"/>
                  </a:ext>
                </a:extLst>
              </a:tr>
            </a:tbl>
          </a:graphicData>
        </a:graphic>
      </p:graphicFrame>
      <p:sp>
        <p:nvSpPr>
          <p:cNvPr id="9" name="CuadroTexto 3">
            <a:extLst>
              <a:ext uri="{FF2B5EF4-FFF2-40B4-BE49-F238E27FC236}">
                <a16:creationId xmlns:a16="http://schemas.microsoft.com/office/drawing/2014/main" id="{9EDC27D8-A571-76C4-846C-461FCA67E08E}"/>
              </a:ext>
            </a:extLst>
          </p:cNvPr>
          <p:cNvSpPr txBox="1"/>
          <p:nvPr/>
        </p:nvSpPr>
        <p:spPr>
          <a:xfrm>
            <a:off x="461032" y="748219"/>
            <a:ext cx="54897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Sets - Operaciones con otros Sets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430895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1FC1-131A-93A4-878C-1C3A48F2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46A898FD-1AE6-79B7-AA0B-7FDCE3F50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9CF63BE-907C-9664-51CF-182312C6680E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Módulo 01: Sets – Ejercicios</a:t>
            </a:r>
          </a:p>
        </p:txBody>
      </p:sp>
    </p:spTree>
    <p:extLst>
      <p:ext uri="{BB962C8B-B14F-4D97-AF65-F5344CB8AC3E}">
        <p14:creationId xmlns:p14="http://schemas.microsoft.com/office/powerpoint/2010/main" val="1062132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92D21-735D-C77E-1A0A-867B4019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E8D4FF26-2AC1-60C4-E712-82EDCAB8B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8E2F82F0-412C-D301-08FD-58AF3B12CAEF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4DB6BD72-AEC5-F669-FDC3-9703825D96F0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A10360C6-E6F0-705B-8C2D-1D075BE02DEB}"/>
              </a:ext>
            </a:extLst>
          </p:cNvPr>
          <p:cNvSpPr txBox="1"/>
          <p:nvPr/>
        </p:nvSpPr>
        <p:spPr>
          <a:xfrm>
            <a:off x="461033" y="1271422"/>
            <a:ext cx="8142378" cy="36057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dirty="0"/>
              <a:t>Una tienda </a:t>
            </a:r>
            <a:r>
              <a:rPr lang="en-US" dirty="0" err="1"/>
              <a:t>tiene</a:t>
            </a:r>
            <a:r>
              <a:rPr lang="en-US" dirty="0"/>
              <a:t> dos </a:t>
            </a:r>
            <a:r>
              <a:rPr lang="en-US" dirty="0" err="1"/>
              <a:t>listas</a:t>
            </a:r>
            <a:r>
              <a:rPr lang="en-US" dirty="0"/>
              <a:t> de </a:t>
            </a:r>
            <a:r>
              <a:rPr lang="en-US" dirty="0" err="1"/>
              <a:t>clientes</a:t>
            </a:r>
            <a:r>
              <a:rPr lang="en-US" dirty="0"/>
              <a:t>: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que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comprado</a:t>
            </a:r>
            <a:r>
              <a:rPr lang="en-US" dirty="0"/>
              <a:t> </a:t>
            </a:r>
            <a:r>
              <a:rPr lang="en-US" dirty="0" err="1"/>
              <a:t>productos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 </a:t>
            </a:r>
            <a:r>
              <a:rPr lang="en-US" b="1" dirty="0"/>
              <a:t>tienda </a:t>
            </a:r>
            <a:r>
              <a:rPr lang="en-US" b="1" dirty="0" err="1"/>
              <a:t>física</a:t>
            </a:r>
            <a:r>
              <a:rPr lang="en-US" b="1" dirty="0"/>
              <a:t> </a:t>
            </a:r>
            <a:r>
              <a:rPr lang="en-US" dirty="0"/>
              <a:t>y </a:t>
            </a:r>
            <a:r>
              <a:rPr lang="en-US" dirty="0" err="1"/>
              <a:t>otra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que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realizado</a:t>
            </a:r>
            <a:r>
              <a:rPr lang="en-US" dirty="0"/>
              <a:t> </a:t>
            </a:r>
            <a:r>
              <a:rPr lang="en-US" dirty="0" err="1"/>
              <a:t>compras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 tienda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línea</a:t>
            </a:r>
            <a:r>
              <a:rPr lang="en-US" dirty="0"/>
              <a:t>. </a:t>
            </a:r>
            <a:r>
              <a:rPr lang="en-US" dirty="0" err="1"/>
              <a:t>Algunos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realizado</a:t>
            </a:r>
            <a:r>
              <a:rPr lang="en-US" dirty="0"/>
              <a:t> </a:t>
            </a:r>
            <a:r>
              <a:rPr lang="en-US" dirty="0" err="1"/>
              <a:t>compras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/>
              <a:t>ambas tiendas</a:t>
            </a:r>
            <a:r>
              <a:rPr lang="en-US" dirty="0"/>
              <a:t>.</a:t>
            </a:r>
          </a:p>
          <a:p>
            <a:endParaRPr lang="en-US" dirty="0">
              <a:sym typeface="Helvetica Neue"/>
            </a:endParaRPr>
          </a:p>
          <a:p>
            <a:r>
              <a:rPr lang="en-US" dirty="0"/>
              <a:t>Se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pide</a:t>
            </a:r>
            <a:r>
              <a:rPr lang="en-US" dirty="0"/>
              <a:t> que </a:t>
            </a:r>
            <a:r>
              <a:rPr lang="en-US" dirty="0" err="1"/>
              <a:t>escriba</a:t>
            </a:r>
            <a:r>
              <a:rPr lang="en-US" dirty="0"/>
              <a:t> un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Python que </a:t>
            </a:r>
            <a:r>
              <a:rPr lang="en-US" dirty="0" err="1"/>
              <a:t>realice</a:t>
            </a:r>
            <a:r>
              <a:rPr lang="en-US" dirty="0"/>
              <a:t> las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tareas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Determine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comprado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 </a:t>
            </a:r>
            <a:r>
              <a:rPr lang="en-US" b="1" dirty="0"/>
              <a:t>ambas tiendas</a:t>
            </a:r>
            <a:r>
              <a:rPr lang="en-US" dirty="0"/>
              <a:t> (</a:t>
            </a:r>
            <a:r>
              <a:rPr lang="en-US" dirty="0" err="1"/>
              <a:t>física</a:t>
            </a:r>
            <a:r>
              <a:rPr lang="en-US" dirty="0"/>
              <a:t> y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línea</a:t>
            </a:r>
            <a:r>
              <a:rPr lang="en-US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Encuentre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que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comprado</a:t>
            </a:r>
            <a:r>
              <a:rPr lang="en-US" dirty="0"/>
              <a:t> </a:t>
            </a:r>
            <a:r>
              <a:rPr lang="en-US" b="1" dirty="0"/>
              <a:t>solo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tienda </a:t>
            </a:r>
            <a:r>
              <a:rPr lang="en-US" b="1" dirty="0" err="1"/>
              <a:t>física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Encuentre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que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comprado</a:t>
            </a:r>
            <a:r>
              <a:rPr lang="en-US" dirty="0"/>
              <a:t> </a:t>
            </a:r>
            <a:r>
              <a:rPr lang="en-US" b="1" dirty="0"/>
              <a:t>solo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tienda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b="1" dirty="0" err="1"/>
              <a:t>línea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Calcule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número</a:t>
            </a:r>
            <a:r>
              <a:rPr lang="en-US" dirty="0"/>
              <a:t> total de </a:t>
            </a:r>
            <a:r>
              <a:rPr lang="en-US" dirty="0" err="1"/>
              <a:t>clientes</a:t>
            </a:r>
            <a:r>
              <a:rPr lang="en-US" dirty="0"/>
              <a:t> que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comprado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 </a:t>
            </a:r>
            <a:r>
              <a:rPr lang="en-US" b="1" dirty="0"/>
              <a:t>al </a:t>
            </a:r>
            <a:r>
              <a:rPr lang="en-US" b="1" dirty="0" err="1"/>
              <a:t>menos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 de las tiendas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Determinar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clientes</a:t>
            </a:r>
            <a:r>
              <a:rPr lang="en-US" dirty="0"/>
              <a:t> que </a:t>
            </a:r>
            <a:r>
              <a:rPr lang="en-US" b="1" dirty="0"/>
              <a:t>no </a:t>
            </a:r>
            <a:r>
              <a:rPr lang="en-US" b="1" dirty="0" err="1"/>
              <a:t>han</a:t>
            </a:r>
            <a:r>
              <a:rPr lang="en-US" b="1" dirty="0"/>
              <a:t> </a:t>
            </a:r>
            <a:r>
              <a:rPr lang="en-US" b="1" dirty="0" err="1"/>
              <a:t>comprado</a:t>
            </a:r>
            <a:r>
              <a:rPr lang="en-US" b="1" dirty="0"/>
              <a:t> </a:t>
            </a:r>
            <a:r>
              <a:rPr lang="en-US" dirty="0" err="1"/>
              <a:t>en</a:t>
            </a:r>
            <a:r>
              <a:rPr lang="en-US" dirty="0"/>
              <a:t> ambas tiendas, es </a:t>
            </a:r>
            <a:r>
              <a:rPr lang="en-US" dirty="0" err="1"/>
              <a:t>decir</a:t>
            </a:r>
            <a:r>
              <a:rPr lang="en-US" dirty="0"/>
              <a:t>, </a:t>
            </a:r>
            <a:r>
              <a:rPr lang="en-US" dirty="0" err="1"/>
              <a:t>clientes</a:t>
            </a:r>
            <a:r>
              <a:rPr lang="en-US" dirty="0"/>
              <a:t> que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comprado</a:t>
            </a:r>
            <a:r>
              <a:rPr lang="en-US" dirty="0"/>
              <a:t> </a:t>
            </a:r>
            <a:r>
              <a:rPr lang="en-US" b="1" dirty="0"/>
              <a:t>solo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tienda </a:t>
            </a:r>
            <a:r>
              <a:rPr lang="en-US" dirty="0"/>
              <a:t>(</a:t>
            </a:r>
            <a:r>
              <a:rPr lang="en-US" dirty="0" err="1"/>
              <a:t>física</a:t>
            </a:r>
            <a:r>
              <a:rPr lang="en-US" dirty="0"/>
              <a:t> 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línea</a:t>
            </a:r>
            <a:r>
              <a:rPr lang="en-US" dirty="0"/>
              <a:t>), </a:t>
            </a:r>
            <a:r>
              <a:rPr lang="en-US" b="1" dirty="0" err="1"/>
              <a:t>pero</a:t>
            </a:r>
            <a:r>
              <a:rPr lang="en-US" b="1" dirty="0"/>
              <a:t> no </a:t>
            </a:r>
            <a:r>
              <a:rPr lang="en-US" b="1" dirty="0" err="1"/>
              <a:t>en</a:t>
            </a:r>
            <a:r>
              <a:rPr lang="en-US" b="1" dirty="0"/>
              <a:t> ambas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3894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09315-50C4-E28A-6831-456570B3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E5057FE7-020E-BD7C-0593-BFBCBF609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C925C88D-027D-CE89-9FE0-791C3EDB9857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6824C918-696C-DDD0-1307-2B029BD21FA5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</a:t>
            </a:r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0495274A-6E1E-A921-E1B3-0F11FCC8EDB1}"/>
              </a:ext>
            </a:extLst>
          </p:cNvPr>
          <p:cNvSpPr txBox="1"/>
          <p:nvPr/>
        </p:nvSpPr>
        <p:spPr>
          <a:xfrm>
            <a:off x="461033" y="1271422"/>
            <a:ext cx="8142378" cy="6972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dirty="0"/>
              <a:t>Lista de </a:t>
            </a:r>
            <a:r>
              <a:rPr lang="en-US" dirty="0" err="1"/>
              <a:t>clientes</a:t>
            </a:r>
            <a:r>
              <a:rPr lang="en-US" dirty="0"/>
              <a:t> que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comprado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tienda </a:t>
            </a:r>
            <a:r>
              <a:rPr lang="en-US" dirty="0" err="1"/>
              <a:t>física</a:t>
            </a:r>
            <a:r>
              <a:rPr lang="en-US" dirty="0"/>
              <a:t>: </a:t>
            </a:r>
            <a:r>
              <a:rPr lang="en-US" b="1" dirty="0"/>
              <a:t>Juan</a:t>
            </a:r>
            <a:r>
              <a:rPr lang="en-US" dirty="0"/>
              <a:t>, </a:t>
            </a:r>
            <a:r>
              <a:rPr lang="en-US" b="1" dirty="0"/>
              <a:t>María</a:t>
            </a:r>
            <a:r>
              <a:rPr lang="en-US" dirty="0"/>
              <a:t>, Pedro y </a:t>
            </a:r>
            <a:r>
              <a:rPr lang="en-US" b="1" dirty="0"/>
              <a:t>Lucía</a:t>
            </a:r>
            <a:r>
              <a:rPr lang="en-US" dirty="0"/>
              <a:t>.</a:t>
            </a:r>
          </a:p>
          <a:p>
            <a:r>
              <a:rPr lang="en-US" dirty="0"/>
              <a:t>Lista de </a:t>
            </a:r>
            <a:r>
              <a:rPr lang="en-US" dirty="0" err="1"/>
              <a:t>clientes</a:t>
            </a:r>
            <a:r>
              <a:rPr lang="en-US" dirty="0"/>
              <a:t> que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comprado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tienda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línea</a:t>
            </a:r>
            <a:r>
              <a:rPr lang="en-US" dirty="0"/>
              <a:t>: </a:t>
            </a:r>
            <a:r>
              <a:rPr lang="en-US" b="1" dirty="0"/>
              <a:t>Lucía</a:t>
            </a:r>
            <a:r>
              <a:rPr lang="en-US" dirty="0"/>
              <a:t>, </a:t>
            </a:r>
            <a:r>
              <a:rPr lang="en-US" b="1" dirty="0"/>
              <a:t>Pedro</a:t>
            </a:r>
            <a:r>
              <a:rPr lang="en-US" dirty="0"/>
              <a:t>, </a:t>
            </a:r>
            <a:r>
              <a:rPr lang="en-US" b="1" dirty="0"/>
              <a:t>Sofía</a:t>
            </a:r>
            <a:r>
              <a:rPr lang="en-US" dirty="0"/>
              <a:t> y </a:t>
            </a:r>
            <a:r>
              <a:rPr lang="en-US" b="1" dirty="0"/>
              <a:t>Diego</a:t>
            </a:r>
            <a:r>
              <a:rPr lang="en-US" dirty="0"/>
              <a:t>.</a:t>
            </a:r>
          </a:p>
        </p:txBody>
      </p:sp>
      <p:sp>
        <p:nvSpPr>
          <p:cNvPr id="2" name="CuadroTexto 2">
            <a:extLst>
              <a:ext uri="{FF2B5EF4-FFF2-40B4-BE49-F238E27FC236}">
                <a16:creationId xmlns:a16="http://schemas.microsoft.com/office/drawing/2014/main" id="{1FC0FBAC-BAFE-07AA-AC52-1239DD8771A6}"/>
              </a:ext>
            </a:extLst>
          </p:cNvPr>
          <p:cNvSpPr txBox="1"/>
          <p:nvPr/>
        </p:nvSpPr>
        <p:spPr>
          <a:xfrm>
            <a:off x="461033" y="2166772"/>
            <a:ext cx="8142378" cy="10266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Juan”, 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María”, 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Pedro”, 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Lucía”}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Lucía", 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Pedro”, 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Sofía”, 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Diego”}</a:t>
            </a:r>
          </a:p>
        </p:txBody>
      </p:sp>
    </p:spTree>
    <p:extLst>
      <p:ext uri="{BB962C8B-B14F-4D97-AF65-F5344CB8AC3E}">
        <p14:creationId xmlns:p14="http://schemas.microsoft.com/office/powerpoint/2010/main" val="1055471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2976C-B010-9BBD-1E09-19D45B85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421932E9-1173-5955-FAEF-99D3BBDC8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07B0321B-7C69-FAE9-C615-5696500AE545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A0AB5410-E9E0-6E82-5795-35BBC963A9D1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BCF18CBD-CA65-6565-E684-0F6843440F76}"/>
              </a:ext>
            </a:extLst>
          </p:cNvPr>
          <p:cNvSpPr txBox="1"/>
          <p:nvPr/>
        </p:nvSpPr>
        <p:spPr>
          <a:xfrm>
            <a:off x="461033" y="1271422"/>
            <a:ext cx="8142378" cy="3668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{“Juan”, “María”, “Pedro”, “Lucía”} 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{“Lucía", “Pedro”, “Sofía”, “Diego”}</a:t>
            </a: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1.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ambas tiendas 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intersección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ambas_tiendas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“Clientes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ambas tiendas: {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ambas_tiendas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}”) </a:t>
            </a: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2.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solo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la tienda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física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diferencia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solo_fisica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“Clientes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solo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la tienda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física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solo_fisica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}”)</a:t>
            </a: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61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17AD5-882D-C9CA-F82D-97749F0E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0F47193B-C25F-E08F-D27C-38EB0B433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5C054CB4-EA4F-DBFB-DE3A-B5383CB6DFF9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50C7C969-0B7E-579A-97A2-124FC40DE7E7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F3C7C56F-D2B8-1AC2-9085-681A4E448930}"/>
              </a:ext>
            </a:extLst>
          </p:cNvPr>
          <p:cNvSpPr txBox="1"/>
          <p:nvPr/>
        </p:nvSpPr>
        <p:spPr>
          <a:xfrm>
            <a:off x="461033" y="1271422"/>
            <a:ext cx="8142378" cy="3668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3.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solo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la tienda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línea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diferencia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solo_online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“Clientes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solo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la tienda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línea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solo_online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}”) </a:t>
            </a: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4. Total de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al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menos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las tiendas 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unión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total_clientes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“Total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al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menos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de las tiendas: {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total_clientes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)}”)</a:t>
            </a: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5.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no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ambas tiendas 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diferencia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simétrica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no_en_ambas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“Clientes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que no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ambas tiendas: {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no_en_ambas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}”)</a:t>
            </a:r>
          </a:p>
        </p:txBody>
      </p:sp>
      <p:sp>
        <p:nvSpPr>
          <p:cNvPr id="4" name="CuadroTexto 2">
            <a:extLst>
              <a:ext uri="{FF2B5EF4-FFF2-40B4-BE49-F238E27FC236}">
                <a16:creationId xmlns:a16="http://schemas.microsoft.com/office/drawing/2014/main" id="{28CEEF00-A5A5-CCB1-C8F7-343BB32401C7}"/>
              </a:ext>
            </a:extLst>
          </p:cNvPr>
          <p:cNvSpPr txBox="1"/>
          <p:nvPr/>
        </p:nvSpPr>
        <p:spPr>
          <a:xfrm>
            <a:off x="6915150" y="895423"/>
            <a:ext cx="1688261" cy="3740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r>
              <a:rPr lang="en-US" i="1" dirty="0" err="1"/>
              <a:t>continuación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54230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41EB-DDFC-6447-F6D9-F32F4DA7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4A954B8D-D3EB-A5FF-92DF-EAE3B1A30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1A4C839B-8CA6-8E75-1861-122AD7D471BB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D6EE9A65-053B-D568-1026-7A8015C3B732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52EF103A-548A-8645-DE7D-191DFF97A07D}"/>
              </a:ext>
            </a:extLst>
          </p:cNvPr>
          <p:cNvSpPr txBox="1"/>
          <p:nvPr/>
        </p:nvSpPr>
        <p:spPr>
          <a:xfrm>
            <a:off x="461032" y="1271421"/>
            <a:ext cx="4718187" cy="36808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Listas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= {“Juan”, “María”, “Pedro”, “Lucía”} </a:t>
            </a:r>
          </a:p>
          <a:p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= {“Lucía", “Pedro”, “Sofía”, “Diego”}</a:t>
            </a:r>
          </a:p>
          <a:p>
            <a:endParaRPr lang="en-US" sz="6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# 1.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ambas tiendas 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intersección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ambas_tiendas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endParaRPr lang="en-US" sz="6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“Clientes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ambas tiendas: {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ambas_tiendas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}”) </a:t>
            </a:r>
          </a:p>
          <a:p>
            <a:endParaRPr lang="en-US" sz="6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# 2.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solo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la tienda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física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diferencia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solo_fisica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“Clientes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solo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la tienda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física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solo_fisica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}”)</a:t>
            </a:r>
          </a:p>
          <a:p>
            <a:endParaRPr lang="en-US" sz="6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# 3.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solo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la tienda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línea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diferencia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solo_online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“Clientes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solo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la tienda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línea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solo_online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}”) </a:t>
            </a:r>
          </a:p>
          <a:p>
            <a:endParaRPr lang="en-US" sz="6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# 4. Total de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al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menos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una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las tiendas 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unión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) </a:t>
            </a:r>
          </a:p>
          <a:p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total_clientes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“Total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que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al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menos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de las tiendas: {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total_clientes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)}”)</a:t>
            </a:r>
          </a:p>
          <a:p>
            <a:endParaRPr lang="en-US" sz="6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# 5.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que no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ambas tiendas 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diferencia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simétrica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no_en_ambas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clientes_fisica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clientes_online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65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“Clientes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que no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comprado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 ambas tiendas: {</a:t>
            </a:r>
            <a:r>
              <a:rPr lang="en-US" sz="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no_en_ambas</a:t>
            </a:r>
            <a:r>
              <a:rPr lang="en-US" sz="650" dirty="0">
                <a:latin typeface="Courier New" panose="02070309020205020404" pitchFamily="49" charset="0"/>
                <a:cs typeface="Courier New" panose="02070309020205020404" pitchFamily="49" charset="0"/>
              </a:rPr>
              <a:t>}”)</a:t>
            </a:r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6FCD6937-82B5-8E1C-8540-21769BAA6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856" y="1898101"/>
            <a:ext cx="7772400" cy="202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67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BA1AA-6B5D-3633-3555-A3A79AC8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05F4FD2E-3A32-D756-1948-470783EDF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6AD0BBDB-EF2D-F117-A5E6-F4835B74EED9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A5047B85-A441-B2E5-5F61-B4AC1AACAE35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02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BC60B7F1-D6CF-3F1C-71FD-A77BC1D5493C}"/>
              </a:ext>
            </a:extLst>
          </p:cNvPr>
          <p:cNvSpPr txBox="1"/>
          <p:nvPr/>
        </p:nvSpPr>
        <p:spPr>
          <a:xfrm>
            <a:off x="461033" y="1271422"/>
            <a:ext cx="8142378" cy="36548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300" dirty="0">
                <a:sym typeface="Helvetica Neue"/>
              </a:rPr>
              <a:t>Un club </a:t>
            </a:r>
            <a:r>
              <a:rPr lang="en-US" sz="1300" dirty="0" err="1">
                <a:sym typeface="Helvetica Neue"/>
              </a:rPr>
              <a:t>deportivo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ofrece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tres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tipos</a:t>
            </a:r>
            <a:r>
              <a:rPr lang="en-US" sz="1300" dirty="0">
                <a:sym typeface="Helvetica Neue"/>
              </a:rPr>
              <a:t> de </a:t>
            </a:r>
            <a:r>
              <a:rPr lang="en-US" sz="1300" dirty="0" err="1">
                <a:sym typeface="Helvetica Neue"/>
              </a:rPr>
              <a:t>membresías</a:t>
            </a:r>
            <a:r>
              <a:rPr lang="en-US" sz="1300" dirty="0">
                <a:sym typeface="Helvetica Neue"/>
              </a:rPr>
              <a:t> para sus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: </a:t>
            </a:r>
            <a:r>
              <a:rPr lang="en-US" sz="1300" dirty="0" err="1">
                <a:sym typeface="Helvetica Neue"/>
              </a:rPr>
              <a:t>acceso</a:t>
            </a:r>
            <a:r>
              <a:rPr lang="en-US" sz="1300" dirty="0">
                <a:sym typeface="Helvetica Neue"/>
              </a:rPr>
              <a:t> al </a:t>
            </a:r>
            <a:r>
              <a:rPr lang="en-US" sz="1300" dirty="0" err="1">
                <a:sym typeface="Helvetica Neue"/>
              </a:rPr>
              <a:t>gimnasio</a:t>
            </a:r>
            <a:r>
              <a:rPr lang="en-US" sz="1300" dirty="0">
                <a:sym typeface="Helvetica Neue"/>
              </a:rPr>
              <a:t>, </a:t>
            </a:r>
            <a:r>
              <a:rPr lang="en-US" sz="1300" dirty="0" err="1">
                <a:sym typeface="Helvetica Neue"/>
              </a:rPr>
              <a:t>acceso</a:t>
            </a:r>
            <a:r>
              <a:rPr lang="en-US" sz="1300" dirty="0">
                <a:sym typeface="Helvetica Neue"/>
              </a:rPr>
              <a:t> a la piscina y </a:t>
            </a:r>
            <a:r>
              <a:rPr lang="en-US" sz="1300" dirty="0" err="1">
                <a:sym typeface="Helvetica Neue"/>
              </a:rPr>
              <a:t>clases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grupales</a:t>
            </a:r>
            <a:r>
              <a:rPr lang="en-US" sz="1300" dirty="0">
                <a:sym typeface="Helvetica Neue"/>
              </a:rPr>
              <a:t> (</a:t>
            </a:r>
            <a:r>
              <a:rPr lang="en-US" sz="1300" dirty="0" err="1">
                <a:sym typeface="Helvetica Neue"/>
              </a:rPr>
              <a:t>como</a:t>
            </a:r>
            <a:r>
              <a:rPr lang="en-US" sz="1300" dirty="0">
                <a:sym typeface="Helvetica Neue"/>
              </a:rPr>
              <a:t> yoga, spinning, etc.). Los </a:t>
            </a:r>
            <a:r>
              <a:rPr lang="en-US" sz="1300" dirty="0" err="1">
                <a:sym typeface="Helvetica Neue"/>
              </a:rPr>
              <a:t>miembros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pueden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optar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por</a:t>
            </a:r>
            <a:r>
              <a:rPr lang="en-US" sz="1300" dirty="0">
                <a:sym typeface="Helvetica Neue"/>
              </a:rPr>
              <a:t> uno, dos o </a:t>
            </a:r>
            <a:r>
              <a:rPr lang="en-US" sz="1300" dirty="0" err="1">
                <a:sym typeface="Helvetica Neue"/>
              </a:rPr>
              <a:t>los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tres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servicios</a:t>
            </a:r>
            <a:r>
              <a:rPr lang="en-US" sz="1300" dirty="0">
                <a:sym typeface="Helvetica Neue"/>
              </a:rPr>
              <a:t>, </a:t>
            </a:r>
            <a:r>
              <a:rPr lang="en-US" sz="1300" dirty="0" err="1">
                <a:sym typeface="Helvetica Neue"/>
              </a:rPr>
              <a:t>dependiendo</a:t>
            </a:r>
            <a:r>
              <a:rPr lang="en-US" sz="1300" dirty="0">
                <a:sym typeface="Helvetica Neue"/>
              </a:rPr>
              <a:t> de sus </a:t>
            </a:r>
            <a:r>
              <a:rPr lang="en-US" sz="1300" dirty="0" err="1">
                <a:sym typeface="Helvetica Neue"/>
              </a:rPr>
              <a:t>intereses</a:t>
            </a:r>
            <a:r>
              <a:rPr lang="en-US" sz="1300" dirty="0">
                <a:sym typeface="Helvetica Neue"/>
              </a:rPr>
              <a:t>.</a:t>
            </a:r>
          </a:p>
          <a:p>
            <a:endParaRPr lang="en-US" sz="1300" dirty="0">
              <a:sym typeface="Helvetica Neue"/>
            </a:endParaRPr>
          </a:p>
          <a:p>
            <a:r>
              <a:rPr lang="en-US" sz="1300" dirty="0">
                <a:sym typeface="Helvetica Neue"/>
              </a:rPr>
              <a:t>El club </a:t>
            </a:r>
            <a:r>
              <a:rPr lang="en-US" sz="1300" dirty="0" err="1">
                <a:sym typeface="Helvetica Neue"/>
              </a:rPr>
              <a:t>desea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analizar</a:t>
            </a:r>
            <a:r>
              <a:rPr lang="en-US" sz="1300" dirty="0">
                <a:sym typeface="Helvetica Neue"/>
              </a:rPr>
              <a:t> la </a:t>
            </a:r>
            <a:r>
              <a:rPr lang="en-US" sz="1300" dirty="0" err="1">
                <a:sym typeface="Helvetica Neue"/>
              </a:rPr>
              <a:t>participación</a:t>
            </a:r>
            <a:r>
              <a:rPr lang="en-US" sz="1300" dirty="0">
                <a:sym typeface="Helvetica Neue"/>
              </a:rPr>
              <a:t> de sus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en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estos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servicios</a:t>
            </a:r>
            <a:r>
              <a:rPr lang="en-US" sz="1300" dirty="0">
                <a:sym typeface="Helvetica Neue"/>
              </a:rPr>
              <a:t> y le </a:t>
            </a:r>
            <a:r>
              <a:rPr lang="en-US" sz="1300" dirty="0" err="1">
                <a:sym typeface="Helvetica Neue"/>
              </a:rPr>
              <a:t>pide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implemente</a:t>
            </a:r>
            <a:r>
              <a:rPr lang="en-US" sz="1300" dirty="0">
                <a:sym typeface="Helvetica Neue"/>
              </a:rPr>
              <a:t> un </a:t>
            </a:r>
            <a:r>
              <a:rPr lang="en-US" sz="1300" dirty="0" err="1">
                <a:sym typeface="Helvetica Neue"/>
              </a:rPr>
              <a:t>programa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en</a:t>
            </a:r>
            <a:r>
              <a:rPr lang="en-US" sz="1300" dirty="0">
                <a:sym typeface="Helvetica Neue"/>
              </a:rPr>
              <a:t> Python que </a:t>
            </a:r>
            <a:r>
              <a:rPr lang="en-US" sz="1300" dirty="0" err="1">
                <a:sym typeface="Helvetica Neue"/>
              </a:rPr>
              <a:t>realice</a:t>
            </a:r>
            <a:r>
              <a:rPr lang="en-US" sz="1300" dirty="0">
                <a:sym typeface="Helvetica Neue"/>
              </a:rPr>
              <a:t> las </a:t>
            </a:r>
            <a:r>
              <a:rPr lang="en-US" sz="1300" dirty="0" err="1">
                <a:sym typeface="Helvetica Neue"/>
              </a:rPr>
              <a:t>siguientes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tareas</a:t>
            </a:r>
            <a:r>
              <a:rPr lang="en-US" sz="1300" dirty="0">
                <a:sym typeface="Helvetica Neue"/>
              </a:rPr>
              <a:t>:</a:t>
            </a:r>
          </a:p>
          <a:p>
            <a:endParaRPr lang="en-US" sz="1300" dirty="0">
              <a:sym typeface="Helvetica Neue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dirty="0" err="1">
                <a:sym typeface="Helvetica Neue"/>
              </a:rPr>
              <a:t>Determinar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qué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utilizan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los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tres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servicios</a:t>
            </a:r>
            <a:r>
              <a:rPr lang="en-US" sz="1300" dirty="0">
                <a:sym typeface="Helvetica Neue"/>
              </a:rPr>
              <a:t>: </a:t>
            </a:r>
            <a:r>
              <a:rPr lang="en-US" sz="1300" dirty="0" err="1">
                <a:sym typeface="Helvetica Neue"/>
              </a:rPr>
              <a:t>gimnasio</a:t>
            </a:r>
            <a:r>
              <a:rPr lang="en-US" sz="1300" dirty="0">
                <a:sym typeface="Helvetica Neue"/>
              </a:rPr>
              <a:t>, piscina y </a:t>
            </a:r>
            <a:r>
              <a:rPr lang="en-US" sz="1300" dirty="0" err="1">
                <a:sym typeface="Helvetica Neue"/>
              </a:rPr>
              <a:t>clases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grupales</a:t>
            </a:r>
            <a:r>
              <a:rPr lang="en-US" sz="1300" dirty="0">
                <a:sym typeface="Helvetica Neue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 err="1">
                <a:sym typeface="Helvetica Neue"/>
              </a:rPr>
              <a:t>Encontrar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los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utilizan</a:t>
            </a:r>
            <a:r>
              <a:rPr lang="en-US" sz="1300" dirty="0">
                <a:sym typeface="Helvetica Neue"/>
              </a:rPr>
              <a:t> solo uno de </a:t>
            </a:r>
            <a:r>
              <a:rPr lang="en-US" sz="1300" dirty="0" err="1">
                <a:sym typeface="Helvetica Neue"/>
              </a:rPr>
              <a:t>los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servicios</a:t>
            </a:r>
            <a:r>
              <a:rPr lang="en-US" sz="1300" dirty="0">
                <a:sym typeface="Helvetica Neue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 err="1">
                <a:sym typeface="Helvetica Neue"/>
              </a:rPr>
              <a:t>Obtener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los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utilizan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exactamente</a:t>
            </a:r>
            <a:r>
              <a:rPr lang="en-US" sz="1300" dirty="0">
                <a:sym typeface="Helvetica Neue"/>
              </a:rPr>
              <a:t> dos </a:t>
            </a:r>
            <a:r>
              <a:rPr lang="en-US" sz="1300" dirty="0" err="1">
                <a:sym typeface="Helvetica Neue"/>
              </a:rPr>
              <a:t>servicios</a:t>
            </a:r>
            <a:r>
              <a:rPr lang="en-US" sz="1300" dirty="0">
                <a:sym typeface="Helvetica Neue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 err="1">
                <a:sym typeface="Helvetica Neue"/>
              </a:rPr>
              <a:t>Calcular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el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número</a:t>
            </a:r>
            <a:r>
              <a:rPr lang="en-US" sz="1300" dirty="0">
                <a:sym typeface="Helvetica Neue"/>
              </a:rPr>
              <a:t> total de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utilizan</a:t>
            </a:r>
            <a:r>
              <a:rPr lang="en-US" sz="1300" dirty="0">
                <a:sym typeface="Helvetica Neue"/>
              </a:rPr>
              <a:t> al </a:t>
            </a:r>
            <a:r>
              <a:rPr lang="en-US" sz="1300" dirty="0" err="1">
                <a:sym typeface="Helvetica Neue"/>
              </a:rPr>
              <a:t>menos</a:t>
            </a:r>
            <a:r>
              <a:rPr lang="en-US" sz="1300" dirty="0">
                <a:sym typeface="Helvetica Neue"/>
              </a:rPr>
              <a:t> un </a:t>
            </a:r>
            <a:r>
              <a:rPr lang="en-US" sz="1300" dirty="0" err="1">
                <a:sym typeface="Helvetica Neue"/>
              </a:rPr>
              <a:t>servicio</a:t>
            </a:r>
            <a:r>
              <a:rPr lang="en-US" sz="1300" dirty="0">
                <a:sym typeface="Helvetica Neue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 err="1">
                <a:sym typeface="Helvetica Neue"/>
              </a:rPr>
              <a:t>Calcular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el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número</a:t>
            </a:r>
            <a:r>
              <a:rPr lang="en-US" sz="1300" dirty="0">
                <a:sym typeface="Helvetica Neue"/>
              </a:rPr>
              <a:t> de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únicos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utilizan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más</a:t>
            </a:r>
            <a:r>
              <a:rPr lang="en-US" sz="1300" dirty="0">
                <a:sym typeface="Helvetica Neue"/>
              </a:rPr>
              <a:t> de un </a:t>
            </a:r>
            <a:r>
              <a:rPr lang="en-US" sz="1300" dirty="0" err="1">
                <a:sym typeface="Helvetica Neue"/>
              </a:rPr>
              <a:t>servicio</a:t>
            </a:r>
            <a:r>
              <a:rPr lang="en-US" sz="1300" dirty="0">
                <a:sym typeface="Helvetica Neue"/>
              </a:rPr>
              <a:t>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05336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96941-7651-653B-221E-A72A7547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CF96B6E0-1A66-3C53-CA7B-C52F3C35A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19233154-801B-F53F-6E2F-6B09C30CAF81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81A14C66-20A9-5E0D-E511-7575531AD48F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02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E61997F3-E0FC-64BB-AB17-F90F7C605EDD}"/>
              </a:ext>
            </a:extLst>
          </p:cNvPr>
          <p:cNvSpPr txBox="1"/>
          <p:nvPr/>
        </p:nvSpPr>
        <p:spPr>
          <a:xfrm>
            <a:off x="461033" y="1271422"/>
            <a:ext cx="8142378" cy="2754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300" b="1" dirty="0">
                <a:sym typeface="Helvetica Neue"/>
              </a:rPr>
              <a:t>Datos de entrada</a:t>
            </a:r>
            <a:r>
              <a:rPr lang="en-US" sz="1300" dirty="0">
                <a:sym typeface="Helvetica Neue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ym typeface="Helvetica Neue"/>
              </a:rPr>
              <a:t>Lista de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usan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el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gimnasio</a:t>
            </a:r>
            <a:r>
              <a:rPr lang="en-US" sz="1300" dirty="0">
                <a:sym typeface="Helvetica Neue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ym typeface="Helvetica Neue"/>
              </a:rPr>
              <a:t>Lista de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usan</a:t>
            </a:r>
            <a:r>
              <a:rPr lang="en-US" sz="1300" dirty="0">
                <a:sym typeface="Helvetica Neue"/>
              </a:rPr>
              <a:t> la piscina.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ym typeface="Helvetica Neue"/>
              </a:rPr>
              <a:t>Lista de </a:t>
            </a: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asisten</a:t>
            </a:r>
            <a:r>
              <a:rPr lang="en-US" sz="1300" dirty="0">
                <a:sym typeface="Helvetica Neue"/>
              </a:rPr>
              <a:t> a </a:t>
            </a:r>
            <a:r>
              <a:rPr lang="en-US" sz="1300" dirty="0" err="1">
                <a:sym typeface="Helvetica Neue"/>
              </a:rPr>
              <a:t>clases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grupales</a:t>
            </a:r>
            <a:r>
              <a:rPr lang="en-US" sz="1300" dirty="0">
                <a:sym typeface="Helvetica Neue"/>
              </a:rPr>
              <a:t>.</a:t>
            </a:r>
          </a:p>
          <a:p>
            <a:endParaRPr lang="en-US" sz="1300" dirty="0">
              <a:sym typeface="Helvetica Neue"/>
            </a:endParaRPr>
          </a:p>
          <a:p>
            <a:r>
              <a:rPr lang="en-US" sz="1300" b="1" dirty="0" err="1">
                <a:sym typeface="Helvetica Neue"/>
              </a:rPr>
              <a:t>Ejemplo</a:t>
            </a:r>
            <a:r>
              <a:rPr lang="en-US" sz="1300" b="1" dirty="0">
                <a:sym typeface="Helvetica Neue"/>
              </a:rPr>
              <a:t> de entrada</a:t>
            </a:r>
            <a:r>
              <a:rPr lang="en-US" sz="1300" dirty="0">
                <a:sym typeface="Helvetica Neue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usan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el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gimnasio</a:t>
            </a:r>
            <a:r>
              <a:rPr lang="en-US" sz="1300" dirty="0">
                <a:sym typeface="Helvetica Neue"/>
              </a:rPr>
              <a:t>: 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["Ana", "Carlos", "Beatriz", "David", "Elena"]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usan</a:t>
            </a:r>
            <a:r>
              <a:rPr lang="en-US" sz="1300" dirty="0">
                <a:sym typeface="Helvetica Neue"/>
              </a:rPr>
              <a:t> la piscina: 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["Carlos", "Beatriz", "Fernando", "Sofía"]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>
                <a:sym typeface="Helvetica Neue"/>
              </a:rPr>
              <a:t>Socios</a:t>
            </a:r>
            <a:r>
              <a:rPr lang="en-US" sz="1300" dirty="0">
                <a:sym typeface="Helvetica Neue"/>
              </a:rPr>
              <a:t> que </a:t>
            </a:r>
            <a:r>
              <a:rPr lang="en-US" sz="1300" dirty="0" err="1">
                <a:sym typeface="Helvetica Neue"/>
              </a:rPr>
              <a:t>asisten</a:t>
            </a:r>
            <a:r>
              <a:rPr lang="en-US" sz="1300" dirty="0">
                <a:sym typeface="Helvetica Neue"/>
              </a:rPr>
              <a:t> a </a:t>
            </a:r>
            <a:r>
              <a:rPr lang="en-US" sz="1300" dirty="0" err="1">
                <a:sym typeface="Helvetica Neue"/>
              </a:rPr>
              <a:t>clases</a:t>
            </a:r>
            <a:r>
              <a:rPr lang="en-US" sz="1300" dirty="0">
                <a:sym typeface="Helvetica Neue"/>
              </a:rPr>
              <a:t> </a:t>
            </a:r>
            <a:r>
              <a:rPr lang="en-US" sz="1300" dirty="0" err="1">
                <a:sym typeface="Helvetica Neue"/>
              </a:rPr>
              <a:t>grupales</a:t>
            </a:r>
            <a:r>
              <a:rPr lang="en-US" sz="1300" dirty="0">
                <a:sym typeface="Helvetica Neue"/>
              </a:rPr>
              <a:t>: 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["Ana", "Fernando", "David", "Luis"]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768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2EA47-98C6-EA86-1A1D-A1C2AA8C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8BEA30C3-1E98-F42A-29EE-8FEB5E595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59CCA971-DD61-927E-2F96-0FCAEEF86398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04ACF4AB-8E0C-B558-C20E-AB35AAC17F51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02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C65AA815-4119-194D-DA00-19A349863615}"/>
              </a:ext>
            </a:extLst>
          </p:cNvPr>
          <p:cNvSpPr txBox="1"/>
          <p:nvPr/>
        </p:nvSpPr>
        <p:spPr>
          <a:xfrm>
            <a:off x="461033" y="1271422"/>
            <a:ext cx="8142378" cy="246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dirty="0">
                <a:sym typeface="Helvetica Neue"/>
              </a:rPr>
              <a:t>Salida </a:t>
            </a:r>
            <a:r>
              <a:rPr lang="en-US" dirty="0" err="1">
                <a:sym typeface="Helvetica Neue"/>
              </a:rPr>
              <a:t>esperada</a:t>
            </a:r>
            <a:r>
              <a:rPr lang="en-US" dirty="0">
                <a:sym typeface="Helvetica Neue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>
                <a:sym typeface="Helvetica Neue"/>
              </a:rPr>
              <a:t>Socios</a:t>
            </a:r>
            <a:r>
              <a:rPr lang="en-US" b="0" dirty="0">
                <a:sym typeface="Helvetica Neue"/>
              </a:rPr>
              <a:t> que </a:t>
            </a:r>
            <a:r>
              <a:rPr lang="en-US" b="0" dirty="0" err="1">
                <a:sym typeface="Helvetica Neue"/>
              </a:rPr>
              <a:t>utilizan</a:t>
            </a:r>
            <a:r>
              <a:rPr lang="en-US" b="0" dirty="0">
                <a:sym typeface="Helvetica Neue"/>
              </a:rPr>
              <a:t> </a:t>
            </a:r>
            <a:r>
              <a:rPr lang="en-US" b="0" dirty="0" err="1">
                <a:sym typeface="Helvetica Neue"/>
              </a:rPr>
              <a:t>los</a:t>
            </a:r>
            <a:r>
              <a:rPr lang="en-US" b="0" dirty="0">
                <a:sym typeface="Helvetica Neue"/>
              </a:rPr>
              <a:t> </a:t>
            </a:r>
            <a:r>
              <a:rPr lang="en-US" b="0" dirty="0" err="1">
                <a:sym typeface="Helvetica Neue"/>
              </a:rPr>
              <a:t>tres</a:t>
            </a:r>
            <a:r>
              <a:rPr lang="en-US" b="0" dirty="0">
                <a:sym typeface="Helvetica Neue"/>
              </a:rPr>
              <a:t> </a:t>
            </a:r>
            <a:r>
              <a:rPr lang="en-US" b="0" dirty="0" err="1">
                <a:sym typeface="Helvetica Neue"/>
              </a:rPr>
              <a:t>servicios</a:t>
            </a:r>
            <a:r>
              <a:rPr lang="en-US" b="0" dirty="0">
                <a:sym typeface="Helvetica Neue"/>
              </a:rPr>
              <a:t>: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>
                <a:sym typeface="Helvetica Neue"/>
              </a:rPr>
              <a:t>Socios</a:t>
            </a:r>
            <a:r>
              <a:rPr lang="en-US" b="0" dirty="0">
                <a:sym typeface="Helvetica Neue"/>
              </a:rPr>
              <a:t> que </a:t>
            </a:r>
            <a:r>
              <a:rPr lang="en-US" b="0" dirty="0" err="1">
                <a:sym typeface="Helvetica Neue"/>
              </a:rPr>
              <a:t>utilizan</a:t>
            </a:r>
            <a:r>
              <a:rPr lang="en-US" b="0" dirty="0">
                <a:sym typeface="Helvetica Neue"/>
              </a:rPr>
              <a:t> solo uno de </a:t>
            </a:r>
            <a:r>
              <a:rPr lang="en-US" b="0" dirty="0" err="1">
                <a:sym typeface="Helvetica Neue"/>
              </a:rPr>
              <a:t>los</a:t>
            </a:r>
            <a:r>
              <a:rPr lang="en-US" b="0" dirty="0">
                <a:sym typeface="Helvetica Neue"/>
              </a:rPr>
              <a:t> </a:t>
            </a:r>
            <a:r>
              <a:rPr lang="en-US" b="0" dirty="0" err="1">
                <a:sym typeface="Helvetica Neue"/>
              </a:rPr>
              <a:t>servicios</a:t>
            </a:r>
            <a:r>
              <a:rPr lang="en-US" b="0" dirty="0">
                <a:sym typeface="Helvetica Neue"/>
              </a:rPr>
              <a:t>: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{'Elena', 'Sofía', 'Luis'}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>
                <a:sym typeface="Helvetica Neue"/>
              </a:rPr>
              <a:t>Socios</a:t>
            </a:r>
            <a:r>
              <a:rPr lang="en-US" b="0" dirty="0">
                <a:sym typeface="Helvetica Neue"/>
              </a:rPr>
              <a:t> que </a:t>
            </a:r>
            <a:r>
              <a:rPr lang="en-US" b="0" dirty="0" err="1">
                <a:sym typeface="Helvetica Neue"/>
              </a:rPr>
              <a:t>utilizan</a:t>
            </a:r>
            <a:r>
              <a:rPr lang="en-US" b="0" dirty="0">
                <a:sym typeface="Helvetica Neue"/>
              </a:rPr>
              <a:t> </a:t>
            </a:r>
            <a:r>
              <a:rPr lang="en-US" b="0" dirty="0" err="1">
                <a:sym typeface="Helvetica Neue"/>
              </a:rPr>
              <a:t>exactamente</a:t>
            </a:r>
            <a:r>
              <a:rPr lang="en-US" b="0" dirty="0">
                <a:sym typeface="Helvetica Neue"/>
              </a:rPr>
              <a:t> dos </a:t>
            </a:r>
            <a:r>
              <a:rPr lang="en-US" b="0" dirty="0" err="1">
                <a:sym typeface="Helvetica Neue"/>
              </a:rPr>
              <a:t>servicios</a:t>
            </a:r>
            <a:r>
              <a:rPr lang="en-US" b="0" dirty="0">
                <a:sym typeface="Helvetica Neue"/>
              </a:rPr>
              <a:t>: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{'Ana', 'Carlos', 'Beatriz', 'David', 'Fernando'}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sym typeface="Helvetica Neue"/>
              </a:rPr>
              <a:t>Total de </a:t>
            </a:r>
            <a:r>
              <a:rPr lang="en-US" b="0" dirty="0" err="1">
                <a:sym typeface="Helvetica Neue"/>
              </a:rPr>
              <a:t>socios</a:t>
            </a:r>
            <a:r>
              <a:rPr lang="en-US" b="0" dirty="0">
                <a:sym typeface="Helvetica Neue"/>
              </a:rPr>
              <a:t> que </a:t>
            </a:r>
            <a:r>
              <a:rPr lang="en-US" b="0" dirty="0" err="1">
                <a:sym typeface="Helvetica Neue"/>
              </a:rPr>
              <a:t>utilizan</a:t>
            </a:r>
            <a:r>
              <a:rPr lang="en-US" b="0" dirty="0">
                <a:sym typeface="Helvetica Neue"/>
              </a:rPr>
              <a:t> al </a:t>
            </a:r>
            <a:r>
              <a:rPr lang="en-US" b="0" dirty="0" err="1">
                <a:sym typeface="Helvetica Neue"/>
              </a:rPr>
              <a:t>menos</a:t>
            </a:r>
            <a:r>
              <a:rPr lang="en-US" b="0" dirty="0">
                <a:sym typeface="Helvetica Neue"/>
              </a:rPr>
              <a:t> un </a:t>
            </a:r>
            <a:r>
              <a:rPr lang="en-US" b="0" dirty="0" err="1">
                <a:sym typeface="Helvetica Neue"/>
              </a:rPr>
              <a:t>servicio</a:t>
            </a:r>
            <a:r>
              <a:rPr lang="en-US" b="0" dirty="0">
                <a:sym typeface="Helvetica Neue"/>
              </a:rPr>
              <a:t>: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>
                <a:sym typeface="Helvetica Neue"/>
              </a:rPr>
              <a:t>Socios</a:t>
            </a:r>
            <a:r>
              <a:rPr lang="en-US" b="0" dirty="0">
                <a:sym typeface="Helvetica Neue"/>
              </a:rPr>
              <a:t> que </a:t>
            </a:r>
            <a:r>
              <a:rPr lang="en-US" b="0" dirty="0" err="1">
                <a:sym typeface="Helvetica Neue"/>
              </a:rPr>
              <a:t>utilizan</a:t>
            </a:r>
            <a:r>
              <a:rPr lang="en-US" b="0" dirty="0">
                <a:sym typeface="Helvetica Neue"/>
              </a:rPr>
              <a:t> </a:t>
            </a:r>
            <a:r>
              <a:rPr lang="en-US" b="0" dirty="0" err="1">
                <a:sym typeface="Helvetica Neue"/>
              </a:rPr>
              <a:t>más</a:t>
            </a:r>
            <a:r>
              <a:rPr lang="en-US" b="0" dirty="0">
                <a:sym typeface="Helvetica Neue"/>
              </a:rPr>
              <a:t> de un </a:t>
            </a:r>
            <a:r>
              <a:rPr lang="en-US" b="0" dirty="0" err="1">
                <a:sym typeface="Helvetica Neue"/>
              </a:rPr>
              <a:t>servicio</a:t>
            </a:r>
            <a:r>
              <a:rPr lang="en-US" b="0" dirty="0">
                <a:sym typeface="Helvetica Neue"/>
              </a:rPr>
              <a:t>: </a:t>
            </a:r>
            <a:r>
              <a:rPr lang="en-US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{'Ana', 'Carlos', 'Beatriz', 'David', 'Fernando'}</a:t>
            </a:r>
            <a:endParaRPr lang="en-US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23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4609-CC6F-74CD-069D-04C7DFF6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BE0DAB49-E9A4-F021-B5A6-CDEB4B078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80532E6F-053C-4F74-A6F0-F9DDCBA1ABF1}"/>
              </a:ext>
            </a:extLst>
          </p:cNvPr>
          <p:cNvSpPr txBox="1"/>
          <p:nvPr/>
        </p:nvSpPr>
        <p:spPr>
          <a:xfrm>
            <a:off x="2586268" y="3979451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AA2BFA5C-4896-0317-38DB-B31BC03E0020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02 - Solución</a:t>
            </a:r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6E8F44A6-2155-108B-140D-D5BC3927B3F8}"/>
              </a:ext>
            </a:extLst>
          </p:cNvPr>
          <p:cNvSpPr txBox="1"/>
          <p:nvPr/>
        </p:nvSpPr>
        <p:spPr>
          <a:xfrm>
            <a:off x="3269126" y="1111999"/>
            <a:ext cx="5874874" cy="4028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Listas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{“Ana”, “Carlos”, “Beatriz”, “David”, "Elena”}</a:t>
            </a: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{“Carlos", "Beatriz”, “Fernando”, “Sofía”}</a:t>
            </a: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{“Ana”, “Fernando”, “David”, “Luis”}</a:t>
            </a: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1.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intersección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“Socios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}”)</a:t>
            </a: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2.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solo un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diferencia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simétrica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entre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solo_clases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solo_un_servicio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solo_clases</a:t>
            </a:r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f“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solo un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solo_un_servicio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}”)</a:t>
            </a: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6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6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6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2" name="CuadroTexto 2">
            <a:extLst>
              <a:ext uri="{FF2B5EF4-FFF2-40B4-BE49-F238E27FC236}">
                <a16:creationId xmlns:a16="http://schemas.microsoft.com/office/drawing/2014/main" id="{AD63A4E3-229C-59FF-C574-8CCC8BF3C7D5}"/>
              </a:ext>
            </a:extLst>
          </p:cNvPr>
          <p:cNvSpPr txBox="1"/>
          <p:nvPr/>
        </p:nvSpPr>
        <p:spPr>
          <a:xfrm>
            <a:off x="0" y="1111999"/>
            <a:ext cx="3266412" cy="40991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Listas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{"Ana", "Carlos", "Beatriz", "David", "Elena"}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{"Carlos", "Beatriz", "Fernando", "Sofía"}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{"Ana", "Fernando", "David", "Luis"}</a:t>
            </a:r>
          </a:p>
          <a:p>
            <a:endParaRPr lang="en-US" sz="4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1.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intersección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2.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solo un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diferencia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simétrica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entre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solo_un_servicio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solo_clases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solo un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solo_un_servicio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3.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exactamente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dos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dos_servicios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(</a:t>
            </a:r>
          </a:p>
          <a:p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  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</a:p>
          <a:p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  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</a:p>
          <a:p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  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exactamente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dos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dos_servicios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4. Total de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al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menos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un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unión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total_socios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f"Total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al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menos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un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len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total_socios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5.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más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un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mas_de_un_servicio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dos_servicios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más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un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mas_de_un_servicio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099914-4E5E-4BB1-83B9-70A3C1D0F8B6}"/>
              </a:ext>
            </a:extLst>
          </p:cNvPr>
          <p:cNvSpPr/>
          <p:nvPr/>
        </p:nvSpPr>
        <p:spPr>
          <a:xfrm>
            <a:off x="42864" y="1111999"/>
            <a:ext cx="3150392" cy="1816940"/>
          </a:xfrm>
          <a:prstGeom prst="roundRect">
            <a:avLst>
              <a:gd name="adj" fmla="val 6236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46217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F97F-C8A0-7744-48F3-DDE221FE7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BD6AE4A9-F201-6990-DD03-9A40FB9EA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F01FE87D-EB3A-CAAC-78D1-BE65D8E37808}"/>
              </a:ext>
            </a:extLst>
          </p:cNvPr>
          <p:cNvSpPr txBox="1"/>
          <p:nvPr/>
        </p:nvSpPr>
        <p:spPr>
          <a:xfrm>
            <a:off x="2586268" y="3979451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862D3C19-EF39-F656-F4DE-64DF3C27AEED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02 - Solución</a:t>
            </a:r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C4AA60C6-45AB-4992-2231-D7CE5B69CDB2}"/>
              </a:ext>
            </a:extLst>
          </p:cNvPr>
          <p:cNvSpPr txBox="1"/>
          <p:nvPr/>
        </p:nvSpPr>
        <p:spPr>
          <a:xfrm>
            <a:off x="3269126" y="1111999"/>
            <a:ext cx="5874874" cy="4137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3.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exactamente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dos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dos_servicios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(</a:t>
            </a:r>
          </a:p>
          <a:p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   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 |</a:t>
            </a:r>
          </a:p>
          <a:p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   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 |</a:t>
            </a:r>
          </a:p>
          <a:p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   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f“Socios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exactamente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dos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dos_servicios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}”)</a:t>
            </a: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4. Total de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al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menos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un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unión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total_socios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f“Total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al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menos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un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len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total_socios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)}”)</a:t>
            </a: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5.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más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un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mas_de_un_servicio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dos_servicios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f“Socios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más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un 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9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mas_de_un_servicio</a:t>
            </a:r>
            <a:r>
              <a:rPr lang="en-US" sz="9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}”)</a:t>
            </a: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9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2" name="CuadroTexto 2">
            <a:extLst>
              <a:ext uri="{FF2B5EF4-FFF2-40B4-BE49-F238E27FC236}">
                <a16:creationId xmlns:a16="http://schemas.microsoft.com/office/drawing/2014/main" id="{68187C5C-83BD-E2D2-0387-B1B8071AAACC}"/>
              </a:ext>
            </a:extLst>
          </p:cNvPr>
          <p:cNvSpPr txBox="1"/>
          <p:nvPr/>
        </p:nvSpPr>
        <p:spPr>
          <a:xfrm>
            <a:off x="0" y="1111999"/>
            <a:ext cx="3266412" cy="40991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Listas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{"Ana", "Carlos", "Beatriz", "David", "Elena"}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{"Carlos", "Beatriz", "Fernando", "Sofía"}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{"Ana", "Fernando", "David", "Luis"}</a:t>
            </a:r>
          </a:p>
          <a:p>
            <a:endParaRPr lang="en-US" sz="4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1.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intersección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2.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solo un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diferencia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simétrica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entre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solo_un_servicio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solo_clases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solo un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solo_un_servicio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3.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exactamente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dos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dos_servicios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(</a:t>
            </a:r>
          </a:p>
          <a:p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  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</a:p>
          <a:p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  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</a:p>
          <a:p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   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&amp;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-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exactamente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dos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dos_servicios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4. Total de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al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menos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un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unión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</a:t>
            </a: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total_socios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socios_gimnasio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socios_piscina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socios_clases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f"Total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al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menos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un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len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total_socios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)}")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# 5.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Socios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más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un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mas_de_un_servicio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=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dos_servicios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|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tres_servicios</a:t>
            </a:r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print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(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f"Socios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que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utilizan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más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 de un 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: {</a:t>
            </a:r>
            <a:r>
              <a:rPr lang="en-US" sz="500" b="0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mas_de_un_servicio</a:t>
            </a:r>
            <a:r>
              <a:rPr lang="en-US" sz="500" b="0" dirty="0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}")</a:t>
            </a: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  <a:p>
            <a:endParaRPr lang="en-US" sz="500" b="0" dirty="0">
              <a:latin typeface="Courier New" panose="02070309020205020404" pitchFamily="49" charset="0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F8EAE-7379-DD90-6D28-00179FC68605}"/>
              </a:ext>
            </a:extLst>
          </p:cNvPr>
          <p:cNvSpPr/>
          <p:nvPr/>
        </p:nvSpPr>
        <p:spPr>
          <a:xfrm flipV="1">
            <a:off x="42864" y="2950368"/>
            <a:ext cx="3150392" cy="1864519"/>
          </a:xfrm>
          <a:prstGeom prst="roundRect">
            <a:avLst>
              <a:gd name="adj" fmla="val 6236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08825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CDB7-5922-B054-5C79-C1CA15F1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48B3D8DA-D25B-299F-5154-4E605B249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8879E6D-B12F-6B4C-5574-268BCABA03BA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Módulo 02: Tupas</a:t>
            </a:r>
          </a:p>
        </p:txBody>
      </p:sp>
    </p:spTree>
    <p:extLst>
      <p:ext uri="{BB962C8B-B14F-4D97-AF65-F5344CB8AC3E}">
        <p14:creationId xmlns:p14="http://schemas.microsoft.com/office/powerpoint/2010/main" val="2322257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87420-2D97-7700-623C-2643F71E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3394CEF3-6109-56D0-B0A3-DEF1D453A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8FC22144-DA47-9A0D-AB39-FB97B89542C0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3513E898-90D1-0057-0286-D65F0A030C4D}"/>
              </a:ext>
            </a:extLst>
          </p:cNvPr>
          <p:cNvSpPr txBox="1"/>
          <p:nvPr/>
        </p:nvSpPr>
        <p:spPr>
          <a:xfrm>
            <a:off x="461033" y="748219"/>
            <a:ext cx="2344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Tuplas</a:t>
            </a:r>
            <a:endParaRPr lang="es-CL" sz="2000" dirty="0"/>
          </a:p>
        </p:txBody>
      </p:sp>
      <p:sp>
        <p:nvSpPr>
          <p:cNvPr id="31" name="CuadroTexto 6">
            <a:extLst>
              <a:ext uri="{FF2B5EF4-FFF2-40B4-BE49-F238E27FC236}">
                <a16:creationId xmlns:a16="http://schemas.microsoft.com/office/drawing/2014/main" id="{6131D8AE-E29E-5F7D-65C0-03C6855F6619}"/>
              </a:ext>
            </a:extLst>
          </p:cNvPr>
          <p:cNvSpPr txBox="1"/>
          <p:nvPr/>
        </p:nvSpPr>
        <p:spPr>
          <a:xfrm>
            <a:off x="461033" y="1142949"/>
            <a:ext cx="8417644" cy="135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tuplas son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permiten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almacenar datos 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manera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similar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las listas, pero con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dos diferencias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(a) son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inmutables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lo que significa que no pueden ser modificadas una vez declaradas, y (b) la inicialización se realiza con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paréntesis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ES" sz="1400" b="1" u="none" strike="noStrike" cap="none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()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diferencia de las listas que se realiza con </a:t>
            </a:r>
            <a:r>
              <a:rPr lang="es-ES" sz="1400" b="1" u="none" strike="noStrike" cap="none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[]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CF721F0-2464-470E-1632-44EF4B7E76D4}"/>
              </a:ext>
            </a:extLst>
          </p:cNvPr>
          <p:cNvGrpSpPr/>
          <p:nvPr/>
        </p:nvGrpSpPr>
        <p:grpSpPr>
          <a:xfrm>
            <a:off x="596907" y="2672366"/>
            <a:ext cx="2169758" cy="1092607"/>
            <a:chOff x="580675" y="3198468"/>
            <a:chExt cx="2169758" cy="1092607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A5DBD109-89BA-D988-59C9-C154B1FFF1E9}"/>
                </a:ext>
              </a:extLst>
            </p:cNvPr>
            <p:cNvSpPr txBox="1"/>
            <p:nvPr/>
          </p:nvSpPr>
          <p:spPr>
            <a:xfrm>
              <a:off x="1279720" y="3198468"/>
              <a:ext cx="1470713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Tupla vacía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6" name="CuadroTexto 9">
              <a:extLst>
                <a:ext uri="{FF2B5EF4-FFF2-40B4-BE49-F238E27FC236}">
                  <a16:creationId xmlns:a16="http://schemas.microsoft.com/office/drawing/2014/main" id="{5FADD767-737C-9AC6-0BF7-A947F24AC9E0}"/>
                </a:ext>
              </a:extLst>
            </p:cNvPr>
            <p:cNvSpPr txBox="1"/>
            <p:nvPr/>
          </p:nvSpPr>
          <p:spPr>
            <a:xfrm>
              <a:off x="580675" y="3506245"/>
              <a:ext cx="2169758" cy="7848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1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()       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Tupla vacía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2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  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Tupla vacía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FB334CB-6A07-26E6-0EC6-48C8AA950D15}"/>
              </a:ext>
            </a:extLst>
          </p:cNvPr>
          <p:cNvGrpSpPr/>
          <p:nvPr/>
        </p:nvGrpSpPr>
        <p:grpSpPr>
          <a:xfrm>
            <a:off x="2977737" y="2656265"/>
            <a:ext cx="2169759" cy="1092607"/>
            <a:chOff x="580675" y="3198468"/>
            <a:chExt cx="2169759" cy="1092607"/>
          </a:xfrm>
        </p:grpSpPr>
        <p:sp>
          <p:nvSpPr>
            <p:cNvPr id="7" name="CuadroTexto 4">
              <a:extLst>
                <a:ext uri="{FF2B5EF4-FFF2-40B4-BE49-F238E27FC236}">
                  <a16:creationId xmlns:a16="http://schemas.microsoft.com/office/drawing/2014/main" id="{F34297C4-3C38-A6C2-5663-7C87D98CAD7C}"/>
                </a:ext>
              </a:extLst>
            </p:cNvPr>
            <p:cNvSpPr txBox="1"/>
            <p:nvPr/>
          </p:nvSpPr>
          <p:spPr>
            <a:xfrm>
              <a:off x="638313" y="3198468"/>
              <a:ext cx="211212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Tupla con un elemento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8" name="CuadroTexto 9">
              <a:extLst>
                <a:ext uri="{FF2B5EF4-FFF2-40B4-BE49-F238E27FC236}">
                  <a16:creationId xmlns:a16="http://schemas.microsoft.com/office/drawing/2014/main" id="{DD90168C-ECF8-CED0-FCE3-114343B47CE8}"/>
                </a:ext>
              </a:extLst>
            </p:cNvPr>
            <p:cNvSpPr txBox="1"/>
            <p:nvPr/>
          </p:nvSpPr>
          <p:spPr>
            <a:xfrm>
              <a:off x="580675" y="3506245"/>
              <a:ext cx="2169758" cy="7848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1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(“A”)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2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(“A”)</a:t>
              </a:r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70D933-3FF8-6CAA-CBAE-0154DB00EEB7}"/>
              </a:ext>
            </a:extLst>
          </p:cNvPr>
          <p:cNvGrpSpPr/>
          <p:nvPr/>
        </p:nvGrpSpPr>
        <p:grpSpPr>
          <a:xfrm>
            <a:off x="5358566" y="1910720"/>
            <a:ext cx="3520111" cy="3031600"/>
            <a:chOff x="-769676" y="3198468"/>
            <a:chExt cx="3520111" cy="3031600"/>
          </a:xfrm>
        </p:grpSpPr>
        <p:sp>
          <p:nvSpPr>
            <p:cNvPr id="12" name="CuadroTexto 4">
              <a:extLst>
                <a:ext uri="{FF2B5EF4-FFF2-40B4-BE49-F238E27FC236}">
                  <a16:creationId xmlns:a16="http://schemas.microsoft.com/office/drawing/2014/main" id="{18752E31-8A00-6070-4CF6-B7514374A297}"/>
                </a:ext>
              </a:extLst>
            </p:cNvPr>
            <p:cNvSpPr txBox="1"/>
            <p:nvPr/>
          </p:nvSpPr>
          <p:spPr>
            <a:xfrm>
              <a:off x="34488" y="3198468"/>
              <a:ext cx="2715947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Tupla con varios elementos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13" name="CuadroTexto 9">
              <a:extLst>
                <a:ext uri="{FF2B5EF4-FFF2-40B4-BE49-F238E27FC236}">
                  <a16:creationId xmlns:a16="http://schemas.microsoft.com/office/drawing/2014/main" id="{5D96D896-06C2-8B75-49FD-31C41D8303E5}"/>
                </a:ext>
              </a:extLst>
            </p:cNvPr>
            <p:cNvSpPr txBox="1"/>
            <p:nvPr/>
          </p:nvSpPr>
          <p:spPr>
            <a:xfrm>
              <a:off x="-769676" y="3506245"/>
              <a:ext cx="3520109" cy="27238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1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(“A”, “B”, 10)</a:t>
              </a:r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2 - Sin paréntesis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“A” , “B”, 10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3a – Desde otra tupla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((“A” , “B”, 10))</a:t>
              </a:r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3b – Desde otra tupla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((“A” , “B”, 10))</a:t>
              </a:r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(“A” , “B”, 10))</a:t>
              </a:r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4 – Desde una lista o conjunto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([“A” , “B”, 10])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({“A” , “B”, 10})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5 – Desde una cadena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 =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(“AB10”)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 (‘A’, ‘B’, ‘1’, ‘0’)</a:t>
              </a:r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4" name="CuadroTexto 6">
            <a:extLst>
              <a:ext uri="{FF2B5EF4-FFF2-40B4-BE49-F238E27FC236}">
                <a16:creationId xmlns:a16="http://schemas.microsoft.com/office/drawing/2014/main" id="{EB829E65-4682-26DD-654F-D0F29606FC13}"/>
              </a:ext>
            </a:extLst>
          </p:cNvPr>
          <p:cNvSpPr txBox="1"/>
          <p:nvPr/>
        </p:nvSpPr>
        <p:spPr>
          <a:xfrm>
            <a:off x="596907" y="3894363"/>
            <a:ext cx="4550588" cy="10216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la </a:t>
            </a:r>
            <a:r>
              <a:rPr lang="es-CL" sz="1400" b="1">
                <a:latin typeface="Courier New" panose="02070309020205020404" pitchFamily="49" charset="0"/>
                <a:cs typeface="Courier New" panose="02070309020205020404" pitchFamily="49" charset="0"/>
              </a:rPr>
              <a:t>Forma 2</a:t>
            </a:r>
            <a:r>
              <a:rPr lang="es-E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s-E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los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paréntesis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()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son opcionales, excepto en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tuplas vacías 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cuando se quiere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evitar ambigüedad 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la sintaxis. 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7914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216A-C7F8-596C-56DE-63F29BCAE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0C2E07D8-BA0B-8ABD-C27F-2958B67D8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CA736E53-B397-C606-1D82-E206C873DE87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71AB6C84-8B48-2F80-6B2F-A3E74740CDC5}"/>
              </a:ext>
            </a:extLst>
          </p:cNvPr>
          <p:cNvSpPr txBox="1"/>
          <p:nvPr/>
        </p:nvSpPr>
        <p:spPr>
          <a:xfrm>
            <a:off x="461033" y="748219"/>
            <a:ext cx="3104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Tuplas - Operaciones</a:t>
            </a:r>
            <a:endParaRPr lang="es-CL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B46415-0146-A5C0-D189-1D5724AAE240}"/>
              </a:ext>
            </a:extLst>
          </p:cNvPr>
          <p:cNvGrpSpPr/>
          <p:nvPr/>
        </p:nvGrpSpPr>
        <p:grpSpPr>
          <a:xfrm>
            <a:off x="461033" y="1400863"/>
            <a:ext cx="2606806" cy="677109"/>
            <a:chOff x="477265" y="3198468"/>
            <a:chExt cx="2606806" cy="677109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32BA7C07-8221-AFFA-20CD-58E618A1A435}"/>
                </a:ext>
              </a:extLst>
            </p:cNvPr>
            <p:cNvSpPr txBox="1"/>
            <p:nvPr/>
          </p:nvSpPr>
          <p:spPr>
            <a:xfrm>
              <a:off x="1279720" y="3198468"/>
              <a:ext cx="180435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Acceso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6" name="CuadroTexto 9">
              <a:extLst>
                <a:ext uri="{FF2B5EF4-FFF2-40B4-BE49-F238E27FC236}">
                  <a16:creationId xmlns:a16="http://schemas.microsoft.com/office/drawing/2014/main" id="{D6F3BB0A-62C8-EF3B-8AA1-B5347E7404EF}"/>
                </a:ext>
              </a:extLst>
            </p:cNvPr>
            <p:cNvSpPr txBox="1"/>
            <p:nvPr/>
          </p:nvSpPr>
          <p:spPr>
            <a:xfrm>
              <a:off x="477265" y="3506245"/>
              <a:ext cx="2606806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(10, 20, 30)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[1])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20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D0A29E-A989-A5AE-8CBD-5C9677AC766A}"/>
              </a:ext>
            </a:extLst>
          </p:cNvPr>
          <p:cNvGrpSpPr/>
          <p:nvPr/>
        </p:nvGrpSpPr>
        <p:grpSpPr>
          <a:xfrm>
            <a:off x="3278344" y="2342876"/>
            <a:ext cx="5703671" cy="2339102"/>
            <a:chOff x="-769676" y="3198468"/>
            <a:chExt cx="3520111" cy="2339102"/>
          </a:xfrm>
        </p:grpSpPr>
        <p:sp>
          <p:nvSpPr>
            <p:cNvPr id="12" name="CuadroTexto 4">
              <a:extLst>
                <a:ext uri="{FF2B5EF4-FFF2-40B4-BE49-F238E27FC236}">
                  <a16:creationId xmlns:a16="http://schemas.microsoft.com/office/drawing/2014/main" id="{1D259411-11E2-D98C-15EC-909301A87C6D}"/>
                </a:ext>
              </a:extLst>
            </p:cNvPr>
            <p:cNvSpPr txBox="1"/>
            <p:nvPr/>
          </p:nvSpPr>
          <p:spPr>
            <a:xfrm>
              <a:off x="34488" y="3198468"/>
              <a:ext cx="2715947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Conversión de tuplas a listas y viceversa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13" name="CuadroTexto 9">
              <a:extLst>
                <a:ext uri="{FF2B5EF4-FFF2-40B4-BE49-F238E27FC236}">
                  <a16:creationId xmlns:a16="http://schemas.microsoft.com/office/drawing/2014/main" id="{4C3184C3-C2BF-3FE0-682A-67B723CBA890}"/>
                </a:ext>
              </a:extLst>
            </p:cNvPr>
            <p:cNvSpPr txBox="1"/>
            <p:nvPr/>
          </p:nvSpPr>
          <p:spPr>
            <a:xfrm>
              <a:off x="-769676" y="3506245"/>
              <a:ext cx="3520109" cy="20313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(1, 2, 3)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Convertir a lista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mi_lista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list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Modificar la lista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mi_lista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[0] = 10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Convertir de vuelta a tupla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tuple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mi_lista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  # Salida: (10, 2, 3)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0D3FA9E-BC5C-6DF8-57CF-1154AE52DC0F}"/>
              </a:ext>
            </a:extLst>
          </p:cNvPr>
          <p:cNvGrpSpPr/>
          <p:nvPr/>
        </p:nvGrpSpPr>
        <p:grpSpPr>
          <a:xfrm>
            <a:off x="461034" y="2342155"/>
            <a:ext cx="2606804" cy="815608"/>
            <a:chOff x="477266" y="3198468"/>
            <a:chExt cx="2606804" cy="815608"/>
          </a:xfrm>
        </p:grpSpPr>
        <p:sp>
          <p:nvSpPr>
            <p:cNvPr id="10" name="CuadroTexto 4">
              <a:extLst>
                <a:ext uri="{FF2B5EF4-FFF2-40B4-BE49-F238E27FC236}">
                  <a16:creationId xmlns:a16="http://schemas.microsoft.com/office/drawing/2014/main" id="{B653D2FE-3DC8-7952-B5DA-7EC3548BA5FF}"/>
                </a:ext>
              </a:extLst>
            </p:cNvPr>
            <p:cNvSpPr txBox="1"/>
            <p:nvPr/>
          </p:nvSpPr>
          <p:spPr>
            <a:xfrm>
              <a:off x="1065898" y="3198468"/>
              <a:ext cx="201817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 err="1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Desempaquetación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15" name="CuadroTexto 9">
              <a:extLst>
                <a:ext uri="{FF2B5EF4-FFF2-40B4-BE49-F238E27FC236}">
                  <a16:creationId xmlns:a16="http://schemas.microsoft.com/office/drawing/2014/main" id="{007578F9-0925-9E65-9226-254AF8C46E7E}"/>
                </a:ext>
              </a:extLst>
            </p:cNvPr>
            <p:cNvSpPr txBox="1"/>
            <p:nvPr/>
          </p:nvSpPr>
          <p:spPr>
            <a:xfrm>
              <a:off x="477266" y="3506245"/>
              <a:ext cx="2606804" cy="5078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(1, 2, 3)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a, b, c = 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a,b,c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1, 2, 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CA99BB-C121-3FE2-42A7-52409B25E62C}"/>
              </a:ext>
            </a:extLst>
          </p:cNvPr>
          <p:cNvGrpSpPr/>
          <p:nvPr/>
        </p:nvGrpSpPr>
        <p:grpSpPr>
          <a:xfrm>
            <a:off x="461034" y="3428162"/>
            <a:ext cx="2606804" cy="1231107"/>
            <a:chOff x="477266" y="3198468"/>
            <a:chExt cx="2606804" cy="1231107"/>
          </a:xfrm>
        </p:grpSpPr>
        <p:sp>
          <p:nvSpPr>
            <p:cNvPr id="17" name="CuadroTexto 4">
              <a:extLst>
                <a:ext uri="{FF2B5EF4-FFF2-40B4-BE49-F238E27FC236}">
                  <a16:creationId xmlns:a16="http://schemas.microsoft.com/office/drawing/2014/main" id="{AD2C0842-9A5D-BE92-B157-4DF90C20550C}"/>
                </a:ext>
              </a:extLst>
            </p:cNvPr>
            <p:cNvSpPr txBox="1"/>
            <p:nvPr/>
          </p:nvSpPr>
          <p:spPr>
            <a:xfrm>
              <a:off x="1065898" y="3198468"/>
              <a:ext cx="201817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Concatenación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19" name="CuadroTexto 9">
              <a:extLst>
                <a:ext uri="{FF2B5EF4-FFF2-40B4-BE49-F238E27FC236}">
                  <a16:creationId xmlns:a16="http://schemas.microsoft.com/office/drawing/2014/main" id="{ECC12571-5D49-5F54-B144-63756902FA3F}"/>
                </a:ext>
              </a:extLst>
            </p:cNvPr>
            <p:cNvSpPr txBox="1"/>
            <p:nvPr/>
          </p:nvSpPr>
          <p:spPr>
            <a:xfrm>
              <a:off x="477266" y="3506245"/>
              <a:ext cx="2606804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mi_tupla1 = (1, 2)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mi_tupla2 = (3, 4)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 = mi_tupla1 + mi_tupla2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(r)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(1, 2, 3, 4)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B726C1D-5282-FBD3-C341-077717B192AD}"/>
              </a:ext>
            </a:extLst>
          </p:cNvPr>
          <p:cNvGrpSpPr/>
          <p:nvPr/>
        </p:nvGrpSpPr>
        <p:grpSpPr>
          <a:xfrm>
            <a:off x="3278344" y="1394957"/>
            <a:ext cx="2746583" cy="677109"/>
            <a:chOff x="477264" y="3198468"/>
            <a:chExt cx="2746583" cy="677109"/>
          </a:xfrm>
        </p:grpSpPr>
        <p:sp>
          <p:nvSpPr>
            <p:cNvPr id="21" name="CuadroTexto 4">
              <a:extLst>
                <a:ext uri="{FF2B5EF4-FFF2-40B4-BE49-F238E27FC236}">
                  <a16:creationId xmlns:a16="http://schemas.microsoft.com/office/drawing/2014/main" id="{79F6D4EB-DA2D-AD57-6B1E-9560E2CB8494}"/>
                </a:ext>
              </a:extLst>
            </p:cNvPr>
            <p:cNvSpPr txBox="1"/>
            <p:nvPr/>
          </p:nvSpPr>
          <p:spPr>
            <a:xfrm>
              <a:off x="1419496" y="3198468"/>
              <a:ext cx="180435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Pertenencia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22" name="CuadroTexto 9">
              <a:extLst>
                <a:ext uri="{FF2B5EF4-FFF2-40B4-BE49-F238E27FC236}">
                  <a16:creationId xmlns:a16="http://schemas.microsoft.com/office/drawing/2014/main" id="{8CDBDF5E-A6E4-6570-B630-F08A8B39CD60}"/>
                </a:ext>
              </a:extLst>
            </p:cNvPr>
            <p:cNvSpPr txBox="1"/>
            <p:nvPr/>
          </p:nvSpPr>
          <p:spPr>
            <a:xfrm>
              <a:off x="477264" y="3506245"/>
              <a:ext cx="274658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(1, 20, 300)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(10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False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E1D958-4762-378B-C9A1-80C59E95640E}"/>
              </a:ext>
            </a:extLst>
          </p:cNvPr>
          <p:cNvGrpSpPr/>
          <p:nvPr/>
        </p:nvGrpSpPr>
        <p:grpSpPr>
          <a:xfrm>
            <a:off x="6235432" y="1394957"/>
            <a:ext cx="2746583" cy="677109"/>
            <a:chOff x="477264" y="3198468"/>
            <a:chExt cx="2746583" cy="677109"/>
          </a:xfrm>
        </p:grpSpPr>
        <p:sp>
          <p:nvSpPr>
            <p:cNvPr id="24" name="CuadroTexto 4">
              <a:extLst>
                <a:ext uri="{FF2B5EF4-FFF2-40B4-BE49-F238E27FC236}">
                  <a16:creationId xmlns:a16="http://schemas.microsoft.com/office/drawing/2014/main" id="{887B98F7-9596-2AB4-FAF8-CE8BD5035CB0}"/>
                </a:ext>
              </a:extLst>
            </p:cNvPr>
            <p:cNvSpPr txBox="1"/>
            <p:nvPr/>
          </p:nvSpPr>
          <p:spPr>
            <a:xfrm>
              <a:off x="1419496" y="3198468"/>
              <a:ext cx="180435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Slicing (rebanado)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25" name="CuadroTexto 9">
              <a:extLst>
                <a:ext uri="{FF2B5EF4-FFF2-40B4-BE49-F238E27FC236}">
                  <a16:creationId xmlns:a16="http://schemas.microsoft.com/office/drawing/2014/main" id="{9B2FCF3A-D40E-7382-7B7F-8524462D87C1}"/>
                </a:ext>
              </a:extLst>
            </p:cNvPr>
            <p:cNvSpPr txBox="1"/>
            <p:nvPr/>
          </p:nvSpPr>
          <p:spPr>
            <a:xfrm>
              <a:off x="477264" y="3506245"/>
              <a:ext cx="274658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(1, 2, 3, 4, 5)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mi_tupla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[1:3])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(2,3)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993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D244-AA3F-0D6F-D9F5-16EC582FF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BEF44673-AAFF-A15F-332F-C03D79640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F25AEA1-0878-978D-BAA2-FB5A618DFF10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Módulo 02: Tuplas – Ejercicios</a:t>
            </a:r>
          </a:p>
        </p:txBody>
      </p:sp>
    </p:spTree>
    <p:extLst>
      <p:ext uri="{BB962C8B-B14F-4D97-AF65-F5344CB8AC3E}">
        <p14:creationId xmlns:p14="http://schemas.microsoft.com/office/powerpoint/2010/main" val="148055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5BF36-1A63-1B4E-0AA2-9E6390C57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37A54DF-3513-A756-2F6D-74E498F0C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C40C0E22-7609-9E91-5094-386FFB847063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9581A3D8-9301-8C1A-09B5-6F16A7EB2633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8A9BE5B8-2AC8-FFAD-20BB-29088D24DBF7}"/>
              </a:ext>
            </a:extLst>
          </p:cNvPr>
          <p:cNvSpPr txBox="1"/>
          <p:nvPr/>
        </p:nvSpPr>
        <p:spPr>
          <a:xfrm>
            <a:off x="461033" y="1271422"/>
            <a:ext cx="8142378" cy="2636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dirty="0"/>
              <a:t>Se </a:t>
            </a:r>
            <a:r>
              <a:rPr lang="en-US" dirty="0" err="1"/>
              <a:t>desea</a:t>
            </a:r>
            <a:r>
              <a:rPr lang="en-US" dirty="0"/>
              <a:t> </a:t>
            </a:r>
            <a:r>
              <a:rPr lang="en-US" dirty="0" err="1"/>
              <a:t>gestionar</a:t>
            </a:r>
            <a:r>
              <a:rPr lang="en-US" dirty="0"/>
              <a:t> las </a:t>
            </a:r>
            <a:r>
              <a:rPr lang="en-US" dirty="0" err="1"/>
              <a:t>calificaciones</a:t>
            </a:r>
            <a:r>
              <a:rPr lang="en-US" dirty="0"/>
              <a:t> de las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estudiantes</a:t>
            </a:r>
            <a:r>
              <a:rPr lang="en-US" dirty="0"/>
              <a:t> del </a:t>
            </a:r>
            <a:r>
              <a:rPr lang="en-US" dirty="0" err="1"/>
              <a:t>curso</a:t>
            </a:r>
            <a:r>
              <a:rPr lang="en-US" dirty="0"/>
              <a:t> de PRO 121 </a:t>
            </a:r>
            <a:r>
              <a:rPr lang="en-US" dirty="0" err="1"/>
              <a:t>Programación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Universidad de Valparaíso.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estudiante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personal y sus </a:t>
            </a:r>
            <a:r>
              <a:rPr lang="en-US" dirty="0" err="1"/>
              <a:t>notas</a:t>
            </a:r>
            <a:r>
              <a:rPr lang="en-US" dirty="0"/>
              <a:t> </a:t>
            </a:r>
            <a:r>
              <a:rPr lang="en-US" dirty="0" err="1"/>
              <a:t>registradas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evaluaciones</a:t>
            </a:r>
            <a:r>
              <a:rPr lang="en-US" dirty="0"/>
              <a:t> (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tareas</a:t>
            </a:r>
            <a:r>
              <a:rPr lang="en-US" dirty="0"/>
              <a:t>, </a:t>
            </a:r>
            <a:r>
              <a:rPr lang="en-US" dirty="0" err="1"/>
              <a:t>sumativas</a:t>
            </a:r>
            <a:r>
              <a:rPr lang="en-US" dirty="0"/>
              <a:t>, y </a:t>
            </a:r>
            <a:r>
              <a:rPr lang="en-US" dirty="0" err="1"/>
              <a:t>proyectos</a:t>
            </a:r>
            <a:r>
              <a:rPr lang="en-US" dirty="0"/>
              <a:t>). </a:t>
            </a:r>
            <a:r>
              <a:rPr lang="en-US" dirty="0" err="1"/>
              <a:t>Estas</a:t>
            </a:r>
            <a:r>
              <a:rPr lang="en-US" dirty="0"/>
              <a:t> </a:t>
            </a:r>
            <a:r>
              <a:rPr lang="en-US" dirty="0" err="1"/>
              <a:t>calificaciones</a:t>
            </a:r>
            <a:r>
              <a:rPr lang="en-US" dirty="0"/>
              <a:t> son </a:t>
            </a:r>
            <a:r>
              <a:rPr lang="en-US" b="1" dirty="0" err="1"/>
              <a:t>inmutables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</a:t>
            </a:r>
            <a:r>
              <a:rPr lang="en-US" dirty="0" err="1"/>
              <a:t>registradas</a:t>
            </a:r>
            <a:r>
              <a:rPr lang="en-US" dirty="0"/>
              <a:t>, es </a:t>
            </a:r>
            <a:r>
              <a:rPr lang="en-US" dirty="0" err="1"/>
              <a:t>decir</a:t>
            </a:r>
            <a:r>
              <a:rPr lang="en-US" dirty="0"/>
              <a:t>, no </a:t>
            </a:r>
            <a:r>
              <a:rPr lang="en-US" dirty="0" err="1"/>
              <a:t>pueden</a:t>
            </a:r>
            <a:r>
              <a:rPr lang="en-US" dirty="0"/>
              <a:t> ser </a:t>
            </a:r>
            <a:r>
              <a:rPr lang="en-US" dirty="0" err="1"/>
              <a:t>modificadas</a:t>
            </a:r>
            <a:r>
              <a:rPr lang="en-US" dirty="0"/>
              <a:t>.</a:t>
            </a:r>
          </a:p>
          <a:p>
            <a:endParaRPr lang="en-US" dirty="0">
              <a:sym typeface="Helvetica Neue"/>
            </a:endParaRPr>
          </a:p>
          <a:p>
            <a:r>
              <a:rPr lang="en-US" dirty="0"/>
              <a:t>Se </a:t>
            </a:r>
            <a:r>
              <a:rPr lang="en-US" dirty="0" err="1"/>
              <a:t>pide</a:t>
            </a:r>
            <a:r>
              <a:rPr lang="en-US" dirty="0"/>
              <a:t> que </a:t>
            </a:r>
            <a:r>
              <a:rPr lang="en-US" dirty="0" err="1"/>
              <a:t>escriba</a:t>
            </a:r>
            <a:r>
              <a:rPr lang="en-US" dirty="0"/>
              <a:t> un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Python,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b="1" i="1" dirty="0" err="1"/>
              <a:t>tuplas</a:t>
            </a:r>
            <a:r>
              <a:rPr lang="en-US" dirty="0"/>
              <a:t>. Para </a:t>
            </a:r>
            <a:r>
              <a:rPr lang="en-US" dirty="0" err="1"/>
              <a:t>ello</a:t>
            </a:r>
            <a:r>
              <a:rPr lang="en-US" dirty="0"/>
              <a:t>, se </a:t>
            </a:r>
            <a:r>
              <a:rPr lang="en-US" dirty="0" err="1"/>
              <a:t>proporcionan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estudiantes</a:t>
            </a:r>
            <a:r>
              <a:rPr lang="en-US" dirty="0"/>
              <a:t>, </a:t>
            </a:r>
            <a:r>
              <a:rPr lang="en-US" dirty="0" err="1"/>
              <a:t>donde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estudiante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: </a:t>
            </a:r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completo</a:t>
            </a:r>
            <a:r>
              <a:rPr lang="en-US" dirty="0"/>
              <a:t>, </a:t>
            </a:r>
            <a:r>
              <a:rPr lang="en-US" i="1" dirty="0" err="1"/>
              <a:t>número</a:t>
            </a:r>
            <a:r>
              <a:rPr lang="en-US" i="1" dirty="0"/>
              <a:t> de </a:t>
            </a:r>
            <a:r>
              <a:rPr lang="en-US" i="1" dirty="0" err="1"/>
              <a:t>identificación</a:t>
            </a:r>
            <a:r>
              <a:rPr lang="en-US" i="1" dirty="0"/>
              <a:t> </a:t>
            </a:r>
            <a:r>
              <a:rPr lang="en-US" dirty="0"/>
              <a:t>(ID),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tupla</a:t>
            </a:r>
            <a:r>
              <a:rPr lang="en-US" dirty="0"/>
              <a:t> con sus </a:t>
            </a:r>
            <a:r>
              <a:rPr lang="en-US" i="1" dirty="0" err="1"/>
              <a:t>calificaciones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evaluaciones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3940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3B92-67E0-932F-3506-79E76872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A4CA93C0-F671-2810-1393-A75C8AA2F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71FA606F-01DB-576F-1949-786D59944629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0B6C4E9A-6947-7F5F-9096-2EB26262BB81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02C83C47-4C5E-9ED4-261F-7850BFB3CB1F}"/>
              </a:ext>
            </a:extLst>
          </p:cNvPr>
          <p:cNvSpPr txBox="1"/>
          <p:nvPr/>
        </p:nvSpPr>
        <p:spPr>
          <a:xfrm>
            <a:off x="461033" y="1271422"/>
            <a:ext cx="8142378" cy="38596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b="1" dirty="0" err="1"/>
              <a:t>Instrucciones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en-US" sz="500" dirty="0"/>
          </a:p>
          <a:p>
            <a:r>
              <a:rPr lang="en-US" dirty="0"/>
              <a:t>1. </a:t>
            </a:r>
            <a:r>
              <a:rPr lang="en-US" b="1" dirty="0" err="1"/>
              <a:t>Definir</a:t>
            </a:r>
            <a:r>
              <a:rPr lang="en-US" b="1" dirty="0"/>
              <a:t> </a:t>
            </a:r>
            <a:r>
              <a:rPr lang="en-US" b="1" dirty="0" err="1"/>
              <a:t>tuplas</a:t>
            </a:r>
            <a:r>
              <a:rPr lang="en-US" dirty="0"/>
              <a:t>: define </a:t>
            </a:r>
            <a:r>
              <a:rPr lang="en-US" b="1" dirty="0" err="1"/>
              <a:t>una</a:t>
            </a:r>
            <a:r>
              <a:rPr lang="en-US" dirty="0"/>
              <a:t> </a:t>
            </a:r>
            <a:r>
              <a:rPr lang="en-US" dirty="0" err="1"/>
              <a:t>tupla</a:t>
            </a:r>
            <a:r>
              <a:rPr lang="en-US" dirty="0"/>
              <a:t> para </a:t>
            </a:r>
            <a:r>
              <a:rPr lang="en-US" b="1" dirty="0" err="1"/>
              <a:t>cada</a:t>
            </a:r>
            <a:r>
              <a:rPr lang="en-US" dirty="0"/>
              <a:t> </a:t>
            </a:r>
            <a:r>
              <a:rPr lang="en-US" dirty="0" err="1"/>
              <a:t>estudiante</a:t>
            </a:r>
            <a:r>
              <a:rPr lang="en-US" dirty="0"/>
              <a:t> que </a:t>
            </a:r>
            <a:r>
              <a:rPr lang="en-US" dirty="0" err="1"/>
              <a:t>incluya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i="1" dirty="0" err="1"/>
              <a:t>nombre</a:t>
            </a:r>
            <a:r>
              <a:rPr lang="en-US" dirty="0"/>
              <a:t>, </a:t>
            </a:r>
            <a:r>
              <a:rPr lang="en-US" i="1" dirty="0"/>
              <a:t>ID</a:t>
            </a:r>
            <a:r>
              <a:rPr lang="en-US" dirty="0"/>
              <a:t>, y </a:t>
            </a:r>
            <a:r>
              <a:rPr lang="en-US" dirty="0" err="1"/>
              <a:t>otra</a:t>
            </a:r>
            <a:r>
              <a:rPr lang="en-US" dirty="0"/>
              <a:t> </a:t>
            </a:r>
            <a:r>
              <a:rPr lang="en-US" dirty="0" err="1"/>
              <a:t>tupla</a:t>
            </a:r>
            <a:r>
              <a:rPr lang="en-US" dirty="0"/>
              <a:t> con sus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calificaciones</a:t>
            </a:r>
            <a:r>
              <a:rPr lang="en-US" dirty="0"/>
              <a:t>: </a:t>
            </a:r>
            <a:r>
              <a:rPr lang="en-US" dirty="0" err="1"/>
              <a:t>tarea</a:t>
            </a:r>
            <a:r>
              <a:rPr lang="en-US" dirty="0"/>
              <a:t>, </a:t>
            </a:r>
            <a:r>
              <a:rPr lang="en-US" dirty="0" err="1"/>
              <a:t>sumativa</a:t>
            </a:r>
            <a:r>
              <a:rPr lang="en-US" dirty="0"/>
              <a:t> y </a:t>
            </a:r>
            <a:r>
              <a:rPr lang="en-US" dirty="0" err="1"/>
              <a:t>proyecto</a:t>
            </a:r>
            <a:r>
              <a:rPr lang="en-US" dirty="0"/>
              <a:t> final,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:</a:t>
            </a:r>
          </a:p>
          <a:p>
            <a:endParaRPr lang="en-US" sz="500" dirty="0"/>
          </a:p>
          <a:p>
            <a:r>
              <a:rPr lang="en-US" dirty="0"/>
              <a:t>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estudiante1 = (“Juan Pérez”,“12345”, (5.3, 6.1, 6.3))</a:t>
            </a:r>
          </a:p>
          <a:p>
            <a:endParaRPr lang="en-US" sz="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2. </a:t>
            </a:r>
            <a:r>
              <a:rPr lang="en-US" b="1" dirty="0" err="1"/>
              <a:t>Calcular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</a:t>
            </a:r>
            <a:r>
              <a:rPr lang="en-US" b="1" dirty="0" err="1"/>
              <a:t>promedio</a:t>
            </a:r>
            <a:r>
              <a:rPr lang="en-US" dirty="0"/>
              <a:t>: escribe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 err="1"/>
              <a:t>función</a:t>
            </a:r>
            <a:r>
              <a:rPr lang="en-US" dirty="0"/>
              <a:t> que </a:t>
            </a:r>
            <a:r>
              <a:rPr lang="en-US" dirty="0" err="1"/>
              <a:t>reciba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parámetro</a:t>
            </a:r>
            <a:r>
              <a:rPr lang="en-US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tupla</a:t>
            </a:r>
            <a:r>
              <a:rPr lang="en-US" b="1" dirty="0"/>
              <a:t> </a:t>
            </a:r>
            <a:r>
              <a:rPr lang="en-US" dirty="0"/>
              <a:t>que </a:t>
            </a:r>
            <a:r>
              <a:rPr lang="en-US" dirty="0" err="1"/>
              <a:t>contiene</a:t>
            </a:r>
            <a:r>
              <a:rPr lang="en-US" dirty="0"/>
              <a:t> las </a:t>
            </a:r>
            <a:r>
              <a:rPr lang="en-US" dirty="0" err="1"/>
              <a:t>calificaciones</a:t>
            </a:r>
            <a:r>
              <a:rPr lang="en-US" dirty="0"/>
              <a:t> de un </a:t>
            </a:r>
            <a:r>
              <a:rPr lang="en-US" dirty="0" err="1"/>
              <a:t>estudiante</a:t>
            </a:r>
            <a:r>
              <a:rPr lang="en-US" dirty="0"/>
              <a:t> y </a:t>
            </a:r>
            <a:r>
              <a:rPr lang="en-US" b="1" dirty="0" err="1"/>
              <a:t>calcule</a:t>
            </a:r>
            <a:r>
              <a:rPr lang="en-US" dirty="0"/>
              <a:t> y </a:t>
            </a:r>
            <a:r>
              <a:rPr lang="en-US" b="1" dirty="0" err="1"/>
              <a:t>retorne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promedio</a:t>
            </a:r>
            <a:r>
              <a:rPr lang="en-US" dirty="0"/>
              <a:t> de sus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notas</a:t>
            </a:r>
            <a:r>
              <a:rPr lang="en-US" dirty="0"/>
              <a:t>.</a:t>
            </a:r>
          </a:p>
          <a:p>
            <a:endParaRPr lang="en-US" sz="500" dirty="0"/>
          </a:p>
          <a:p>
            <a:r>
              <a:rPr lang="en-US" dirty="0"/>
              <a:t>3. </a:t>
            </a:r>
            <a:r>
              <a:rPr lang="en-US" b="1" dirty="0" err="1"/>
              <a:t>Mostrar</a:t>
            </a:r>
            <a:r>
              <a:rPr lang="en-US" b="1" dirty="0"/>
              <a:t> </a:t>
            </a:r>
            <a:r>
              <a:rPr lang="en-US" b="1" dirty="0" err="1"/>
              <a:t>resumen</a:t>
            </a:r>
            <a:r>
              <a:rPr lang="en-US" b="1" dirty="0"/>
              <a:t> de </a:t>
            </a:r>
            <a:r>
              <a:rPr lang="en-US" b="1" dirty="0" err="1"/>
              <a:t>calificaciones</a:t>
            </a:r>
            <a:r>
              <a:rPr lang="en-US" dirty="0"/>
              <a:t>: </a:t>
            </a:r>
            <a:r>
              <a:rPr lang="en-US" dirty="0" err="1"/>
              <a:t>escriba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 err="1"/>
              <a:t>función</a:t>
            </a:r>
            <a:r>
              <a:rPr lang="en-US" dirty="0"/>
              <a:t> que </a:t>
            </a:r>
            <a:r>
              <a:rPr lang="en-US" dirty="0" err="1"/>
              <a:t>reciba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de </a:t>
            </a:r>
            <a:r>
              <a:rPr lang="en-US" dirty="0" err="1"/>
              <a:t>tuplas</a:t>
            </a:r>
            <a:r>
              <a:rPr lang="en-US" dirty="0"/>
              <a:t> (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tupla</a:t>
            </a:r>
            <a:r>
              <a:rPr lang="en-US" dirty="0"/>
              <a:t> es un </a:t>
            </a:r>
            <a:r>
              <a:rPr lang="en-US" dirty="0" err="1"/>
              <a:t>estudiante</a:t>
            </a:r>
            <a:r>
              <a:rPr lang="en-US" dirty="0"/>
              <a:t>) y </a:t>
            </a:r>
            <a:r>
              <a:rPr lang="en-US" b="1" dirty="0" err="1"/>
              <a:t>muestre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pantalla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i="1" dirty="0" err="1"/>
              <a:t>nombre</a:t>
            </a:r>
            <a:r>
              <a:rPr lang="en-US" dirty="0"/>
              <a:t>, </a:t>
            </a:r>
            <a:r>
              <a:rPr lang="en-US" i="1" dirty="0"/>
              <a:t>ID</a:t>
            </a:r>
            <a:r>
              <a:rPr lang="en-US" dirty="0"/>
              <a:t> y </a:t>
            </a:r>
            <a:r>
              <a:rPr lang="en-US" i="1" dirty="0" err="1"/>
              <a:t>promedio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estudiante</a:t>
            </a:r>
            <a:r>
              <a:rPr lang="en-US" dirty="0"/>
              <a:t>.</a:t>
            </a:r>
          </a:p>
          <a:p>
            <a:endParaRPr lang="en-US" sz="500" dirty="0"/>
          </a:p>
          <a:p>
            <a:r>
              <a:rPr lang="en-US" dirty="0"/>
              <a:t>4. </a:t>
            </a:r>
            <a:r>
              <a:rPr lang="en-US" b="1" dirty="0" err="1"/>
              <a:t>Filtrar</a:t>
            </a:r>
            <a:r>
              <a:rPr lang="en-US" b="1" dirty="0"/>
              <a:t> </a:t>
            </a:r>
            <a:r>
              <a:rPr lang="en-US" b="1" dirty="0" err="1"/>
              <a:t>estudiantes</a:t>
            </a:r>
            <a:r>
              <a:rPr lang="en-US" b="1" dirty="0"/>
              <a:t> </a:t>
            </a:r>
            <a:r>
              <a:rPr lang="en-US" b="1" dirty="0" err="1"/>
              <a:t>aprobados</a:t>
            </a:r>
            <a:r>
              <a:rPr lang="en-US" dirty="0"/>
              <a:t>: escribe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 err="1"/>
              <a:t>función</a:t>
            </a:r>
            <a:r>
              <a:rPr lang="en-US" dirty="0"/>
              <a:t> que </a:t>
            </a:r>
            <a:r>
              <a:rPr lang="en-US" dirty="0" err="1"/>
              <a:t>filtre</a:t>
            </a:r>
            <a:r>
              <a:rPr lang="en-US" dirty="0"/>
              <a:t> y </a:t>
            </a:r>
            <a:r>
              <a:rPr lang="en-US" dirty="0" err="1"/>
              <a:t>muestre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pantalla</a:t>
            </a:r>
            <a:r>
              <a:rPr lang="en-US" dirty="0"/>
              <a:t> </a:t>
            </a:r>
            <a:r>
              <a:rPr lang="en-US" dirty="0" err="1"/>
              <a:t>soloa</a:t>
            </a:r>
            <a:r>
              <a:rPr lang="en-US" dirty="0"/>
              <a:t> las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estudiantes</a:t>
            </a:r>
            <a:r>
              <a:rPr lang="en-US" dirty="0"/>
              <a:t> </a:t>
            </a:r>
            <a:r>
              <a:rPr lang="en-US" dirty="0" err="1"/>
              <a:t>cuyo</a:t>
            </a:r>
            <a:r>
              <a:rPr lang="en-US" dirty="0"/>
              <a:t> </a:t>
            </a:r>
            <a:r>
              <a:rPr lang="en-US" dirty="0" err="1"/>
              <a:t>promedio</a:t>
            </a:r>
            <a:r>
              <a:rPr lang="en-US" dirty="0"/>
              <a:t> sea </a:t>
            </a:r>
            <a:r>
              <a:rPr lang="en-US" b="1" dirty="0"/>
              <a:t>mayor o </a:t>
            </a:r>
            <a:r>
              <a:rPr lang="en-US" b="1" dirty="0" err="1"/>
              <a:t>igual</a:t>
            </a:r>
            <a:r>
              <a:rPr lang="en-US" b="1" dirty="0"/>
              <a:t> a 4.0 </a:t>
            </a:r>
            <a:r>
              <a:rPr lang="en-US" dirty="0"/>
              <a:t>(nota </a:t>
            </a:r>
            <a:r>
              <a:rPr lang="en-US" dirty="0" err="1"/>
              <a:t>mínima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40661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CDE2C-D8A1-1E08-BA21-9FBDC386F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D28B35BF-AFB1-6063-4DC7-F5B21E3FC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7EC17033-AD1B-AB6F-DCB9-54BDB86B13BD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8FCE56BB-7AE8-B272-ADA9-7E6618B8B217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D86C03E3-F1BD-7222-1C04-F6409CAC54C7}"/>
              </a:ext>
            </a:extLst>
          </p:cNvPr>
          <p:cNvSpPr txBox="1"/>
          <p:nvPr/>
        </p:nvSpPr>
        <p:spPr>
          <a:xfrm>
            <a:off x="461033" y="1271422"/>
            <a:ext cx="8142378" cy="39683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Tuplas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estudiante1 = (“Juan Pérez”, “12345”, (5.3, 6.1, 6.3))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estudiante2 = (“Ana Gómez”, “23456”, (4.7, 5.1, 2.7))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estudiante3 = (“Luis Torres”, “34567”, (3.5, 4.0, 3.7))</a:t>
            </a: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Lista de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tuplas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[estudiante1, estudiante2, estudiante3]</a:t>
            </a: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Función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calcular_promedio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 / 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8259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876A2-1690-BB55-1FAE-578D300A0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DD8314D7-530A-4DEF-BE44-09658B5A3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E9B37CC8-E1E7-4EDC-F946-F1B9D8E02F65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7DB4BFD2-A013-A6E1-A22A-ED891F82BB84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2EB4260B-4F63-0D81-0967-38A3D553B874}"/>
              </a:ext>
            </a:extLst>
          </p:cNvPr>
          <p:cNvSpPr txBox="1"/>
          <p:nvPr/>
        </p:nvSpPr>
        <p:spPr>
          <a:xfrm>
            <a:off x="461033" y="1271422"/>
            <a:ext cx="8142378" cy="39683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Función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resumen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mostrar_resumen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]):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Resumen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:”)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Desempaquetar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cada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nom, id,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cada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calcular_promedio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"Nombre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{nom}, ID: {id},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{promedio:.1f}")</a:t>
            </a: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uadroTexto 2">
            <a:extLst>
              <a:ext uri="{FF2B5EF4-FFF2-40B4-BE49-F238E27FC236}">
                <a16:creationId xmlns:a16="http://schemas.microsoft.com/office/drawing/2014/main" id="{5D02268A-C758-A738-4F4A-DB97AF27856A}"/>
              </a:ext>
            </a:extLst>
          </p:cNvPr>
          <p:cNvSpPr txBox="1"/>
          <p:nvPr/>
        </p:nvSpPr>
        <p:spPr>
          <a:xfrm>
            <a:off x="6915150" y="895423"/>
            <a:ext cx="1688261" cy="3740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r>
              <a:rPr lang="en-US" i="1" dirty="0" err="1"/>
              <a:t>continuación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766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B2D34-F201-8E64-BAF0-2C99B4C3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EF67BFFA-7FD2-4AFE-D1B6-D275670B1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98F2E96B-4498-BFA9-9588-40E2CF899769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6D2E6DDF-BFD1-7034-F2F6-9EEAF2F81FB3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30726779-53DD-4F72-84D3-D236EB4D44BB}"/>
              </a:ext>
            </a:extLst>
          </p:cNvPr>
          <p:cNvSpPr txBox="1"/>
          <p:nvPr/>
        </p:nvSpPr>
        <p:spPr>
          <a:xfrm>
            <a:off x="461033" y="1271422"/>
            <a:ext cx="8142378" cy="39683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Función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filtrar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aprobados</a:t>
            </a: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filtrar_aprobados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]):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("\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nEstudiantes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aprobados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:")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Desempaquetar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cada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nom, id,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calcular_promedio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&gt;= 4.0:</a:t>
            </a:r>
          </a:p>
          <a:p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Nombre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{nom}, ID: {id},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 {promedio:.1f}”)</a:t>
            </a:r>
          </a:p>
          <a:p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resumen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aprobados</a:t>
            </a:r>
            <a:endParaRPr lang="en-US" sz="13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mostrar_resumen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filtrar_aprobados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4" name="CuadroTexto 2">
            <a:extLst>
              <a:ext uri="{FF2B5EF4-FFF2-40B4-BE49-F238E27FC236}">
                <a16:creationId xmlns:a16="http://schemas.microsoft.com/office/drawing/2014/main" id="{137F1FE5-4FD3-ECE1-57E4-87356D83D7C3}"/>
              </a:ext>
            </a:extLst>
          </p:cNvPr>
          <p:cNvSpPr txBox="1"/>
          <p:nvPr/>
        </p:nvSpPr>
        <p:spPr>
          <a:xfrm>
            <a:off x="6915150" y="895423"/>
            <a:ext cx="1688261" cy="3740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r>
              <a:rPr lang="en-US" i="1" dirty="0" err="1"/>
              <a:t>continuación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583041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5393A-5F9A-1FDA-C09C-A9DFCF0C7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3E3A13F0-1EF1-9BD5-1784-60CD9DA0E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8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F305ABAC-142F-517C-820B-C517C24DF914}"/>
              </a:ext>
            </a:extLst>
          </p:cNvPr>
          <p:cNvSpPr txBox="1"/>
          <p:nvPr/>
        </p:nvSpPr>
        <p:spPr>
          <a:xfrm>
            <a:off x="2518614" y="4254099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0DEF3433-CB76-2A05-2B2B-94D0E212A0B9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D0F22B1A-4D7C-1CB2-3801-AB55BC84AAE8}"/>
              </a:ext>
            </a:extLst>
          </p:cNvPr>
          <p:cNvSpPr txBox="1"/>
          <p:nvPr/>
        </p:nvSpPr>
        <p:spPr>
          <a:xfrm>
            <a:off x="3766939" y="0"/>
            <a:ext cx="4718187" cy="49282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Tuplas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endParaRPr lang="en-US" sz="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estudiante1 = (“Juan Pérez”, “12345”, (5.3, 6.1, 6.3))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estudiante2 = (“Ana Gómez”, “23456”, (4.7, 5.1, 2.7))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estudiante3 = (“Luis Torres”, “34567”, (3.5, 4.0, 3.7))</a:t>
            </a:r>
          </a:p>
          <a:p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Lista de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tuplas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endParaRPr lang="en-US" sz="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= [estudiante1, estudiante2, estudiante3]</a:t>
            </a:r>
          </a:p>
          <a:p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Función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notas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calcular_promedio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 / 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Función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resumen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endParaRPr lang="en-US" sz="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mostrar_resumen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]):</a:t>
            </a: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Resumen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calificaciones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:”)</a:t>
            </a: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Desempaquetar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cada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nom, id,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cada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endParaRPr lang="en-US" sz="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calcular_promedio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"Nombre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 {nom}, ID: {id},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 {promedio:.1f}")</a:t>
            </a:r>
          </a:p>
          <a:p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Función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filtrar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aprobados</a:t>
            </a:r>
            <a:endParaRPr lang="en-US" sz="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filtrar_aprobados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]):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nEstudiantes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aprobados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:”)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Desempaquetar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cada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endParaRPr lang="en-US" sz="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nom, id,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</a:t>
            </a:r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calcular_promedio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&gt;= 4.0:</a:t>
            </a:r>
          </a:p>
          <a:p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“Nombre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 {nom}, ID: {id}, 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Promedio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: {promedio:.1f}”)</a:t>
            </a:r>
          </a:p>
          <a:p>
            <a:endParaRPr lang="en-US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resumen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aprobados</a:t>
            </a:r>
            <a:endParaRPr lang="en-US" sz="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mostrar_resumen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filtrar_aprobados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estudiantes</a:t>
            </a:r>
            <a:r>
              <a:rPr lang="en-US" sz="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0B55D43-88F2-ECF0-5134-CC3438CB7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479" y="1626072"/>
            <a:ext cx="5158980" cy="256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95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FF1B6-4B08-D507-28B4-1A10ED57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A387F8B-9F69-6732-2707-040AB707B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A792886-1A6D-9B7C-7647-75C8660C8242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Módulo 03: Diccionarios</a:t>
            </a:r>
          </a:p>
        </p:txBody>
      </p:sp>
    </p:spTree>
    <p:extLst>
      <p:ext uri="{BB962C8B-B14F-4D97-AF65-F5344CB8AC3E}">
        <p14:creationId xmlns:p14="http://schemas.microsoft.com/office/powerpoint/2010/main" val="171416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A9C8D-CA05-37A3-B086-C4D3D7766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0FDE363F-A3A4-3BC2-0C68-06804D11E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FE9B8B80-30C0-031F-D25A-9CFF98C9E541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F0F253B5-B733-BD6F-E8A5-44904142A23F}"/>
              </a:ext>
            </a:extLst>
          </p:cNvPr>
          <p:cNvSpPr txBox="1"/>
          <p:nvPr/>
        </p:nvSpPr>
        <p:spPr>
          <a:xfrm>
            <a:off x="461033" y="748219"/>
            <a:ext cx="2344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Diccionarios</a:t>
            </a:r>
            <a:endParaRPr lang="es-CL" sz="2000" dirty="0"/>
          </a:p>
        </p:txBody>
      </p:sp>
      <p:sp>
        <p:nvSpPr>
          <p:cNvPr id="31" name="CuadroTexto 6">
            <a:extLst>
              <a:ext uri="{FF2B5EF4-FFF2-40B4-BE49-F238E27FC236}">
                <a16:creationId xmlns:a16="http://schemas.microsoft.com/office/drawing/2014/main" id="{185156C8-5147-0B38-CC29-A333B3D2461A}"/>
              </a:ext>
            </a:extLst>
          </p:cNvPr>
          <p:cNvSpPr txBox="1"/>
          <p:nvPr/>
        </p:nvSpPr>
        <p:spPr>
          <a:xfrm>
            <a:off x="461033" y="1142949"/>
            <a:ext cx="8417644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una colección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desordenada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mutable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pares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clave-valor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Los diccionarios se utilizan para almacenar datos que tienen una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asociación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entre una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clave única 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un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valor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  <p:sp>
        <p:nvSpPr>
          <p:cNvPr id="14" name="CuadroTexto 6">
            <a:extLst>
              <a:ext uri="{FF2B5EF4-FFF2-40B4-BE49-F238E27FC236}">
                <a16:creationId xmlns:a16="http://schemas.microsoft.com/office/drawing/2014/main" id="{85E7C0CC-FD20-6D4B-DF59-A0692254F214}"/>
              </a:ext>
            </a:extLst>
          </p:cNvPr>
          <p:cNvSpPr txBox="1"/>
          <p:nvPr/>
        </p:nvSpPr>
        <p:spPr>
          <a:xfrm>
            <a:off x="860293" y="1931612"/>
            <a:ext cx="8018383" cy="1897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Mutable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los diccionarios pueden ser modificados después de su creación.</a:t>
            </a:r>
          </a:p>
          <a:p>
            <a:pPr marL="1714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5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Arial"/>
              </a:rPr>
              <a:t>Claves únicas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Arial"/>
              </a:rPr>
              <a:t>: Cada clave en un diccionario debe ser única. Si se asigna un nuevo valor a una clave existente, el valor anterior se sobrescribe.</a:t>
            </a:r>
          </a:p>
          <a:p>
            <a:pPr marL="1714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Arial"/>
              </a:rPr>
              <a:t>Tipos de Claves y Valores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Arial"/>
              </a:rPr>
              <a:t>: Las claves deben ser de un tipo inmutable (como cadenas, números o tuplas), pero los valores pueden ser de cualquier tipo, incluidos otros diccionarios.</a:t>
            </a:r>
          </a:p>
        </p:txBody>
      </p:sp>
    </p:spTree>
    <p:extLst>
      <p:ext uri="{BB962C8B-B14F-4D97-AF65-F5344CB8AC3E}">
        <p14:creationId xmlns:p14="http://schemas.microsoft.com/office/powerpoint/2010/main" val="37454528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9EB9-3D81-2120-732B-94242BBD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06601C7B-5986-3339-B6BD-511BE8ABA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5" y="8628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99E84025-CD7A-3BBF-CA38-F02216CFE90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44E2B417-A123-E5D6-B461-E1F244AB881E}"/>
              </a:ext>
            </a:extLst>
          </p:cNvPr>
          <p:cNvSpPr txBox="1"/>
          <p:nvPr/>
        </p:nvSpPr>
        <p:spPr>
          <a:xfrm>
            <a:off x="461032" y="748219"/>
            <a:ext cx="36294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Diccionarios – Operaciones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E1E52E-C005-C2F4-8D7B-4585648FB697}"/>
              </a:ext>
            </a:extLst>
          </p:cNvPr>
          <p:cNvGrpSpPr/>
          <p:nvPr/>
        </p:nvGrpSpPr>
        <p:grpSpPr>
          <a:xfrm>
            <a:off x="534584" y="1219736"/>
            <a:ext cx="3823595" cy="3477876"/>
            <a:chOff x="580673" y="3198468"/>
            <a:chExt cx="3823595" cy="3477876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D1A7B85-DA36-D641-80BB-9001B9F49D31}"/>
                </a:ext>
              </a:extLst>
            </p:cNvPr>
            <p:cNvSpPr txBox="1"/>
            <p:nvPr/>
          </p:nvSpPr>
          <p:spPr>
            <a:xfrm>
              <a:off x="1628605" y="3198468"/>
              <a:ext cx="2775663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Creación de diccionario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6" name="CuadroTexto 9">
              <a:extLst>
                <a:ext uri="{FF2B5EF4-FFF2-40B4-BE49-F238E27FC236}">
                  <a16:creationId xmlns:a16="http://schemas.microsoft.com/office/drawing/2014/main" id="{43CF8F8E-3ED7-4C4D-49E2-79C212937C05}"/>
                </a:ext>
              </a:extLst>
            </p:cNvPr>
            <p:cNvSpPr txBox="1"/>
            <p:nvPr/>
          </p:nvSpPr>
          <p:spPr>
            <a:xfrm>
              <a:off x="580673" y="3506245"/>
              <a:ext cx="3823595" cy="31700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Crear un diccionario vacío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{}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{}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Crear un diccionario con algunos pares clave-valor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{</a:t>
              </a:r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‘nombre’: ‘Inti’,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‘edad’: 3,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‘raza’: ‘Mestizo’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endParaRPr lang="es-CL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</a:t>
              </a: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{‘nombre’: ‘Inti’, ‘edad’: 3, ‘raza’: ‘Mestizo’}</a:t>
              </a:r>
            </a:p>
            <a:p>
              <a:endParaRPr lang="es-CL" sz="6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5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714487-26DB-AFAF-3832-DABA05FBD98E}"/>
              </a:ext>
            </a:extLst>
          </p:cNvPr>
          <p:cNvGrpSpPr/>
          <p:nvPr/>
        </p:nvGrpSpPr>
        <p:grpSpPr>
          <a:xfrm>
            <a:off x="5156948" y="412016"/>
            <a:ext cx="3823595" cy="677109"/>
            <a:chOff x="580673" y="3198468"/>
            <a:chExt cx="3823595" cy="677109"/>
          </a:xfrm>
        </p:grpSpPr>
        <p:sp>
          <p:nvSpPr>
            <p:cNvPr id="10" name="CuadroTexto 4">
              <a:extLst>
                <a:ext uri="{FF2B5EF4-FFF2-40B4-BE49-F238E27FC236}">
                  <a16:creationId xmlns:a16="http://schemas.microsoft.com/office/drawing/2014/main" id="{71916FC1-B108-30F7-1B4A-5BEF27B88106}"/>
                </a:ext>
              </a:extLst>
            </p:cNvPr>
            <p:cNvSpPr txBox="1"/>
            <p:nvPr/>
          </p:nvSpPr>
          <p:spPr>
            <a:xfrm>
              <a:off x="1628605" y="3198468"/>
              <a:ext cx="2775663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Acceso a un valor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15" name="CuadroTexto 9">
              <a:extLst>
                <a:ext uri="{FF2B5EF4-FFF2-40B4-BE49-F238E27FC236}">
                  <a16:creationId xmlns:a16="http://schemas.microsoft.com/office/drawing/2014/main" id="{D6C0204E-6A23-C080-121D-FF70ECD900A8}"/>
                </a:ext>
              </a:extLst>
            </p:cNvPr>
            <p:cNvSpPr txBox="1"/>
            <p:nvPr/>
          </p:nvSpPr>
          <p:spPr>
            <a:xfrm>
              <a:off x="580673" y="3506245"/>
              <a:ext cx="382359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Acceder a un valor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[‘nombre’])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‘Inti’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A5F14C-D8FE-BF4D-4EC2-FAD0DBBB9D6D}"/>
              </a:ext>
            </a:extLst>
          </p:cNvPr>
          <p:cNvGrpSpPr/>
          <p:nvPr/>
        </p:nvGrpSpPr>
        <p:grpSpPr>
          <a:xfrm>
            <a:off x="5156947" y="1200215"/>
            <a:ext cx="3823595" cy="677109"/>
            <a:chOff x="580673" y="3198468"/>
            <a:chExt cx="3823595" cy="677109"/>
          </a:xfrm>
        </p:grpSpPr>
        <p:sp>
          <p:nvSpPr>
            <p:cNvPr id="17" name="CuadroTexto 4">
              <a:extLst>
                <a:ext uri="{FF2B5EF4-FFF2-40B4-BE49-F238E27FC236}">
                  <a16:creationId xmlns:a16="http://schemas.microsoft.com/office/drawing/2014/main" id="{93410CF7-8D48-3C42-6551-B28185508380}"/>
                </a:ext>
              </a:extLst>
            </p:cNvPr>
            <p:cNvSpPr txBox="1"/>
            <p:nvPr/>
          </p:nvSpPr>
          <p:spPr>
            <a:xfrm>
              <a:off x="1628605" y="3198468"/>
              <a:ext cx="2775663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Modificar a un valor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19" name="CuadroTexto 9">
              <a:extLst>
                <a:ext uri="{FF2B5EF4-FFF2-40B4-BE49-F238E27FC236}">
                  <a16:creationId xmlns:a16="http://schemas.microsoft.com/office/drawing/2014/main" id="{8DA443D7-5750-1D9C-2E90-077A8B50987E}"/>
                </a:ext>
              </a:extLst>
            </p:cNvPr>
            <p:cNvSpPr txBox="1"/>
            <p:nvPr/>
          </p:nvSpPr>
          <p:spPr>
            <a:xfrm>
              <a:off x="580673" y="3506245"/>
              <a:ext cx="382359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Modificar un valor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[‘edad’] = 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D376B0-40A0-C3C4-B84F-ECDF028C94A1}"/>
              </a:ext>
            </a:extLst>
          </p:cNvPr>
          <p:cNvGrpSpPr/>
          <p:nvPr/>
        </p:nvGrpSpPr>
        <p:grpSpPr>
          <a:xfrm>
            <a:off x="5156946" y="1989371"/>
            <a:ext cx="3823595" cy="677109"/>
            <a:chOff x="580673" y="3198468"/>
            <a:chExt cx="3823595" cy="677109"/>
          </a:xfrm>
        </p:grpSpPr>
        <p:sp>
          <p:nvSpPr>
            <p:cNvPr id="21" name="CuadroTexto 4">
              <a:extLst>
                <a:ext uri="{FF2B5EF4-FFF2-40B4-BE49-F238E27FC236}">
                  <a16:creationId xmlns:a16="http://schemas.microsoft.com/office/drawing/2014/main" id="{38D886C6-5FCE-54EB-1B2A-01E2915CF01C}"/>
                </a:ext>
              </a:extLst>
            </p:cNvPr>
            <p:cNvSpPr txBox="1"/>
            <p:nvPr/>
          </p:nvSpPr>
          <p:spPr>
            <a:xfrm>
              <a:off x="1628605" y="3198468"/>
              <a:ext cx="2775663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Agregar a un valor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22" name="CuadroTexto 9">
              <a:extLst>
                <a:ext uri="{FF2B5EF4-FFF2-40B4-BE49-F238E27FC236}">
                  <a16:creationId xmlns:a16="http://schemas.microsoft.com/office/drawing/2014/main" id="{C61C4EAB-D2EB-A73F-C9DE-AC6772DF0287}"/>
                </a:ext>
              </a:extLst>
            </p:cNvPr>
            <p:cNvSpPr txBox="1"/>
            <p:nvPr/>
          </p:nvSpPr>
          <p:spPr>
            <a:xfrm>
              <a:off x="580673" y="3506245"/>
              <a:ext cx="3823595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Agregar un valor</a:t>
              </a:r>
            </a:p>
            <a:p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[‘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guardian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’] =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True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B1A03E-3718-3410-5767-53A856D4FCF8}"/>
              </a:ext>
            </a:extLst>
          </p:cNvPr>
          <p:cNvGrpSpPr/>
          <p:nvPr/>
        </p:nvGrpSpPr>
        <p:grpSpPr>
          <a:xfrm>
            <a:off x="4572001" y="2777489"/>
            <a:ext cx="4408540" cy="1923604"/>
            <a:chOff x="-4271" y="3198468"/>
            <a:chExt cx="4408540" cy="1923604"/>
          </a:xfrm>
        </p:grpSpPr>
        <p:sp>
          <p:nvSpPr>
            <p:cNvPr id="24" name="CuadroTexto 4">
              <a:extLst>
                <a:ext uri="{FF2B5EF4-FFF2-40B4-BE49-F238E27FC236}">
                  <a16:creationId xmlns:a16="http://schemas.microsoft.com/office/drawing/2014/main" id="{DFA26288-4E99-331E-86F7-ECDEA0F76B15}"/>
                </a:ext>
              </a:extLst>
            </p:cNvPr>
            <p:cNvSpPr txBox="1"/>
            <p:nvPr/>
          </p:nvSpPr>
          <p:spPr>
            <a:xfrm>
              <a:off x="1628605" y="3198468"/>
              <a:ext cx="2775663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Eliminar a un valor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25" name="CuadroTexto 9">
              <a:extLst>
                <a:ext uri="{FF2B5EF4-FFF2-40B4-BE49-F238E27FC236}">
                  <a16:creationId xmlns:a16="http://schemas.microsoft.com/office/drawing/2014/main" id="{335B7152-D64C-FB55-2196-06AD3B3D74AD}"/>
                </a:ext>
              </a:extLst>
            </p:cNvPr>
            <p:cNvSpPr txBox="1"/>
            <p:nvPr/>
          </p:nvSpPr>
          <p:spPr>
            <a:xfrm>
              <a:off x="-4271" y="3506245"/>
              <a:ext cx="4408540" cy="16158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1:</a:t>
              </a: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del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[‘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guardian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’]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Forma 2: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el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método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pop()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retorna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el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valor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eliminado</a:t>
              </a:r>
              <a:endParaRPr lang="en-US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Lanza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una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excepción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si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se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intenta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eliminar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un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elemento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que</a:t>
              </a:r>
            </a:p>
            <a:p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no 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existe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 </a:t>
              </a:r>
            </a:p>
            <a:p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edad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mi_diccionario.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pop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(“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edad”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edad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  <a:p>
              <a:endParaRPr lang="en-US" sz="9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30 {‘</a:t>
              </a:r>
              <a:r>
                <a:rPr lang="en-US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nombre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’: ‘Inti’, ‘raza’: ‘Mestizo’}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09273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ECA35-3E74-E9DD-6BF4-D14FFC33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DE6A482C-C3CF-386A-F10E-7C2AFEF94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7" y="173250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98D7B4D0-5128-FB0E-EC13-CB40CB70B6E1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72265E7F-AEE3-7632-C447-83B7035DCEAC}"/>
              </a:ext>
            </a:extLst>
          </p:cNvPr>
          <p:cNvSpPr txBox="1"/>
          <p:nvPr/>
        </p:nvSpPr>
        <p:spPr>
          <a:xfrm>
            <a:off x="461032" y="748219"/>
            <a:ext cx="36294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Diccionarios – Operaciones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251490-F7EE-2DA1-6A3F-455FD91E3E9E}"/>
              </a:ext>
            </a:extLst>
          </p:cNvPr>
          <p:cNvGrpSpPr/>
          <p:nvPr/>
        </p:nvGrpSpPr>
        <p:grpSpPr>
          <a:xfrm>
            <a:off x="2353332" y="2744236"/>
            <a:ext cx="4422937" cy="1231107"/>
            <a:chOff x="-18669" y="3198468"/>
            <a:chExt cx="4422937" cy="1231107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F47491A0-7487-D060-0F43-7E9E3AEF4D08}"/>
                </a:ext>
              </a:extLst>
            </p:cNvPr>
            <p:cNvSpPr txBox="1"/>
            <p:nvPr/>
          </p:nvSpPr>
          <p:spPr>
            <a:xfrm>
              <a:off x="1628605" y="3198468"/>
              <a:ext cx="2775663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Claves y valores de las tupas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6" name="CuadroTexto 9">
              <a:extLst>
                <a:ext uri="{FF2B5EF4-FFF2-40B4-BE49-F238E27FC236}">
                  <a16:creationId xmlns:a16="http://schemas.microsoft.com/office/drawing/2014/main" id="{76F86590-AFA7-6FD2-DB0C-9DF821DE83FE}"/>
                </a:ext>
              </a:extLst>
            </p:cNvPr>
            <p:cNvSpPr txBox="1"/>
            <p:nvPr/>
          </p:nvSpPr>
          <p:spPr>
            <a:xfrm>
              <a:off x="-18669" y="3506245"/>
              <a:ext cx="4422937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Recuperar los elementos (tuplas)</a:t>
              </a: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elementos = 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items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Recorrer cada elemento (tupla) clave-valor</a:t>
              </a:r>
              <a:endParaRPr lang="es-CL" sz="5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for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 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clave, valor 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in 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items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(): </a:t>
              </a:r>
            </a:p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“La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clave es {clave} y el valor es {valor}”)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27A5B5B-5E2A-05ED-63AD-AB1A84EC57A8}"/>
              </a:ext>
            </a:extLst>
          </p:cNvPr>
          <p:cNvGrpSpPr/>
          <p:nvPr/>
        </p:nvGrpSpPr>
        <p:grpSpPr>
          <a:xfrm>
            <a:off x="363944" y="1439207"/>
            <a:ext cx="4063276" cy="954108"/>
            <a:chOff x="580673" y="3198468"/>
            <a:chExt cx="4063276" cy="954108"/>
          </a:xfrm>
        </p:grpSpPr>
        <p:sp>
          <p:nvSpPr>
            <p:cNvPr id="10" name="CuadroTexto 4">
              <a:extLst>
                <a:ext uri="{FF2B5EF4-FFF2-40B4-BE49-F238E27FC236}">
                  <a16:creationId xmlns:a16="http://schemas.microsoft.com/office/drawing/2014/main" id="{5045B535-71B6-D5D4-0E12-A05DEF9AF5F3}"/>
                </a:ext>
              </a:extLst>
            </p:cNvPr>
            <p:cNvSpPr txBox="1"/>
            <p:nvPr/>
          </p:nvSpPr>
          <p:spPr>
            <a:xfrm>
              <a:off x="1628605" y="3198468"/>
              <a:ext cx="3015344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Claves de las tuplas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15" name="CuadroTexto 9">
              <a:extLst>
                <a:ext uri="{FF2B5EF4-FFF2-40B4-BE49-F238E27FC236}">
                  <a16:creationId xmlns:a16="http://schemas.microsoft.com/office/drawing/2014/main" id="{2EF2DEBD-9592-E0FB-44F5-15B9F1DB8565}"/>
                </a:ext>
              </a:extLst>
            </p:cNvPr>
            <p:cNvSpPr txBox="1"/>
            <p:nvPr/>
          </p:nvSpPr>
          <p:spPr>
            <a:xfrm>
              <a:off x="580673" y="3506245"/>
              <a:ext cx="4063276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Obtener las claves de las tuplas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claves = 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keys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(claves)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dict_keys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([‘nombre’, ‘raza’]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B2C0CF-8950-D177-C3BE-8C6965537A6E}"/>
              </a:ext>
            </a:extLst>
          </p:cNvPr>
          <p:cNvGrpSpPr/>
          <p:nvPr/>
        </p:nvGrpSpPr>
        <p:grpSpPr>
          <a:xfrm>
            <a:off x="4572000" y="1445157"/>
            <a:ext cx="4408539" cy="954108"/>
            <a:chOff x="-4271" y="3198468"/>
            <a:chExt cx="4408539" cy="954108"/>
          </a:xfrm>
        </p:grpSpPr>
        <p:sp>
          <p:nvSpPr>
            <p:cNvPr id="17" name="CuadroTexto 4">
              <a:extLst>
                <a:ext uri="{FF2B5EF4-FFF2-40B4-BE49-F238E27FC236}">
                  <a16:creationId xmlns:a16="http://schemas.microsoft.com/office/drawing/2014/main" id="{4C8B0BB8-FEE3-13F7-B630-514002C92DDD}"/>
                </a:ext>
              </a:extLst>
            </p:cNvPr>
            <p:cNvSpPr txBox="1"/>
            <p:nvPr/>
          </p:nvSpPr>
          <p:spPr>
            <a:xfrm>
              <a:off x="1628605" y="3198468"/>
              <a:ext cx="2775663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s-ES_tradnl" sz="1400" b="1" i="1" dirty="0">
                  <a:solidFill>
                    <a:srgbClr val="506C7D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Valores de las tuplas</a:t>
              </a:r>
              <a:endParaRPr lang="es-CL" sz="1400" i="1" dirty="0">
                <a:solidFill>
                  <a:srgbClr val="506C7D"/>
                </a:solidFill>
              </a:endParaRPr>
            </a:p>
          </p:txBody>
        </p:sp>
        <p:sp>
          <p:nvSpPr>
            <p:cNvPr id="19" name="CuadroTexto 9">
              <a:extLst>
                <a:ext uri="{FF2B5EF4-FFF2-40B4-BE49-F238E27FC236}">
                  <a16:creationId xmlns:a16="http://schemas.microsoft.com/office/drawing/2014/main" id="{E2C5AFFF-3F5D-E368-46BD-AE649C5CF9B5}"/>
                </a:ext>
              </a:extLst>
            </p:cNvPr>
            <p:cNvSpPr txBox="1"/>
            <p:nvPr/>
          </p:nvSpPr>
          <p:spPr>
            <a:xfrm>
              <a:off x="-4271" y="3506245"/>
              <a:ext cx="4408539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Obtener los valores de las tuplas</a:t>
              </a:r>
            </a:p>
            <a:p>
              <a:endParaRPr lang="es-CL" sz="9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valores = </a:t>
              </a:r>
              <a:r>
                <a:rPr lang="es-CL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mi_diccionario.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values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print</a:t>
              </a:r>
              <a:r>
                <a:rPr lang="es-CL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(valores) 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# Salida: </a:t>
              </a:r>
              <a:r>
                <a:rPr lang="es-CL" sz="9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dict_keys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([‘Inti’, ‘</a:t>
              </a:r>
              <a:r>
                <a:rPr lang="en-US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Mestizo</a:t>
              </a:r>
              <a:r>
                <a:rPr lang="es-CL" sz="9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’])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0755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9A2E6-393A-5A5F-CDF6-C855FE5A1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A5C42C8-D899-251B-75A3-92C96D8F4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838FA8C-7198-4983-9982-07A3222ABEE3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Módulo 03: Diccionarios – Ejercicios</a:t>
            </a:r>
          </a:p>
        </p:txBody>
      </p:sp>
    </p:spTree>
    <p:extLst>
      <p:ext uri="{BB962C8B-B14F-4D97-AF65-F5344CB8AC3E}">
        <p14:creationId xmlns:p14="http://schemas.microsoft.com/office/powerpoint/2010/main" val="1335252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0553-771B-07F9-E697-83772694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EDB65706-1D7D-2B69-2FEB-85253E7C0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577D458A-D6BD-3FE2-0990-01B4DDAA00E3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3AC97CE4-95ED-0908-9647-21B3DA778003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3EE63DA7-7ACF-C59B-65B0-24A63E4229BD}"/>
              </a:ext>
            </a:extLst>
          </p:cNvPr>
          <p:cNvSpPr txBox="1"/>
          <p:nvPr/>
        </p:nvSpPr>
        <p:spPr>
          <a:xfrm>
            <a:off x="461033" y="1271422"/>
            <a:ext cx="8142378" cy="13435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dirty="0"/>
              <a:t>La </a:t>
            </a:r>
            <a:r>
              <a:rPr lang="en-US" dirty="0" err="1"/>
              <a:t>modernización</a:t>
            </a:r>
            <a:r>
              <a:rPr lang="en-US" dirty="0"/>
              <a:t> del </a:t>
            </a:r>
            <a:r>
              <a:rPr lang="en-US" dirty="0" err="1"/>
              <a:t>rubro</a:t>
            </a:r>
            <a:r>
              <a:rPr lang="en-US" dirty="0"/>
              <a:t> </a:t>
            </a:r>
            <a:r>
              <a:rPr lang="en-US" dirty="0" err="1"/>
              <a:t>bancario</a:t>
            </a:r>
            <a:r>
              <a:rPr lang="en-US" dirty="0"/>
              <a:t> ha </a:t>
            </a:r>
            <a:r>
              <a:rPr lang="en-US" dirty="0" err="1"/>
              <a:t>avanzado</a:t>
            </a:r>
            <a:r>
              <a:rPr lang="en-US" dirty="0"/>
              <a:t> a pasos </a:t>
            </a:r>
            <a:r>
              <a:rPr lang="en-US" dirty="0" err="1"/>
              <a:t>agigantados</a:t>
            </a:r>
            <a:r>
              <a:rPr lang="en-US" dirty="0"/>
              <a:t>, </a:t>
            </a:r>
            <a:r>
              <a:rPr lang="en-US" dirty="0" err="1"/>
              <a:t>facilitando</a:t>
            </a:r>
            <a:r>
              <a:rPr lang="en-US" dirty="0"/>
              <a:t> la </a:t>
            </a:r>
            <a:r>
              <a:rPr lang="en-US" dirty="0" err="1"/>
              <a:t>realización</a:t>
            </a:r>
            <a:r>
              <a:rPr lang="en-US" dirty="0"/>
              <a:t> de </a:t>
            </a:r>
            <a:r>
              <a:rPr lang="en-US" dirty="0" err="1"/>
              <a:t>transacciones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eficiente</a:t>
            </a:r>
            <a:r>
              <a:rPr lang="en-US" dirty="0"/>
              <a:t> y </a:t>
            </a:r>
            <a:r>
              <a:rPr lang="en-US" dirty="0" err="1"/>
              <a:t>segura</a:t>
            </a:r>
            <a:r>
              <a:rPr lang="en-US" dirty="0"/>
              <a:t>, a </a:t>
            </a:r>
            <a:r>
              <a:rPr lang="en-US" dirty="0" err="1"/>
              <a:t>través</a:t>
            </a:r>
            <a:r>
              <a:rPr lang="en-US" dirty="0"/>
              <a:t> de </a:t>
            </a:r>
            <a:r>
              <a:rPr lang="en-US" dirty="0" err="1"/>
              <a:t>plataformas</a:t>
            </a:r>
            <a:r>
              <a:rPr lang="en-US" dirty="0"/>
              <a:t> </a:t>
            </a:r>
            <a:r>
              <a:rPr lang="en-US" dirty="0" err="1"/>
              <a:t>digitales</a:t>
            </a:r>
            <a:r>
              <a:rPr lang="en-US" dirty="0"/>
              <a:t>. 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contexto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transacción</a:t>
            </a:r>
            <a:r>
              <a:rPr lang="en-US" dirty="0"/>
              <a:t> </a:t>
            </a:r>
            <a:r>
              <a:rPr lang="en-US" dirty="0" err="1"/>
              <a:t>bancaria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compartirse</a:t>
            </a:r>
            <a:r>
              <a:rPr lang="en-US" dirty="0"/>
              <a:t> y </a:t>
            </a:r>
            <a:r>
              <a:rPr lang="en-US" dirty="0" err="1"/>
              <a:t>gestionarse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</a:t>
            </a:r>
            <a:r>
              <a:rPr lang="en-US" dirty="0" err="1"/>
              <a:t>estructuras</a:t>
            </a:r>
            <a:r>
              <a:rPr lang="en-US" dirty="0"/>
              <a:t> </a:t>
            </a:r>
            <a:r>
              <a:rPr lang="en-US" dirty="0" err="1"/>
              <a:t>similares</a:t>
            </a:r>
            <a:r>
              <a:rPr lang="en-US" dirty="0"/>
              <a:t> a </a:t>
            </a:r>
            <a:r>
              <a:rPr lang="en-US" b="1" dirty="0"/>
              <a:t>JSON</a:t>
            </a:r>
            <a:r>
              <a:rPr lang="en-US" b="1" baseline="30000" dirty="0"/>
              <a:t>1</a:t>
            </a:r>
            <a:r>
              <a:rPr lang="en-US" dirty="0"/>
              <a:t>, que </a:t>
            </a:r>
            <a:r>
              <a:rPr lang="en-US" dirty="0" err="1"/>
              <a:t>permiten</a:t>
            </a:r>
            <a:r>
              <a:rPr lang="en-US" dirty="0"/>
              <a:t> </a:t>
            </a:r>
            <a:r>
              <a:rPr lang="en-US" dirty="0" err="1"/>
              <a:t>organizar</a:t>
            </a:r>
            <a:r>
              <a:rPr lang="en-US" dirty="0"/>
              <a:t> y </a:t>
            </a:r>
            <a:r>
              <a:rPr lang="en-US" dirty="0" err="1"/>
              <a:t>transmitir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clave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clara</a:t>
            </a:r>
            <a:r>
              <a:rPr lang="en-US" dirty="0"/>
              <a:t> y </a:t>
            </a:r>
            <a:r>
              <a:rPr lang="en-US" dirty="0" err="1"/>
              <a:t>accesible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52AFE-67E2-E3E0-701E-2250769A3CA7}"/>
              </a:ext>
            </a:extLst>
          </p:cNvPr>
          <p:cNvSpPr txBox="1"/>
          <p:nvPr/>
        </p:nvSpPr>
        <p:spPr>
          <a:xfrm>
            <a:off x="0" y="4834949"/>
            <a:ext cx="4632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L" sz="1000" baseline="30000" dirty="0"/>
              <a:t>1</a:t>
            </a:r>
            <a:r>
              <a:rPr lang="en-CL" sz="1000" dirty="0"/>
              <a:t>https://es.wikipedia.org/wiki/JSON</a:t>
            </a: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AAF5E986-615F-558B-6033-E5C86C4C5C2D}"/>
              </a:ext>
            </a:extLst>
          </p:cNvPr>
          <p:cNvSpPr txBox="1"/>
          <p:nvPr/>
        </p:nvSpPr>
        <p:spPr>
          <a:xfrm>
            <a:off x="461033" y="2738088"/>
            <a:ext cx="8142378" cy="19899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dirty="0" err="1"/>
              <a:t>Simule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procesamiento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 </a:t>
            </a:r>
            <a:r>
              <a:rPr lang="en-US" dirty="0" err="1"/>
              <a:t>transacción</a:t>
            </a:r>
            <a:r>
              <a:rPr lang="en-US" dirty="0"/>
              <a:t> </a:t>
            </a:r>
            <a:r>
              <a:rPr lang="en-US" dirty="0" err="1"/>
              <a:t>bancaria</a:t>
            </a:r>
            <a:r>
              <a:rPr lang="en-US" dirty="0"/>
              <a:t> entre dos </a:t>
            </a:r>
            <a:r>
              <a:rPr lang="en-US" dirty="0" err="1"/>
              <a:t>cuentas</a:t>
            </a:r>
            <a:r>
              <a:rPr lang="en-US" dirty="0"/>
              <a:t>. El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escrito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Python </a:t>
            </a:r>
            <a:r>
              <a:rPr lang="en-US" dirty="0" err="1"/>
              <a:t>recibirá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la </a:t>
            </a:r>
            <a:r>
              <a:rPr lang="en-US" dirty="0" err="1"/>
              <a:t>transacción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formato</a:t>
            </a:r>
            <a:r>
              <a:rPr lang="en-US" dirty="0"/>
              <a:t> similar a un JSON (</a:t>
            </a:r>
            <a:r>
              <a:rPr lang="en-US" dirty="0" err="1"/>
              <a:t>simulado</a:t>
            </a:r>
            <a:r>
              <a:rPr lang="en-US" dirty="0"/>
              <a:t> con un </a:t>
            </a:r>
            <a:r>
              <a:rPr lang="en-US" dirty="0" err="1"/>
              <a:t>diccionario</a:t>
            </a:r>
            <a:r>
              <a:rPr lang="en-US" dirty="0"/>
              <a:t>). Los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incluyen</a:t>
            </a:r>
            <a:r>
              <a:rPr lang="en-US" dirty="0"/>
              <a:t> la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: ID de la </a:t>
            </a:r>
            <a:r>
              <a:rPr lang="en-US" dirty="0" err="1"/>
              <a:t>transacción</a:t>
            </a:r>
            <a:r>
              <a:rPr lang="en-US" dirty="0"/>
              <a:t> (int); </a:t>
            </a:r>
            <a:r>
              <a:rPr lang="en-US" dirty="0" err="1"/>
              <a:t>fecha</a:t>
            </a:r>
            <a:r>
              <a:rPr lang="en-US" dirty="0"/>
              <a:t> de la </a:t>
            </a:r>
            <a:r>
              <a:rPr lang="en-US" dirty="0" err="1"/>
              <a:t>transacción</a:t>
            </a:r>
            <a:r>
              <a:rPr lang="en-US" dirty="0"/>
              <a:t> (string); </a:t>
            </a:r>
            <a:r>
              <a:rPr lang="en-US" dirty="0" err="1"/>
              <a:t>cuenta</a:t>
            </a:r>
            <a:r>
              <a:rPr lang="en-US" dirty="0"/>
              <a:t> de </a:t>
            </a:r>
            <a:r>
              <a:rPr lang="en-US" dirty="0" err="1"/>
              <a:t>origen</a:t>
            </a:r>
            <a:r>
              <a:rPr lang="en-US" dirty="0"/>
              <a:t> es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diccionario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 del titular de </a:t>
            </a:r>
            <a:r>
              <a:rPr lang="en-US" dirty="0" err="1"/>
              <a:t>origen</a:t>
            </a:r>
            <a:r>
              <a:rPr lang="en-US" dirty="0"/>
              <a:t> (string) y </a:t>
            </a:r>
            <a:r>
              <a:rPr lang="en-US" dirty="0" err="1"/>
              <a:t>saldo</a:t>
            </a:r>
            <a:r>
              <a:rPr lang="en-US" dirty="0"/>
              <a:t> disponible (int); </a:t>
            </a:r>
            <a:r>
              <a:rPr lang="en-US" dirty="0" err="1"/>
              <a:t>cuenta</a:t>
            </a:r>
            <a:r>
              <a:rPr lang="en-US" dirty="0"/>
              <a:t> de </a:t>
            </a:r>
            <a:r>
              <a:rPr lang="en-US" dirty="0" err="1"/>
              <a:t>destino</a:t>
            </a:r>
            <a:r>
              <a:rPr lang="en-US" dirty="0"/>
              <a:t> es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diccionario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 del titular de </a:t>
            </a:r>
            <a:r>
              <a:rPr lang="en-US" dirty="0" err="1"/>
              <a:t>destino</a:t>
            </a:r>
            <a:r>
              <a:rPr lang="en-US" dirty="0"/>
              <a:t> (strong) y </a:t>
            </a:r>
            <a:r>
              <a:rPr lang="en-US" dirty="0" err="1"/>
              <a:t>saldo</a:t>
            </a:r>
            <a:r>
              <a:rPr lang="en-US" dirty="0"/>
              <a:t> disponible (int); </a:t>
            </a:r>
            <a:r>
              <a:rPr lang="en-US" dirty="0" err="1"/>
              <a:t>monto</a:t>
            </a:r>
            <a:r>
              <a:rPr lang="en-US" dirty="0"/>
              <a:t> de la </a:t>
            </a:r>
            <a:r>
              <a:rPr lang="en-US" dirty="0" err="1"/>
              <a:t>transacción</a:t>
            </a:r>
            <a:r>
              <a:rPr lang="en-US" dirty="0"/>
              <a:t> (int).</a:t>
            </a:r>
          </a:p>
        </p:txBody>
      </p:sp>
    </p:spTree>
    <p:extLst>
      <p:ext uri="{BB962C8B-B14F-4D97-AF65-F5344CB8AC3E}">
        <p14:creationId xmlns:p14="http://schemas.microsoft.com/office/powerpoint/2010/main" val="1430506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E06CB-D163-5969-D929-78E4D61D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FCD15A09-80C2-D0F9-D7C7-C9AC4DC17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A6301D06-88A6-9121-80FB-CB59A5987FF9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F93FBA15-555C-BE12-FA15-20F2935A8204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3A6D81B1-1BAB-6145-6663-0B117B20F67E}"/>
              </a:ext>
            </a:extLst>
          </p:cNvPr>
          <p:cNvSpPr txBox="1"/>
          <p:nvPr/>
        </p:nvSpPr>
        <p:spPr>
          <a:xfrm>
            <a:off x="461033" y="1271422"/>
            <a:ext cx="8142378" cy="16667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dirty="0"/>
              <a:t>El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Validar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saldo</a:t>
            </a:r>
            <a:r>
              <a:rPr lang="en-US" dirty="0"/>
              <a:t> de la </a:t>
            </a:r>
            <a:r>
              <a:rPr lang="en-US" dirty="0" err="1"/>
              <a:t>cuenta</a:t>
            </a:r>
            <a:r>
              <a:rPr lang="en-US" dirty="0"/>
              <a:t> de </a:t>
            </a:r>
            <a:r>
              <a:rPr lang="en-US" dirty="0" err="1"/>
              <a:t>origen</a:t>
            </a:r>
            <a:r>
              <a:rPr lang="en-US" dirty="0"/>
              <a:t> sea </a:t>
            </a:r>
            <a:r>
              <a:rPr lang="en-US" dirty="0" err="1"/>
              <a:t>suficiente</a:t>
            </a:r>
            <a:r>
              <a:rPr lang="en-US" dirty="0"/>
              <a:t> para la </a:t>
            </a:r>
            <a:r>
              <a:rPr lang="en-US" dirty="0" err="1"/>
              <a:t>transacción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Actualizar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saldos</a:t>
            </a:r>
            <a:r>
              <a:rPr lang="en-US" dirty="0"/>
              <a:t> de la </a:t>
            </a:r>
            <a:r>
              <a:rPr lang="en-US" dirty="0" err="1"/>
              <a:t>cuenta</a:t>
            </a:r>
            <a:r>
              <a:rPr lang="en-US" dirty="0"/>
              <a:t> de </a:t>
            </a:r>
            <a:r>
              <a:rPr lang="en-US" dirty="0" err="1"/>
              <a:t>origen</a:t>
            </a:r>
            <a:r>
              <a:rPr lang="en-US" dirty="0"/>
              <a:t> y </a:t>
            </a:r>
            <a:r>
              <a:rPr lang="en-US" dirty="0" err="1"/>
              <a:t>destino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transacción</a:t>
            </a:r>
            <a:r>
              <a:rPr lang="en-US" dirty="0"/>
              <a:t> es </a:t>
            </a:r>
            <a:r>
              <a:rPr lang="en-US" dirty="0" err="1"/>
              <a:t>válida</a:t>
            </a:r>
            <a:r>
              <a:rPr lang="en-US" dirty="0"/>
              <a:t> (</a:t>
            </a:r>
            <a:r>
              <a:rPr lang="en-US" dirty="0" err="1"/>
              <a:t>saldos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 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actualizados</a:t>
            </a:r>
            <a:r>
              <a:rPr lang="en-US" dirty="0"/>
              <a:t> de ambas </a:t>
            </a:r>
            <a:r>
              <a:rPr lang="en-US" dirty="0" err="1"/>
              <a:t>cuentas</a:t>
            </a:r>
            <a:r>
              <a:rPr lang="en-US" dirty="0"/>
              <a:t> </a:t>
            </a:r>
            <a:r>
              <a:rPr lang="en-US" dirty="0" err="1"/>
              <a:t>después</a:t>
            </a:r>
            <a:r>
              <a:rPr lang="en-US" dirty="0"/>
              <a:t> de la </a:t>
            </a:r>
            <a:r>
              <a:rPr lang="en-US" dirty="0" err="1"/>
              <a:t>transacción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 la </a:t>
            </a:r>
            <a:r>
              <a:rPr lang="en-US" dirty="0" err="1"/>
              <a:t>transacción</a:t>
            </a:r>
            <a:r>
              <a:rPr lang="en-US" dirty="0"/>
              <a:t> no es </a:t>
            </a:r>
            <a:r>
              <a:rPr lang="en-US" dirty="0" err="1"/>
              <a:t>válida</a:t>
            </a:r>
            <a:r>
              <a:rPr lang="en-US" dirty="0"/>
              <a:t>, </a:t>
            </a:r>
            <a:r>
              <a:rPr lang="en-US" dirty="0" err="1"/>
              <a:t>mostrar</a:t>
            </a:r>
            <a:r>
              <a:rPr lang="en-US" dirty="0"/>
              <a:t> un </a:t>
            </a:r>
            <a:r>
              <a:rPr lang="en-US" dirty="0" err="1"/>
              <a:t>mensaje</a:t>
            </a:r>
            <a:r>
              <a:rPr lang="en-US" dirty="0"/>
              <a:t> de error.</a:t>
            </a:r>
          </a:p>
        </p:txBody>
      </p:sp>
    </p:spTree>
    <p:extLst>
      <p:ext uri="{BB962C8B-B14F-4D97-AF65-F5344CB8AC3E}">
        <p14:creationId xmlns:p14="http://schemas.microsoft.com/office/powerpoint/2010/main" val="1181724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B9918-71E5-8F0B-1684-0D09483E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0336F537-EEE2-60F3-E4A8-ACFE3EAB6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3264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E01F2127-7184-1D1C-9811-DC3CB58248BD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6CCB2D71-1C7F-8593-0CAD-48DADC0B6C4D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A9226F86-C5AE-E78A-903A-3E6315A3535F}"/>
              </a:ext>
            </a:extLst>
          </p:cNvPr>
          <p:cNvSpPr txBox="1"/>
          <p:nvPr/>
        </p:nvSpPr>
        <p:spPr>
          <a:xfrm>
            <a:off x="461033" y="1148329"/>
            <a:ext cx="8142378" cy="41569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Diccionario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 la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informacion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datos_transaccion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 -&gt;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”: 12345, 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fecha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”: “2024-10-01”,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”: 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“titular”: “Juan Pérez”,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”: 5000 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cuenta_destino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”: { 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“titular”: “Ana González”, 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”: 3000 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 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”: 4500 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7074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84B8A-A148-7D8C-8E8E-93FAA76AD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2C4BA8CA-7D28-8BA2-2DA3-BD04F5C19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5" y="1528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C195460A-2282-A710-F4A9-1F8335236007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3AFF275C-063E-D572-43CF-3E3B3692DFE4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EC89B3D2-AD60-F648-6B08-651A99E8BC68}"/>
              </a:ext>
            </a:extLst>
          </p:cNvPr>
          <p:cNvSpPr txBox="1"/>
          <p:nvPr/>
        </p:nvSpPr>
        <p:spPr>
          <a:xfrm>
            <a:off x="461033" y="1148329"/>
            <a:ext cx="8142378" cy="4133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Valida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es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posible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la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esPosibleTransaccion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”][“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”] &gt;=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”]: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endParaRPr lang="en-US" sz="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Actualizar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ejecutar_transaccion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esPosibleTransaccion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”][“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”] -=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”]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cuenta_destino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”][“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”] +=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”]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exitosa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(“Error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la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2524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DC5AC-09EF-AB29-D463-1BD4EA8B3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32FEA044-4A64-31E2-1B18-BFB93D20E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5" y="1528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C59BB8FD-302D-7F01-CC13-A042F3B9B7B6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C9A51515-F933-DFF6-0DBE-605EE3884F61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8B526716-E00A-237C-89DB-DB8916FD5A7E}"/>
              </a:ext>
            </a:extLst>
          </p:cNvPr>
          <p:cNvSpPr txBox="1"/>
          <p:nvPr/>
        </p:nvSpPr>
        <p:spPr>
          <a:xfrm>
            <a:off x="461033" y="1148329"/>
            <a:ext cx="8142378" cy="4133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ID: {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’]}”)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Fecha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fecha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’]}”)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nCuenta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Origen:”)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 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Titular: {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’][‘titular’]}”)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’][‘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’]}”)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nCuenta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Destino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Titular: {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cuenta_destino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’][‘titular’]}”)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cuenta_destino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’][‘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’]}”)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nMonto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’]}”)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-” * 40)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020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452A-07D3-D5DC-7268-3EDDBE5F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2714A08A-A886-A51A-184F-A7B7872B5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5" y="1528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41FAFCA2-178A-2578-FDE3-566ECE1B402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86345DA0-954E-6545-5FEB-8B9EAE1DCD84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8EABF05A-8959-E0A6-7B67-73FF384C1DC6}"/>
              </a:ext>
            </a:extLst>
          </p:cNvPr>
          <p:cNvSpPr txBox="1"/>
          <p:nvPr/>
        </p:nvSpPr>
        <p:spPr>
          <a:xfrm>
            <a:off x="461033" y="1148329"/>
            <a:ext cx="8142378" cy="4133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Iniciar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proceso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cargando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 la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datos_transaccion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antes de la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nDatos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iniciales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:\n”)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Ejecutar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ejecutar_transaccion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despues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nDatos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despues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:\n”)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753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78497-58ED-036B-C2E8-E7AB471D2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9BFFD3E1-C51E-B069-EF83-F277F733D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5" y="13223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ABCD7968-5CA1-0349-A312-DB4169DB363C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28" name="CuadroTexto 3">
            <a:extLst>
              <a:ext uri="{FF2B5EF4-FFF2-40B4-BE49-F238E27FC236}">
                <a16:creationId xmlns:a16="http://schemas.microsoft.com/office/drawing/2014/main" id="{5A413374-CE39-30CB-963B-CF426D7EF973}"/>
              </a:ext>
            </a:extLst>
          </p:cNvPr>
          <p:cNvSpPr txBox="1"/>
          <p:nvPr/>
        </p:nvSpPr>
        <p:spPr>
          <a:xfrm>
            <a:off x="461033" y="748219"/>
            <a:ext cx="404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01 - Solución</a:t>
            </a:r>
            <a:endParaRPr lang="es-CL" sz="2000" dirty="0"/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FEE127EB-B34E-3ACA-3A36-E9908C4525CB}"/>
              </a:ext>
            </a:extLst>
          </p:cNvPr>
          <p:cNvSpPr txBox="1"/>
          <p:nvPr/>
        </p:nvSpPr>
        <p:spPr>
          <a:xfrm>
            <a:off x="461033" y="1148329"/>
            <a:ext cx="2998447" cy="40068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Diccionario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 la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informacion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datos_transaccion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() -&gt;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”: 12345, 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fecha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”: “2024-10-01”,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”: {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“titular”: “Juan Pérez”,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”: 5000 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cuenta_destino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”: { 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“titular”: “Ana González”, 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”: 3000 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 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”: 4500 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esPosibleTransaccion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”][“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”] &gt;=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”]: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endParaRPr lang="en-US" sz="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Actualizar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endParaRPr lang="en-US" sz="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ejecutar_transaccion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esPosibleTransaccion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”][“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”] -=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”]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cuenta_destino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”][“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”] +=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”]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exitosa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(“Error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la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uadroTexto 2">
            <a:extLst>
              <a:ext uri="{FF2B5EF4-FFF2-40B4-BE49-F238E27FC236}">
                <a16:creationId xmlns:a16="http://schemas.microsoft.com/office/drawing/2014/main" id="{EFF89E30-02E1-B7E3-0A16-7C5B9D7E5E9A}"/>
              </a:ext>
            </a:extLst>
          </p:cNvPr>
          <p:cNvSpPr txBox="1"/>
          <p:nvPr/>
        </p:nvSpPr>
        <p:spPr>
          <a:xfrm>
            <a:off x="3508025" y="1148329"/>
            <a:ext cx="2998447" cy="40068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endParaRPr lang="en-US" sz="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ID: {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’]} 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Fecha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fecha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’]}”)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nCuenta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Origen:”)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 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Titular: {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’][‘titular’]}”)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cuenta_origen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’][‘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’]}”)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nCuenta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Destino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Titular: {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cuenta_destino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’][‘titular’]}”)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cuenta_destino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’][‘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saldo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’]}”)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f“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nMonto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[‘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monto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’]}”)</a:t>
            </a:r>
          </a:p>
          <a:p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-” * 40)</a:t>
            </a: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Iniciar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proceso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cargando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para la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datos_transaccion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antes de la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iniciales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:\n”)</a:t>
            </a:r>
          </a:p>
          <a:p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Ejecutar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ejecutar_transaccion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despues</a:t>
            </a:r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5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(“\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nDatos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despues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de la 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transaccion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:\n”)</a:t>
            </a:r>
          </a:p>
          <a:p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mostrar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lang="en-US" sz="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168E538-84FC-1FE0-86B5-F6863310A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172" y="407287"/>
            <a:ext cx="40802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00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C9972-1C43-A011-2564-CFD7E5CB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BAF0885C-E79D-71EA-B238-171E158F8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D44F45A-D7D6-D9B5-2E55-DE793DCC593E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Estructuras</a:t>
            </a:r>
          </a:p>
        </p:txBody>
      </p:sp>
    </p:spTree>
    <p:extLst>
      <p:ext uri="{BB962C8B-B14F-4D97-AF65-F5344CB8AC3E}">
        <p14:creationId xmlns:p14="http://schemas.microsoft.com/office/powerpoint/2010/main" val="7552760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2">
      <a:dk1>
        <a:srgbClr val="002060"/>
      </a:dk1>
      <a:lt1>
        <a:sysClr val="window" lastClr="FFFFFF"/>
      </a:lt1>
      <a:dk2>
        <a:srgbClr val="233F70"/>
      </a:dk2>
      <a:lt2>
        <a:srgbClr val="E7E6E6"/>
      </a:lt2>
      <a:accent1>
        <a:srgbClr val="8EAADB"/>
      </a:accent1>
      <a:accent2>
        <a:srgbClr val="ED7D31"/>
      </a:accent2>
      <a:accent3>
        <a:srgbClr val="A5A5A5"/>
      </a:accent3>
      <a:accent4>
        <a:srgbClr val="4B1E7D"/>
      </a:accent4>
      <a:accent5>
        <a:srgbClr val="5B9BD5"/>
      </a:accent5>
      <a:accent6>
        <a:srgbClr val="70AD47"/>
      </a:accent6>
      <a:hlink>
        <a:srgbClr val="7093D2"/>
      </a:hlink>
      <a:folHlink>
        <a:srgbClr val="757070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9f852db-6116-43f0-a01a-f747f551a9b7" xsi:nil="true"/>
    <lcf76f155ced4ddcb4097134ff3c332f xmlns="58e3b983-b9c9-4a9a-8434-0fe099e73c0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19FEBDE55BBC4C9423A487D4FB469E" ma:contentTypeVersion="14" ma:contentTypeDescription="Crear nuevo documento." ma:contentTypeScope="" ma:versionID="6e20bc3b459ff0cd322c92a7397b2624">
  <xsd:schema xmlns:xsd="http://www.w3.org/2001/XMLSchema" xmlns:xs="http://www.w3.org/2001/XMLSchema" xmlns:p="http://schemas.microsoft.com/office/2006/metadata/properties" xmlns:ns2="58e3b983-b9c9-4a9a-8434-0fe099e73c0e" xmlns:ns3="39f852db-6116-43f0-a01a-f747f551a9b7" targetNamespace="http://schemas.microsoft.com/office/2006/metadata/properties" ma:root="true" ma:fieldsID="d782a4296dd0c5e1e37edb3cb453af0e" ns2:_="" ns3:_="">
    <xsd:import namespace="58e3b983-b9c9-4a9a-8434-0fe099e73c0e"/>
    <xsd:import namespace="39f852db-6116-43f0-a01a-f747f551a9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e3b983-b9c9-4a9a-8434-0fe099e73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705287f6-a0ce-4ec6-a30b-593201b7cd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f852db-6116-43f0-a01a-f747f551a9b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70869caf-8c76-40f7-8ad7-64eead9b68ad}" ma:internalName="TaxCatchAll" ma:showField="CatchAllData" ma:web="39f852db-6116-43f0-a01a-f747f551a9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07E65D-B7E7-4384-A3FB-C858AB328B01}">
  <ds:schemaRefs>
    <ds:schemaRef ds:uri="http://schemas.microsoft.com/office/2006/metadata/properties"/>
    <ds:schemaRef ds:uri="http://www.w3.org/2000/xmlns/"/>
    <ds:schemaRef ds:uri="39f852db-6116-43f0-a01a-f747f551a9b7"/>
    <ds:schemaRef ds:uri="http://www.w3.org/2001/XMLSchema-instance"/>
    <ds:schemaRef ds:uri="58e3b983-b9c9-4a9a-8434-0fe099e73c0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A4F54C0-274B-4BA8-8CED-CC105680EB8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8e3b983-b9c9-4a9a-8434-0fe099e73c0e"/>
    <ds:schemaRef ds:uri="39f852db-6116-43f0-a01a-f747f551a9b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EAC05D-539B-49D6-A976-B2E885212C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{9DE77B2E-F1C7-7F4C-8A13-4B231F3723D3}tf16401378</Template>
  <TotalTime>2188</TotalTime>
  <Words>6455</Words>
  <Application>Microsoft Macintosh PowerPoint</Application>
  <PresentationFormat>On-screen Show (16:9)</PresentationFormat>
  <Paragraphs>836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Helvetica Neue</vt:lpstr>
      <vt:lpstr>Product Sans</vt:lpstr>
      <vt:lpstr>SWISS 721 CONDENSED BT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Usuario</dc:creator>
  <cp:lastModifiedBy>Rodrigo Olivares</cp:lastModifiedBy>
  <cp:revision>98</cp:revision>
  <dcterms:created xsi:type="dcterms:W3CDTF">2022-04-13T14:03:33Z</dcterms:created>
  <dcterms:modified xsi:type="dcterms:W3CDTF">2024-10-03T20:53:10Z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0x0101006319FEBDE55BBC4C9423A487D4FB469E</vt:lpwstr>
  </property>
</Properties>
</file>