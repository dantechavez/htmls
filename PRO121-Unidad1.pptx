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46"/>
  </p:notesMasterIdLst>
  <p:sldIdLst>
    <p:sldId id="265" r:id="rId5"/>
    <p:sldId id="266" r:id="rId6"/>
    <p:sldId id="311" r:id="rId7"/>
    <p:sldId id="271" r:id="rId8"/>
    <p:sldId id="273" r:id="rId9"/>
    <p:sldId id="276" r:id="rId10"/>
    <p:sldId id="275" r:id="rId11"/>
    <p:sldId id="279" r:id="rId12"/>
    <p:sldId id="277" r:id="rId13"/>
    <p:sldId id="280" r:id="rId14"/>
    <p:sldId id="278" r:id="rId15"/>
    <p:sldId id="281" r:id="rId16"/>
    <p:sldId id="284" r:id="rId17"/>
    <p:sldId id="285" r:id="rId18"/>
    <p:sldId id="282" r:id="rId19"/>
    <p:sldId id="286" r:id="rId20"/>
    <p:sldId id="287" r:id="rId21"/>
    <p:sldId id="283" r:id="rId22"/>
    <p:sldId id="288" r:id="rId23"/>
    <p:sldId id="292" r:id="rId24"/>
    <p:sldId id="289" r:id="rId25"/>
    <p:sldId id="293" r:id="rId26"/>
    <p:sldId id="294" r:id="rId27"/>
    <p:sldId id="295" r:id="rId28"/>
    <p:sldId id="290" r:id="rId29"/>
    <p:sldId id="291" r:id="rId30"/>
    <p:sldId id="307" r:id="rId31"/>
    <p:sldId id="296" r:id="rId32"/>
    <p:sldId id="298" r:id="rId33"/>
    <p:sldId id="299" r:id="rId34"/>
    <p:sldId id="300" r:id="rId35"/>
    <p:sldId id="301" r:id="rId36"/>
    <p:sldId id="302" r:id="rId37"/>
    <p:sldId id="304" r:id="rId38"/>
    <p:sldId id="306" r:id="rId39"/>
    <p:sldId id="303" r:id="rId40"/>
    <p:sldId id="305" r:id="rId41"/>
    <p:sldId id="308" r:id="rId42"/>
    <p:sldId id="309" r:id="rId43"/>
    <p:sldId id="310" r:id="rId44"/>
    <p:sldId id="312" r:id="rId4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E46"/>
    <a:srgbClr val="00272F"/>
    <a:srgbClr val="929292"/>
    <a:srgbClr val="12707F"/>
    <a:srgbClr val="020288"/>
    <a:srgbClr val="00C1E6"/>
    <a:srgbClr val="7C1F41"/>
    <a:srgbClr val="008BE0"/>
    <a:srgbClr val="F3F3F3"/>
    <a:srgbClr val="1E3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774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20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03C1A0-04C4-440C-BEFE-07A149FF1468}" type="datetimeFigureOut">
              <a:rPr lang="es-CL" smtClean="0"/>
              <a:t>03-09-24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91657-8EC8-443E-BD4D-DECB8E2BADAF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5489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03-09-24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937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03-09-24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34948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03-09-24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6546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03-09-24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169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03-09-24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6249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03-09-24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551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03-09-24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4402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03-09-24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7349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03-09-24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35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03-09-24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05615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4799-18C8-4AD2-B665-5924014CD327}" type="datetimeFigureOut">
              <a:rPr lang="es-CL" smtClean="0"/>
              <a:t>03-09-24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3315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24799-18C8-4AD2-B665-5924014CD327}" type="datetimeFigureOut">
              <a:rPr lang="es-CL" smtClean="0"/>
              <a:t>03-09-24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F6B11-1E57-4B30-81D0-1761BDD71655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197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video" Target="https://www.youtube.com/embed/WxJr143Os-A?start=35&amp;feature=oembed" TargetMode="External"/><Relationship Id="rId7" Type="http://schemas.openxmlformats.org/officeDocument/2006/relationships/image" Target="../media/image14.jpeg"/><Relationship Id="rId2" Type="http://schemas.openxmlformats.org/officeDocument/2006/relationships/video" Target="https://www.youtube.com/embed/MnFcMxqhWbQ?start=374&amp;feature=oembed" TargetMode="External"/><Relationship Id="rId1" Type="http://schemas.openxmlformats.org/officeDocument/2006/relationships/video" Target="https://www.youtube.com/embed/nLKjIKz6zSI?feature=oembed" TargetMode="External"/><Relationship Id="rId6" Type="http://schemas.openxmlformats.org/officeDocument/2006/relationships/image" Target="../media/image13.jpeg"/><Relationship Id="rId5" Type="http://schemas.openxmlformats.org/officeDocument/2006/relationships/image" Target="../media/image4.jpg"/><Relationship Id="rId4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F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16F051D-B807-4B11-92AA-B3AD055488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5" y="761"/>
            <a:ext cx="9141287" cy="514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43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91" y="-47349"/>
            <a:ext cx="9263921" cy="524955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83E587A-2136-DAFC-A5C8-BF2B6D52E5AC}"/>
              </a:ext>
            </a:extLst>
          </p:cNvPr>
          <p:cNvSpPr txBox="1"/>
          <p:nvPr/>
        </p:nvSpPr>
        <p:spPr>
          <a:xfrm>
            <a:off x="3266449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bg1">
                    <a:alpha val="70035"/>
                  </a:schemeClr>
                </a:solidFill>
                <a:latin typeface="SWISS 721 CONDENSED BT" panose="020B0506020202030204" pitchFamily="34" charset="0"/>
              </a:rPr>
              <a:t>Archivos y Bibliotecas</a:t>
            </a:r>
          </a:p>
        </p:txBody>
      </p:sp>
    </p:spTree>
    <p:extLst>
      <p:ext uri="{BB962C8B-B14F-4D97-AF65-F5344CB8AC3E}">
        <p14:creationId xmlns:p14="http://schemas.microsoft.com/office/powerpoint/2010/main" val="3989501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91" y="-47349"/>
            <a:ext cx="9263921" cy="524955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83E587A-2136-DAFC-A5C8-BF2B6D52E5AC}"/>
              </a:ext>
            </a:extLst>
          </p:cNvPr>
          <p:cNvSpPr txBox="1"/>
          <p:nvPr/>
        </p:nvSpPr>
        <p:spPr>
          <a:xfrm>
            <a:off x="3266449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bg1">
                    <a:alpha val="70035"/>
                  </a:schemeClr>
                </a:solidFill>
                <a:latin typeface="SWISS 721 CONDENSED BT" panose="020B0506020202030204" pitchFamily="34" charset="0"/>
              </a:rPr>
              <a:t>Módulo 01: Archivos</a:t>
            </a:r>
          </a:p>
        </p:txBody>
      </p:sp>
    </p:spTree>
    <p:extLst>
      <p:ext uri="{BB962C8B-B14F-4D97-AF65-F5344CB8AC3E}">
        <p14:creationId xmlns:p14="http://schemas.microsoft.com/office/powerpoint/2010/main" val="3705427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DB44EB2-7E04-8FA6-AAEA-9A4342877FB5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rgbClr val="012E46">
                    <a:alpha val="70035"/>
                  </a:srgbClr>
                </a:solidFill>
                <a:latin typeface="SWISS 721 CONDENSED BT" panose="020B0506020202030204" pitchFamily="34" charset="0"/>
              </a:rPr>
              <a:t>Archivos: Descripción general</a:t>
            </a:r>
          </a:p>
        </p:txBody>
      </p:sp>
    </p:spTree>
    <p:extLst>
      <p:ext uri="{BB962C8B-B14F-4D97-AF65-F5344CB8AC3E}">
        <p14:creationId xmlns:p14="http://schemas.microsoft.com/office/powerpoint/2010/main" val="3784209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993F06B-9CE4-8E3C-474E-983A43B0C194}"/>
              </a:ext>
            </a:extLst>
          </p:cNvPr>
          <p:cNvGrpSpPr/>
          <p:nvPr/>
        </p:nvGrpSpPr>
        <p:grpSpPr>
          <a:xfrm>
            <a:off x="5298929" y="1188413"/>
            <a:ext cx="2335484" cy="2810009"/>
            <a:chOff x="3436878" y="1617880"/>
            <a:chExt cx="2335484" cy="2810009"/>
          </a:xfrm>
        </p:grpSpPr>
        <p:pic>
          <p:nvPicPr>
            <p:cNvPr id="4" name="Gráfico 2" descr="Folder con relleno sólido">
              <a:extLst>
                <a:ext uri="{FF2B5EF4-FFF2-40B4-BE49-F238E27FC236}">
                  <a16:creationId xmlns:a16="http://schemas.microsoft.com/office/drawing/2014/main" id="{32948F5C-A1AC-C6B1-0151-A7CDA6E9A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436878" y="1617880"/>
              <a:ext cx="400110" cy="400110"/>
            </a:xfrm>
            <a:prstGeom prst="rect">
              <a:avLst/>
            </a:prstGeom>
          </p:spPr>
        </p:pic>
        <p:sp>
          <p:nvSpPr>
            <p:cNvPr id="5" name="CuadroTexto 5">
              <a:extLst>
                <a:ext uri="{FF2B5EF4-FFF2-40B4-BE49-F238E27FC236}">
                  <a16:creationId xmlns:a16="http://schemas.microsoft.com/office/drawing/2014/main" id="{044C9C56-BC3F-B678-8C22-396C8343F6CE}"/>
                </a:ext>
              </a:extLst>
            </p:cNvPr>
            <p:cNvSpPr txBox="1"/>
            <p:nvPr/>
          </p:nvSpPr>
          <p:spPr>
            <a:xfrm>
              <a:off x="3790494" y="1664046"/>
              <a:ext cx="64178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urier New" panose="02070309020205020404" pitchFamily="49" charset="0"/>
                  <a:ea typeface="Helvetica Neue"/>
                  <a:cs typeface="Courier New" panose="02070309020205020404" pitchFamily="49" charset="0"/>
                  <a:sym typeface="Helvetica Neue"/>
                </a:rPr>
                <a:t>C:\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pic>
          <p:nvPicPr>
            <p:cNvPr id="6" name="Gráfico 6" descr="Folder con relleno sólido">
              <a:extLst>
                <a:ext uri="{FF2B5EF4-FFF2-40B4-BE49-F238E27FC236}">
                  <a16:creationId xmlns:a16="http://schemas.microsoft.com/office/drawing/2014/main" id="{7B322FF4-EFAE-0913-1801-09703600E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30937" y="2054730"/>
              <a:ext cx="400110" cy="400110"/>
            </a:xfrm>
            <a:prstGeom prst="rect">
              <a:avLst/>
            </a:prstGeom>
          </p:spPr>
        </p:pic>
        <p:sp>
          <p:nvSpPr>
            <p:cNvPr id="7" name="CuadroTexto 9">
              <a:extLst>
                <a:ext uri="{FF2B5EF4-FFF2-40B4-BE49-F238E27FC236}">
                  <a16:creationId xmlns:a16="http://schemas.microsoft.com/office/drawing/2014/main" id="{496616A9-350D-B070-CE7F-B2E2D8E213B1}"/>
                </a:ext>
              </a:extLst>
            </p:cNvPr>
            <p:cNvSpPr txBox="1"/>
            <p:nvPr/>
          </p:nvSpPr>
          <p:spPr>
            <a:xfrm>
              <a:off x="4036590" y="2114891"/>
              <a:ext cx="84302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000000"/>
                  </a:solidFill>
                  <a:latin typeface="Courier New" panose="02070309020205020404" pitchFamily="49" charset="0"/>
                  <a:ea typeface="Arial"/>
                  <a:cs typeface="Courier New" panose="02070309020205020404" pitchFamily="49" charset="0"/>
                  <a:sym typeface="Arial"/>
                </a:rPr>
                <a:t>tareas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pic>
          <p:nvPicPr>
            <p:cNvPr id="8" name="Gráfico 16" descr="Folder con relleno sólido">
              <a:extLst>
                <a:ext uri="{FF2B5EF4-FFF2-40B4-BE49-F238E27FC236}">
                  <a16:creationId xmlns:a16="http://schemas.microsoft.com/office/drawing/2014/main" id="{93210637-E2C8-CC7B-3A29-CD653D83D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30937" y="3325941"/>
              <a:ext cx="400110" cy="400110"/>
            </a:xfrm>
            <a:prstGeom prst="rect">
              <a:avLst/>
            </a:prstGeom>
          </p:spPr>
        </p:pic>
        <p:sp>
          <p:nvSpPr>
            <p:cNvPr id="9" name="CuadroTexto 17">
              <a:extLst>
                <a:ext uri="{FF2B5EF4-FFF2-40B4-BE49-F238E27FC236}">
                  <a16:creationId xmlns:a16="http://schemas.microsoft.com/office/drawing/2014/main" id="{00C9C00C-AFAB-D6C7-E3CC-7407604B4EB2}"/>
                </a:ext>
              </a:extLst>
            </p:cNvPr>
            <p:cNvSpPr txBox="1"/>
            <p:nvPr/>
          </p:nvSpPr>
          <p:spPr>
            <a:xfrm>
              <a:off x="4027808" y="3376110"/>
              <a:ext cx="131679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rgbClr val="000000"/>
                  </a:solidFill>
                  <a:latin typeface="Courier New" panose="02070309020205020404" pitchFamily="49" charset="0"/>
                  <a:ea typeface="Arial"/>
                  <a:cs typeface="Courier New" panose="02070309020205020404" pitchFamily="49" charset="0"/>
                  <a:sym typeface="Arial"/>
                </a:rPr>
                <a:t>documentos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pic>
          <p:nvPicPr>
            <p:cNvPr id="10" name="Gráfico 18" descr="Document con relleno sólido">
              <a:extLst>
                <a:ext uri="{FF2B5EF4-FFF2-40B4-BE49-F238E27FC236}">
                  <a16:creationId xmlns:a16="http://schemas.microsoft.com/office/drawing/2014/main" id="{2BAC7980-BD1E-49CE-B6EC-DEA1C2E53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94178" y="2496926"/>
              <a:ext cx="307777" cy="307777"/>
            </a:xfrm>
            <a:prstGeom prst="rect">
              <a:avLst/>
            </a:prstGeom>
          </p:spPr>
        </p:pic>
        <p:pic>
          <p:nvPicPr>
            <p:cNvPr id="11" name="Gráfico 19" descr="Document con relleno sólido">
              <a:extLst>
                <a:ext uri="{FF2B5EF4-FFF2-40B4-BE49-F238E27FC236}">
                  <a16:creationId xmlns:a16="http://schemas.microsoft.com/office/drawing/2014/main" id="{86E94984-92D4-98CC-7915-C344DFC2C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13756" y="2872971"/>
              <a:ext cx="307777" cy="307777"/>
            </a:xfrm>
            <a:prstGeom prst="rect">
              <a:avLst/>
            </a:prstGeom>
          </p:spPr>
        </p:pic>
        <p:pic>
          <p:nvPicPr>
            <p:cNvPr id="12" name="Gráfico 20" descr="Document con relleno sólido">
              <a:extLst>
                <a:ext uri="{FF2B5EF4-FFF2-40B4-BE49-F238E27FC236}">
                  <a16:creationId xmlns:a16="http://schemas.microsoft.com/office/drawing/2014/main" id="{D23FE68D-DD4A-5AC3-4995-11A01A107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21860" y="3736737"/>
              <a:ext cx="307777" cy="307777"/>
            </a:xfrm>
            <a:prstGeom prst="rect">
              <a:avLst/>
            </a:prstGeom>
          </p:spPr>
        </p:pic>
        <p:sp>
          <p:nvSpPr>
            <p:cNvPr id="13" name="CuadroTexto 21">
              <a:extLst>
                <a:ext uri="{FF2B5EF4-FFF2-40B4-BE49-F238E27FC236}">
                  <a16:creationId xmlns:a16="http://schemas.microsoft.com/office/drawing/2014/main" id="{FD66E68A-9B20-3DCC-E5D8-4BB8BCAC4E2A}"/>
                </a:ext>
              </a:extLst>
            </p:cNvPr>
            <p:cNvSpPr txBox="1"/>
            <p:nvPr/>
          </p:nvSpPr>
          <p:spPr>
            <a:xfrm>
              <a:off x="4215214" y="2541806"/>
              <a:ext cx="113890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 dirty="0">
                  <a:solidFill>
                    <a:srgbClr val="000000"/>
                  </a:solidFill>
                  <a:latin typeface="Courier New" panose="02070309020205020404" pitchFamily="49" charset="0"/>
                  <a:ea typeface="Arial"/>
                  <a:cs typeface="Courier New" panose="02070309020205020404" pitchFamily="49" charset="0"/>
                  <a:sym typeface="Arial"/>
                </a:rPr>
                <a:t>informe.docx</a:t>
              </a:r>
              <a:endParaRPr lang="es-ES" sz="105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sp>
          <p:nvSpPr>
            <p:cNvPr id="14" name="CuadroTexto 22">
              <a:extLst>
                <a:ext uri="{FF2B5EF4-FFF2-40B4-BE49-F238E27FC236}">
                  <a16:creationId xmlns:a16="http://schemas.microsoft.com/office/drawing/2014/main" id="{ECFF051D-C116-613A-A8E7-F5AD564E00C0}"/>
                </a:ext>
              </a:extLst>
            </p:cNvPr>
            <p:cNvSpPr txBox="1"/>
            <p:nvPr/>
          </p:nvSpPr>
          <p:spPr>
            <a:xfrm>
              <a:off x="4215214" y="2923621"/>
              <a:ext cx="138062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 dirty="0">
                  <a:solidFill>
                    <a:srgbClr val="000000"/>
                  </a:solidFill>
                  <a:latin typeface="Courier New" panose="02070309020205020404" pitchFamily="49" charset="0"/>
                  <a:ea typeface="Arial"/>
                  <a:cs typeface="Courier New" panose="02070309020205020404" pitchFamily="49" charset="0"/>
                  <a:sym typeface="Arial"/>
                </a:rPr>
                <a:t>mediciones.xlsx</a:t>
              </a:r>
              <a:endParaRPr lang="es-ES" sz="105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sp>
          <p:nvSpPr>
            <p:cNvPr id="15" name="CuadroTexto 23">
              <a:extLst>
                <a:ext uri="{FF2B5EF4-FFF2-40B4-BE49-F238E27FC236}">
                  <a16:creationId xmlns:a16="http://schemas.microsoft.com/office/drawing/2014/main" id="{3329D98C-5883-4F82-AC69-EC78D14A6FE3}"/>
                </a:ext>
              </a:extLst>
            </p:cNvPr>
            <p:cNvSpPr txBox="1"/>
            <p:nvPr/>
          </p:nvSpPr>
          <p:spPr>
            <a:xfrm>
              <a:off x="4264692" y="3782904"/>
              <a:ext cx="150767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 dirty="0">
                  <a:solidFill>
                    <a:srgbClr val="000000"/>
                  </a:solidFill>
                  <a:latin typeface="Courier New" panose="02070309020205020404" pitchFamily="49" charset="0"/>
                  <a:ea typeface="Arial"/>
                  <a:cs typeface="Courier New" panose="02070309020205020404" pitchFamily="49" charset="0"/>
                  <a:sym typeface="Arial"/>
                </a:rPr>
                <a:t>curriculum.docx</a:t>
              </a:r>
              <a:endParaRPr lang="es-ES" sz="105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pic>
          <p:nvPicPr>
            <p:cNvPr id="16" name="Gráfico 24" descr="Document con relleno sólido">
              <a:extLst>
                <a:ext uri="{FF2B5EF4-FFF2-40B4-BE49-F238E27FC236}">
                  <a16:creationId xmlns:a16="http://schemas.microsoft.com/office/drawing/2014/main" id="{4FF4A870-FB0C-F09A-3170-F35F5AA67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021860" y="4120112"/>
              <a:ext cx="307777" cy="307777"/>
            </a:xfrm>
            <a:prstGeom prst="rect">
              <a:avLst/>
            </a:prstGeom>
          </p:spPr>
        </p:pic>
        <p:sp>
          <p:nvSpPr>
            <p:cNvPr id="17" name="CuadroTexto 34">
              <a:extLst>
                <a:ext uri="{FF2B5EF4-FFF2-40B4-BE49-F238E27FC236}">
                  <a16:creationId xmlns:a16="http://schemas.microsoft.com/office/drawing/2014/main" id="{787F87FC-21FE-FB26-0947-D9F81A7ED9CE}"/>
                </a:ext>
              </a:extLst>
            </p:cNvPr>
            <p:cNvSpPr txBox="1"/>
            <p:nvPr/>
          </p:nvSpPr>
          <p:spPr>
            <a:xfrm>
              <a:off x="4264692" y="4166279"/>
              <a:ext cx="150767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 dirty="0">
                  <a:solidFill>
                    <a:srgbClr val="000000"/>
                  </a:solidFill>
                  <a:latin typeface="Courier New" panose="02070309020205020404" pitchFamily="49" charset="0"/>
                  <a:ea typeface="Arial"/>
                  <a:cs typeface="Courier New" panose="02070309020205020404" pitchFamily="49" charset="0"/>
                  <a:sym typeface="Arial"/>
                </a:rPr>
                <a:t>valpo_bares.docx</a:t>
              </a:r>
              <a:endParaRPr lang="es-ES" sz="105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cxnSp>
          <p:nvCxnSpPr>
            <p:cNvPr id="19" name="Conector recto 35">
              <a:extLst>
                <a:ext uri="{FF2B5EF4-FFF2-40B4-BE49-F238E27FC236}">
                  <a16:creationId xmlns:a16="http://schemas.microsoft.com/office/drawing/2014/main" id="{8C779306-1E78-B7FC-A0D3-0AFB253FCB00}"/>
                </a:ext>
              </a:extLst>
            </p:cNvPr>
            <p:cNvCxnSpPr>
              <a:cxnSpLocks/>
            </p:cNvCxnSpPr>
            <p:nvPr/>
          </p:nvCxnSpPr>
          <p:spPr>
            <a:xfrm>
              <a:off x="3922343" y="2331467"/>
              <a:ext cx="103" cy="72452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36">
              <a:extLst>
                <a:ext uri="{FF2B5EF4-FFF2-40B4-BE49-F238E27FC236}">
                  <a16:creationId xmlns:a16="http://schemas.microsoft.com/office/drawing/2014/main" id="{0967176F-E4E7-A192-5A27-08726B9DF51C}"/>
                </a:ext>
              </a:extLst>
            </p:cNvPr>
            <p:cNvCxnSpPr>
              <a:cxnSpLocks/>
            </p:cNvCxnSpPr>
            <p:nvPr/>
          </p:nvCxnSpPr>
          <p:spPr>
            <a:xfrm>
              <a:off x="3916754" y="3611988"/>
              <a:ext cx="0" cy="70945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37">
              <a:extLst>
                <a:ext uri="{FF2B5EF4-FFF2-40B4-BE49-F238E27FC236}">
                  <a16:creationId xmlns:a16="http://schemas.microsoft.com/office/drawing/2014/main" id="{565AF814-A58D-31FA-A202-67FC27F863BB}"/>
                </a:ext>
              </a:extLst>
            </p:cNvPr>
            <p:cNvCxnSpPr>
              <a:cxnSpLocks/>
            </p:cNvCxnSpPr>
            <p:nvPr/>
          </p:nvCxnSpPr>
          <p:spPr>
            <a:xfrm>
              <a:off x="3905117" y="4321443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40">
              <a:extLst>
                <a:ext uri="{FF2B5EF4-FFF2-40B4-BE49-F238E27FC236}">
                  <a16:creationId xmlns:a16="http://schemas.microsoft.com/office/drawing/2014/main" id="{4549217C-F383-05C8-F4B2-8B2790DDEDBC}"/>
                </a:ext>
              </a:extLst>
            </p:cNvPr>
            <p:cNvCxnSpPr>
              <a:cxnSpLocks/>
            </p:cNvCxnSpPr>
            <p:nvPr/>
          </p:nvCxnSpPr>
          <p:spPr>
            <a:xfrm>
              <a:off x="3909432" y="3055995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41">
              <a:extLst>
                <a:ext uri="{FF2B5EF4-FFF2-40B4-BE49-F238E27FC236}">
                  <a16:creationId xmlns:a16="http://schemas.microsoft.com/office/drawing/2014/main" id="{A2AE8262-E6B4-BF00-452D-E4E344353528}"/>
                </a:ext>
              </a:extLst>
            </p:cNvPr>
            <p:cNvCxnSpPr>
              <a:cxnSpLocks/>
            </p:cNvCxnSpPr>
            <p:nvPr/>
          </p:nvCxnSpPr>
          <p:spPr>
            <a:xfrm>
              <a:off x="3912209" y="2661465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42">
              <a:extLst>
                <a:ext uri="{FF2B5EF4-FFF2-40B4-BE49-F238E27FC236}">
                  <a16:creationId xmlns:a16="http://schemas.microsoft.com/office/drawing/2014/main" id="{4094F970-99F6-2901-7B50-680D009A7F02}"/>
                </a:ext>
              </a:extLst>
            </p:cNvPr>
            <p:cNvCxnSpPr>
              <a:cxnSpLocks/>
            </p:cNvCxnSpPr>
            <p:nvPr/>
          </p:nvCxnSpPr>
          <p:spPr>
            <a:xfrm>
              <a:off x="3917063" y="3915772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50">
              <a:extLst>
                <a:ext uri="{FF2B5EF4-FFF2-40B4-BE49-F238E27FC236}">
                  <a16:creationId xmlns:a16="http://schemas.microsoft.com/office/drawing/2014/main" id="{1807F011-EF8B-5D2E-F2F9-BF117F09E0D7}"/>
                </a:ext>
              </a:extLst>
            </p:cNvPr>
            <p:cNvCxnSpPr>
              <a:cxnSpLocks/>
            </p:cNvCxnSpPr>
            <p:nvPr/>
          </p:nvCxnSpPr>
          <p:spPr>
            <a:xfrm>
              <a:off x="3620814" y="1934862"/>
              <a:ext cx="0" cy="155679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52">
              <a:extLst>
                <a:ext uri="{FF2B5EF4-FFF2-40B4-BE49-F238E27FC236}">
                  <a16:creationId xmlns:a16="http://schemas.microsoft.com/office/drawing/2014/main" id="{5948B4F3-9FC3-0ABA-D9C7-ACDB2E3D9215}"/>
                </a:ext>
              </a:extLst>
            </p:cNvPr>
            <p:cNvCxnSpPr>
              <a:cxnSpLocks/>
            </p:cNvCxnSpPr>
            <p:nvPr/>
          </p:nvCxnSpPr>
          <p:spPr>
            <a:xfrm>
              <a:off x="3620814" y="2266934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53">
              <a:extLst>
                <a:ext uri="{FF2B5EF4-FFF2-40B4-BE49-F238E27FC236}">
                  <a16:creationId xmlns:a16="http://schemas.microsoft.com/office/drawing/2014/main" id="{D5BE0A09-F794-4423-5CB5-79F9A2CE9AE2}"/>
                </a:ext>
              </a:extLst>
            </p:cNvPr>
            <p:cNvCxnSpPr>
              <a:cxnSpLocks/>
            </p:cNvCxnSpPr>
            <p:nvPr/>
          </p:nvCxnSpPr>
          <p:spPr>
            <a:xfrm>
              <a:off x="3620814" y="3491655"/>
              <a:ext cx="1524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CuadroTexto 3">
            <a:extLst>
              <a:ext uri="{FF2B5EF4-FFF2-40B4-BE49-F238E27FC236}">
                <a16:creationId xmlns:a16="http://schemas.microsoft.com/office/drawing/2014/main" id="{0713582C-534E-D44B-DE88-56DB92F3771F}"/>
              </a:ext>
            </a:extLst>
          </p:cNvPr>
          <p:cNvSpPr txBox="1"/>
          <p:nvPr/>
        </p:nvSpPr>
        <p:spPr>
          <a:xfrm>
            <a:off x="461033" y="748219"/>
            <a:ext cx="18190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Definición</a:t>
            </a:r>
            <a:endParaRPr lang="es-CL" sz="2000" dirty="0"/>
          </a:p>
        </p:txBody>
      </p:sp>
      <p:sp>
        <p:nvSpPr>
          <p:cNvPr id="29" name="CuadroTexto 4">
            <a:extLst>
              <a:ext uri="{FF2B5EF4-FFF2-40B4-BE49-F238E27FC236}">
                <a16:creationId xmlns:a16="http://schemas.microsoft.com/office/drawing/2014/main" id="{6D1F360D-8C30-A2E8-0DBE-8776BF9703FE}"/>
              </a:ext>
            </a:extLst>
          </p:cNvPr>
          <p:cNvSpPr txBox="1"/>
          <p:nvPr/>
        </p:nvSpPr>
        <p:spPr>
          <a:xfrm>
            <a:off x="461034" y="1801759"/>
            <a:ext cx="3930734" cy="194373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Son estructuras que almacenan datos en forma persistente.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1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guardan en discos duros, de estado sólido, pendrives, dvd, blue-ray, etc.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organizan en directorios o carpetas.</a:t>
            </a:r>
          </a:p>
        </p:txBody>
      </p:sp>
    </p:spTree>
    <p:extLst>
      <p:ext uri="{BB962C8B-B14F-4D97-AF65-F5344CB8AC3E}">
        <p14:creationId xmlns:p14="http://schemas.microsoft.com/office/powerpoint/2010/main" val="2015527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30" name="CuadroTexto 10">
            <a:extLst>
              <a:ext uri="{FF2B5EF4-FFF2-40B4-BE49-F238E27FC236}">
                <a16:creationId xmlns:a16="http://schemas.microsoft.com/office/drawing/2014/main" id="{96236E58-60FF-F38D-8B41-FC2C71789ADC}"/>
              </a:ext>
            </a:extLst>
          </p:cNvPr>
          <p:cNvSpPr txBox="1"/>
          <p:nvPr/>
        </p:nvSpPr>
        <p:spPr>
          <a:xfrm>
            <a:off x="3711622" y="1352669"/>
            <a:ext cx="3587516" cy="387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ejemplo: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c:/tareas/informe.docx</a:t>
            </a:r>
          </a:p>
        </p:txBody>
      </p:sp>
      <p:sp>
        <p:nvSpPr>
          <p:cNvPr id="32" name="CuadroTexto 7">
            <a:extLst>
              <a:ext uri="{FF2B5EF4-FFF2-40B4-BE49-F238E27FC236}">
                <a16:creationId xmlns:a16="http://schemas.microsoft.com/office/drawing/2014/main" id="{5D635E28-395D-74A6-3BAE-DF5E7B60DE0F}"/>
              </a:ext>
            </a:extLst>
          </p:cNvPr>
          <p:cNvSpPr txBox="1"/>
          <p:nvPr/>
        </p:nvSpPr>
        <p:spPr>
          <a:xfrm>
            <a:off x="7626690" y="1352669"/>
            <a:ext cx="1316215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Ruta del archivo</a:t>
            </a:r>
            <a:endParaRPr lang="es-E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CuadroTexto 8">
            <a:extLst>
              <a:ext uri="{FF2B5EF4-FFF2-40B4-BE49-F238E27FC236}">
                <a16:creationId xmlns:a16="http://schemas.microsoft.com/office/drawing/2014/main" id="{F4A0E958-10BD-6B35-7ACA-D11952C291A8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Características principales</a:t>
            </a:r>
            <a:endParaRPr lang="es-CL" sz="2000" dirty="0"/>
          </a:p>
        </p:txBody>
      </p:sp>
      <p:sp>
        <p:nvSpPr>
          <p:cNvPr id="34" name="CuadroTexto 12">
            <a:extLst>
              <a:ext uri="{FF2B5EF4-FFF2-40B4-BE49-F238E27FC236}">
                <a16:creationId xmlns:a16="http://schemas.microsoft.com/office/drawing/2014/main" id="{BA6DB180-A5D2-32CD-97F0-781F962E7EFE}"/>
              </a:ext>
            </a:extLst>
          </p:cNvPr>
          <p:cNvSpPr txBox="1"/>
          <p:nvPr/>
        </p:nvSpPr>
        <p:spPr>
          <a:xfrm>
            <a:off x="480895" y="870833"/>
            <a:ext cx="26802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Ubicación en el medio de almacenamiento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35" name="Rectángulo redondeado 13">
            <a:extLst>
              <a:ext uri="{FF2B5EF4-FFF2-40B4-BE49-F238E27FC236}">
                <a16:creationId xmlns:a16="http://schemas.microsoft.com/office/drawing/2014/main" id="{B8D8BF04-DFDE-BE32-2C3C-3BBF92D20438}"/>
              </a:ext>
            </a:extLst>
          </p:cNvPr>
          <p:cNvSpPr/>
          <p:nvPr/>
        </p:nvSpPr>
        <p:spPr>
          <a:xfrm>
            <a:off x="4812665" y="1430405"/>
            <a:ext cx="2455477" cy="271520"/>
          </a:xfrm>
          <a:prstGeom prst="roundRect">
            <a:avLst>
              <a:gd name="adj" fmla="val 3824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36" name="Conector angular 15">
            <a:extLst>
              <a:ext uri="{FF2B5EF4-FFF2-40B4-BE49-F238E27FC236}">
                <a16:creationId xmlns:a16="http://schemas.microsoft.com/office/drawing/2014/main" id="{1BA6A247-532A-C62F-CE4A-7B75D5027F83}"/>
              </a:ext>
            </a:extLst>
          </p:cNvPr>
          <p:cNvCxnSpPr>
            <a:cxnSpLocks/>
            <a:stCxn id="35" idx="0"/>
            <a:endCxn id="32" idx="0"/>
          </p:cNvCxnSpPr>
          <p:nvPr/>
        </p:nvCxnSpPr>
        <p:spPr>
          <a:xfrm rot="5400000" flipH="1" flipV="1">
            <a:off x="7123733" y="269340"/>
            <a:ext cx="77736" cy="2244394"/>
          </a:xfrm>
          <a:prstGeom prst="bentConnector3">
            <a:avLst>
              <a:gd name="adj1" fmla="val 39407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uadroTexto 25">
            <a:extLst>
              <a:ext uri="{FF2B5EF4-FFF2-40B4-BE49-F238E27FC236}">
                <a16:creationId xmlns:a16="http://schemas.microsoft.com/office/drawing/2014/main" id="{4073B9A4-D631-C844-0D95-6D3CB6E42F90}"/>
              </a:ext>
            </a:extLst>
          </p:cNvPr>
          <p:cNvSpPr txBox="1"/>
          <p:nvPr/>
        </p:nvSpPr>
        <p:spPr>
          <a:xfrm>
            <a:off x="1277400" y="1758798"/>
            <a:ext cx="1738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Tipos de rutas:</a:t>
            </a:r>
            <a:endParaRPr lang="es-CL" sz="1600" dirty="0"/>
          </a:p>
        </p:txBody>
      </p:sp>
      <p:sp>
        <p:nvSpPr>
          <p:cNvPr id="38" name="CuadroTexto 26">
            <a:extLst>
              <a:ext uri="{FF2B5EF4-FFF2-40B4-BE49-F238E27FC236}">
                <a16:creationId xmlns:a16="http://schemas.microsoft.com/office/drawing/2014/main" id="{834739CB-518D-5E6E-D115-D8179CB2AE67}"/>
              </a:ext>
            </a:extLst>
          </p:cNvPr>
          <p:cNvSpPr txBox="1"/>
          <p:nvPr/>
        </p:nvSpPr>
        <p:spPr>
          <a:xfrm>
            <a:off x="1697935" y="2189472"/>
            <a:ext cx="12120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037084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absolutas:</a:t>
            </a:r>
            <a:endParaRPr lang="es-CL" sz="1600" dirty="0">
              <a:solidFill>
                <a:srgbClr val="037084"/>
              </a:solidFill>
            </a:endParaRPr>
          </a:p>
        </p:txBody>
      </p:sp>
      <p:sp>
        <p:nvSpPr>
          <p:cNvPr id="39" name="CuadroTexto 27">
            <a:extLst>
              <a:ext uri="{FF2B5EF4-FFF2-40B4-BE49-F238E27FC236}">
                <a16:creationId xmlns:a16="http://schemas.microsoft.com/office/drawing/2014/main" id="{C849FDB2-E1C3-F5BA-B3EB-F31FA816C2FD}"/>
              </a:ext>
            </a:extLst>
          </p:cNvPr>
          <p:cNvSpPr txBox="1"/>
          <p:nvPr/>
        </p:nvSpPr>
        <p:spPr>
          <a:xfrm>
            <a:off x="2909964" y="2137616"/>
            <a:ext cx="4179656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Comienzan con la letra de la unidad (en windows) o con el símbolo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(en unix y sus derivados)</a:t>
            </a:r>
          </a:p>
        </p:txBody>
      </p:sp>
      <p:sp>
        <p:nvSpPr>
          <p:cNvPr id="40" name="CuadroTexto 28">
            <a:extLst>
              <a:ext uri="{FF2B5EF4-FFF2-40B4-BE49-F238E27FC236}">
                <a16:creationId xmlns:a16="http://schemas.microsoft.com/office/drawing/2014/main" id="{5142F028-F769-93E1-0CA4-1ED1B5B75A05}"/>
              </a:ext>
            </a:extLst>
          </p:cNvPr>
          <p:cNvSpPr txBox="1"/>
          <p:nvPr/>
        </p:nvSpPr>
        <p:spPr>
          <a:xfrm>
            <a:off x="1744429" y="2930821"/>
            <a:ext cx="12120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037084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relativas:</a:t>
            </a:r>
            <a:endParaRPr lang="es-CL" sz="1600" dirty="0">
              <a:solidFill>
                <a:srgbClr val="037084"/>
              </a:solidFill>
            </a:endParaRPr>
          </a:p>
        </p:txBody>
      </p:sp>
      <p:sp>
        <p:nvSpPr>
          <p:cNvPr id="41" name="CuadroTexto 29">
            <a:extLst>
              <a:ext uri="{FF2B5EF4-FFF2-40B4-BE49-F238E27FC236}">
                <a16:creationId xmlns:a16="http://schemas.microsoft.com/office/drawing/2014/main" id="{FCC0A8F8-AEEE-9632-364E-D706300D19E8}"/>
              </a:ext>
            </a:extLst>
          </p:cNvPr>
          <p:cNvSpPr txBox="1"/>
          <p:nvPr/>
        </p:nvSpPr>
        <p:spPr>
          <a:xfrm>
            <a:off x="2909964" y="2886714"/>
            <a:ext cx="4880050" cy="1343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Cualquier ruta que no comience con los caracteres anteriores. Son relativas a un directorio de referencia. Este directorio de referencia, en general, es el directorio donde se localiza el script python que se está desarrollando.</a:t>
            </a:r>
          </a:p>
        </p:txBody>
      </p:sp>
      <p:sp>
        <p:nvSpPr>
          <p:cNvPr id="46" name="CuadroTexto 5">
            <a:extLst>
              <a:ext uri="{FF2B5EF4-FFF2-40B4-BE49-F238E27FC236}">
                <a16:creationId xmlns:a16="http://schemas.microsoft.com/office/drawing/2014/main" id="{525D8AD7-8841-6045-9634-D2B095736214}"/>
              </a:ext>
            </a:extLst>
          </p:cNvPr>
          <p:cNvSpPr txBox="1"/>
          <p:nvPr/>
        </p:nvSpPr>
        <p:spPr>
          <a:xfrm>
            <a:off x="687286" y="4900496"/>
            <a:ext cx="6500258" cy="239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7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 Si bien en windows se utiliza el caracter '\' como separador de carpetas, en estos apuntes se utiliza el caracter '/', debido a que python utilizar este último.</a:t>
            </a:r>
            <a:endParaRPr lang="es-ES" sz="700" dirty="0">
              <a:solidFill>
                <a:schemeClr val="dk1"/>
              </a:solidFill>
              <a:latin typeface="Courier New" panose="02070309020205020404" pitchFamily="49" charset="0"/>
              <a:ea typeface="Helvetica Neue"/>
              <a:cs typeface="Courier New" panose="02070309020205020404" pitchFamily="49" charset="0"/>
              <a:sym typeface="Helvetica Neue"/>
            </a:endParaRPr>
          </a:p>
        </p:txBody>
      </p:sp>
      <p:sp>
        <p:nvSpPr>
          <p:cNvPr id="47" name="CuadroTexto 6">
            <a:extLst>
              <a:ext uri="{FF2B5EF4-FFF2-40B4-BE49-F238E27FC236}">
                <a16:creationId xmlns:a16="http://schemas.microsoft.com/office/drawing/2014/main" id="{C132220B-AEEF-F20B-0B5C-0DB1AD4FD13C}"/>
              </a:ext>
            </a:extLst>
          </p:cNvPr>
          <p:cNvSpPr txBox="1"/>
          <p:nvPr/>
        </p:nvSpPr>
        <p:spPr>
          <a:xfrm>
            <a:off x="5751397" y="593852"/>
            <a:ext cx="289006" cy="11042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8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</a:t>
            </a:r>
            <a:endParaRPr lang="es-ES" sz="4800" dirty="0">
              <a:solidFill>
                <a:schemeClr val="dk1"/>
              </a:solidFill>
              <a:latin typeface="Courier New" panose="02070309020205020404" pitchFamily="49" charset="0"/>
              <a:ea typeface="Helvetica Neue"/>
              <a:cs typeface="Courier New" panose="02070309020205020404" pitchFamily="49" charset="0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44749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Características principales</a:t>
            </a:r>
            <a:endParaRPr lang="es-CL" sz="2000" dirty="0"/>
          </a:p>
        </p:txBody>
      </p:sp>
      <p:sp>
        <p:nvSpPr>
          <p:cNvPr id="52" name="CuadroTexto 10">
            <a:extLst>
              <a:ext uri="{FF2B5EF4-FFF2-40B4-BE49-F238E27FC236}">
                <a16:creationId xmlns:a16="http://schemas.microsoft.com/office/drawing/2014/main" id="{B450AEE3-5399-C686-603F-1A083B1224CD}"/>
              </a:ext>
            </a:extLst>
          </p:cNvPr>
          <p:cNvSpPr txBox="1"/>
          <p:nvPr/>
        </p:nvSpPr>
        <p:spPr>
          <a:xfrm>
            <a:off x="4208817" y="982497"/>
            <a:ext cx="3957689" cy="469359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c:/tareas/informe.docx</a:t>
            </a:r>
          </a:p>
        </p:txBody>
      </p:sp>
      <p:sp>
        <p:nvSpPr>
          <p:cNvPr id="53" name="CuadroTexto 7">
            <a:extLst>
              <a:ext uri="{FF2B5EF4-FFF2-40B4-BE49-F238E27FC236}">
                <a16:creationId xmlns:a16="http://schemas.microsoft.com/office/drawing/2014/main" id="{81B93F9D-67B5-F303-D181-940D9C4F56A2}"/>
              </a:ext>
            </a:extLst>
          </p:cNvPr>
          <p:cNvSpPr txBox="1"/>
          <p:nvPr/>
        </p:nvSpPr>
        <p:spPr>
          <a:xfrm>
            <a:off x="6864921" y="487047"/>
            <a:ext cx="1620453" cy="33855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archivo</a:t>
            </a:r>
            <a:endParaRPr lang="es-ES"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Rectángulo redondeado 13">
            <a:extLst>
              <a:ext uri="{FF2B5EF4-FFF2-40B4-BE49-F238E27FC236}">
                <a16:creationId xmlns:a16="http://schemas.microsoft.com/office/drawing/2014/main" id="{304A73EC-D661-A1D9-C172-9DA44B0A2E4F}"/>
              </a:ext>
            </a:extLst>
          </p:cNvPr>
          <p:cNvSpPr/>
          <p:nvPr/>
        </p:nvSpPr>
        <p:spPr>
          <a:xfrm>
            <a:off x="5814037" y="1081416"/>
            <a:ext cx="1861111" cy="271520"/>
          </a:xfrm>
          <a:prstGeom prst="roundRect">
            <a:avLst>
              <a:gd name="adj" fmla="val 3824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55" name="Conector angular 15">
            <a:extLst>
              <a:ext uri="{FF2B5EF4-FFF2-40B4-BE49-F238E27FC236}">
                <a16:creationId xmlns:a16="http://schemas.microsoft.com/office/drawing/2014/main" id="{697DCBD8-55F8-B34D-3C62-34889CCAB0BE}"/>
              </a:ext>
            </a:extLst>
          </p:cNvPr>
          <p:cNvCxnSpPr>
            <a:cxnSpLocks/>
            <a:stCxn id="54" idx="0"/>
            <a:endCxn id="53" idx="0"/>
          </p:cNvCxnSpPr>
          <p:nvPr/>
        </p:nvCxnSpPr>
        <p:spPr>
          <a:xfrm rot="5400000" flipH="1" flipV="1">
            <a:off x="6912686" y="318955"/>
            <a:ext cx="594369" cy="930555"/>
          </a:xfrm>
          <a:prstGeom prst="bentConnector3">
            <a:avLst>
              <a:gd name="adj1" fmla="val 13846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uadroTexto 30">
            <a:extLst>
              <a:ext uri="{FF2B5EF4-FFF2-40B4-BE49-F238E27FC236}">
                <a16:creationId xmlns:a16="http://schemas.microsoft.com/office/drawing/2014/main" id="{D8093F2E-7A68-FDEB-BF34-C9B15837FE9B}"/>
              </a:ext>
            </a:extLst>
          </p:cNvPr>
          <p:cNvSpPr txBox="1"/>
          <p:nvPr/>
        </p:nvSpPr>
        <p:spPr>
          <a:xfrm>
            <a:off x="669323" y="697189"/>
            <a:ext cx="249920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Extensión del archivo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57" name="Abrir corchete 11">
            <a:extLst>
              <a:ext uri="{FF2B5EF4-FFF2-40B4-BE49-F238E27FC236}">
                <a16:creationId xmlns:a16="http://schemas.microsoft.com/office/drawing/2014/main" id="{73E9FED0-CC5B-CD44-CB9D-7781F5A84B28}"/>
              </a:ext>
            </a:extLst>
          </p:cNvPr>
          <p:cNvSpPr/>
          <p:nvPr/>
        </p:nvSpPr>
        <p:spPr>
          <a:xfrm rot="16200000">
            <a:off x="7282863" y="1085922"/>
            <a:ext cx="62282" cy="722289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58" name="Conector angular 18">
            <a:extLst>
              <a:ext uri="{FF2B5EF4-FFF2-40B4-BE49-F238E27FC236}">
                <a16:creationId xmlns:a16="http://schemas.microsoft.com/office/drawing/2014/main" id="{5E058F2C-22A3-B8E7-9AA0-131BC83692E4}"/>
              </a:ext>
            </a:extLst>
          </p:cNvPr>
          <p:cNvCxnSpPr>
            <a:cxnSpLocks/>
            <a:stCxn id="57" idx="1"/>
            <a:endCxn id="59" idx="1"/>
          </p:cNvCxnSpPr>
          <p:nvPr/>
        </p:nvCxnSpPr>
        <p:spPr>
          <a:xfrm rot="16200000" flipH="1">
            <a:off x="7302891" y="1489322"/>
            <a:ext cx="452225" cy="42999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uadroTexto 20">
            <a:extLst>
              <a:ext uri="{FF2B5EF4-FFF2-40B4-BE49-F238E27FC236}">
                <a16:creationId xmlns:a16="http://schemas.microsoft.com/office/drawing/2014/main" id="{8B7BA3B3-430E-EBB4-71B9-32A38AC90C2B}"/>
              </a:ext>
            </a:extLst>
          </p:cNvPr>
          <p:cNvSpPr txBox="1"/>
          <p:nvPr/>
        </p:nvSpPr>
        <p:spPr>
          <a:xfrm>
            <a:off x="7744001" y="1668823"/>
            <a:ext cx="1244463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extensión del archivo</a:t>
            </a:r>
            <a:endParaRPr lang="es-E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CuadroTexto 24">
            <a:extLst>
              <a:ext uri="{FF2B5EF4-FFF2-40B4-BE49-F238E27FC236}">
                <a16:creationId xmlns:a16="http://schemas.microsoft.com/office/drawing/2014/main" id="{13A30F96-CC8B-F98B-740C-9D8B66E202F8}"/>
              </a:ext>
            </a:extLst>
          </p:cNvPr>
          <p:cNvSpPr txBox="1"/>
          <p:nvPr/>
        </p:nvSpPr>
        <p:spPr>
          <a:xfrm>
            <a:off x="819659" y="1484592"/>
            <a:ext cx="2348872" cy="32791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tIns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 extensiones permiten:</a:t>
            </a:r>
          </a:p>
        </p:txBody>
      </p:sp>
      <p:sp>
        <p:nvSpPr>
          <p:cNvPr id="61" name="Abrir corchete 38">
            <a:extLst>
              <a:ext uri="{FF2B5EF4-FFF2-40B4-BE49-F238E27FC236}">
                <a16:creationId xmlns:a16="http://schemas.microsoft.com/office/drawing/2014/main" id="{1B0C32FD-F6A6-5391-1D9F-99A32DED0F48}"/>
              </a:ext>
            </a:extLst>
          </p:cNvPr>
          <p:cNvSpPr/>
          <p:nvPr/>
        </p:nvSpPr>
        <p:spPr>
          <a:xfrm rot="16200000">
            <a:off x="6327712" y="898853"/>
            <a:ext cx="62283" cy="1089630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62" name="Conector angular 39">
            <a:extLst>
              <a:ext uri="{FF2B5EF4-FFF2-40B4-BE49-F238E27FC236}">
                <a16:creationId xmlns:a16="http://schemas.microsoft.com/office/drawing/2014/main" id="{3BC909B8-3438-B5D5-8CF6-99A2D74ABB47}"/>
              </a:ext>
            </a:extLst>
          </p:cNvPr>
          <p:cNvCxnSpPr>
            <a:cxnSpLocks/>
            <a:stCxn id="61" idx="1"/>
            <a:endCxn id="63" idx="1"/>
          </p:cNvCxnSpPr>
          <p:nvPr/>
        </p:nvCxnSpPr>
        <p:spPr>
          <a:xfrm rot="16200000" flipH="1">
            <a:off x="6372025" y="1461639"/>
            <a:ext cx="1169459" cy="119580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CuadroTexto 40">
            <a:extLst>
              <a:ext uri="{FF2B5EF4-FFF2-40B4-BE49-F238E27FC236}">
                <a16:creationId xmlns:a16="http://schemas.microsoft.com/office/drawing/2014/main" id="{29F0357A-785A-8381-B2C9-C875F895187E}"/>
              </a:ext>
            </a:extLst>
          </p:cNvPr>
          <p:cNvSpPr txBox="1"/>
          <p:nvPr/>
        </p:nvSpPr>
        <p:spPr>
          <a:xfrm>
            <a:off x="7554654" y="2382659"/>
            <a:ext cx="1415512" cy="5232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nombre del archivo</a:t>
            </a:r>
            <a:endParaRPr lang="es-E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CuadroTexto 49">
            <a:extLst>
              <a:ext uri="{FF2B5EF4-FFF2-40B4-BE49-F238E27FC236}">
                <a16:creationId xmlns:a16="http://schemas.microsoft.com/office/drawing/2014/main" id="{25850993-C085-39C0-CCF8-64A0DB6B1D86}"/>
              </a:ext>
            </a:extLst>
          </p:cNvPr>
          <p:cNvSpPr txBox="1"/>
          <p:nvPr/>
        </p:nvSpPr>
        <p:spPr>
          <a:xfrm>
            <a:off x="1851838" y="3026005"/>
            <a:ext cx="2484190" cy="9742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identificar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las aplicaciones que puede manejar o abrir el archivo.</a:t>
            </a:r>
          </a:p>
        </p:txBody>
      </p:sp>
      <p:sp>
        <p:nvSpPr>
          <p:cNvPr id="65" name="CuadroTexto 50">
            <a:extLst>
              <a:ext uri="{FF2B5EF4-FFF2-40B4-BE49-F238E27FC236}">
                <a16:creationId xmlns:a16="http://schemas.microsoft.com/office/drawing/2014/main" id="{4BB5921E-E87E-7C75-A893-E4B9B39D76D6}"/>
              </a:ext>
            </a:extLst>
          </p:cNvPr>
          <p:cNvSpPr txBox="1"/>
          <p:nvPr/>
        </p:nvSpPr>
        <p:spPr>
          <a:xfrm>
            <a:off x="1851837" y="2123587"/>
            <a:ext cx="2484190" cy="6510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diferenciar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los nombres de los archivos.</a:t>
            </a:r>
          </a:p>
        </p:txBody>
      </p:sp>
      <p:sp>
        <p:nvSpPr>
          <p:cNvPr id="66" name="Flecha derecha 51">
            <a:extLst>
              <a:ext uri="{FF2B5EF4-FFF2-40B4-BE49-F238E27FC236}">
                <a16:creationId xmlns:a16="http://schemas.microsoft.com/office/drawing/2014/main" id="{08A77618-BF03-C3BF-0468-19350AC0B20D}"/>
              </a:ext>
            </a:extLst>
          </p:cNvPr>
          <p:cNvSpPr/>
          <p:nvPr/>
        </p:nvSpPr>
        <p:spPr>
          <a:xfrm>
            <a:off x="1302800" y="2330642"/>
            <a:ext cx="465443" cy="38644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7" name="Flecha derecha 52">
            <a:extLst>
              <a:ext uri="{FF2B5EF4-FFF2-40B4-BE49-F238E27FC236}">
                <a16:creationId xmlns:a16="http://schemas.microsoft.com/office/drawing/2014/main" id="{D80A4081-2A65-5D18-9626-0F99F58E585D}"/>
              </a:ext>
            </a:extLst>
          </p:cNvPr>
          <p:cNvSpPr/>
          <p:nvPr/>
        </p:nvSpPr>
        <p:spPr>
          <a:xfrm>
            <a:off x="1302799" y="3271256"/>
            <a:ext cx="465443" cy="38644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29369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Características principales</a:t>
            </a:r>
            <a:endParaRPr lang="es-CL" sz="2000" dirty="0"/>
          </a:p>
        </p:txBody>
      </p:sp>
      <p:sp>
        <p:nvSpPr>
          <p:cNvPr id="2" name="CuadroTexto 7">
            <a:extLst>
              <a:ext uri="{FF2B5EF4-FFF2-40B4-BE49-F238E27FC236}">
                <a16:creationId xmlns:a16="http://schemas.microsoft.com/office/drawing/2014/main" id="{D15DEBFD-1960-F89D-AEED-BD91F823D2B7}"/>
              </a:ext>
            </a:extLst>
          </p:cNvPr>
          <p:cNvSpPr txBox="1"/>
          <p:nvPr/>
        </p:nvSpPr>
        <p:spPr>
          <a:xfrm>
            <a:off x="1124841" y="1313971"/>
            <a:ext cx="2371858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Comienza con la letra del dispositivo de almacenamiento</a:t>
            </a:r>
            <a:endParaRPr lang="es-E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uadroTexto 10">
            <a:extLst>
              <a:ext uri="{FF2B5EF4-FFF2-40B4-BE49-F238E27FC236}">
                <a16:creationId xmlns:a16="http://schemas.microsoft.com/office/drawing/2014/main" id="{D1BDF9FD-1A9E-D007-9A68-98FB9017D525}"/>
              </a:ext>
            </a:extLst>
          </p:cNvPr>
          <p:cNvSpPr txBox="1"/>
          <p:nvPr/>
        </p:nvSpPr>
        <p:spPr>
          <a:xfrm>
            <a:off x="694628" y="781889"/>
            <a:ext cx="6709051" cy="387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c:/Documents/user/progra01/resultados_encuesta.csv</a:t>
            </a:r>
          </a:p>
        </p:txBody>
      </p:sp>
      <p:sp>
        <p:nvSpPr>
          <p:cNvPr id="5" name="Rectángulo redondeado 13">
            <a:extLst>
              <a:ext uri="{FF2B5EF4-FFF2-40B4-BE49-F238E27FC236}">
                <a16:creationId xmlns:a16="http://schemas.microsoft.com/office/drawing/2014/main" id="{1CB2F39D-71CB-E7E4-4BC8-E1ABA337A45C}"/>
              </a:ext>
            </a:extLst>
          </p:cNvPr>
          <p:cNvSpPr/>
          <p:nvPr/>
        </p:nvSpPr>
        <p:spPr>
          <a:xfrm>
            <a:off x="773522" y="885818"/>
            <a:ext cx="241903" cy="271520"/>
          </a:xfrm>
          <a:prstGeom prst="roundRect">
            <a:avLst>
              <a:gd name="adj" fmla="val 3824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6" name="Conector angular 15">
            <a:extLst>
              <a:ext uri="{FF2B5EF4-FFF2-40B4-BE49-F238E27FC236}">
                <a16:creationId xmlns:a16="http://schemas.microsoft.com/office/drawing/2014/main" id="{523FD38E-F28F-C959-2F06-1DC7974CE491}"/>
              </a:ext>
            </a:extLst>
          </p:cNvPr>
          <p:cNvCxnSpPr>
            <a:cxnSpLocks/>
            <a:stCxn id="5" idx="2"/>
            <a:endCxn id="2" idx="0"/>
          </p:cNvCxnSpPr>
          <p:nvPr/>
        </p:nvCxnSpPr>
        <p:spPr>
          <a:xfrm rot="16200000" flipH="1">
            <a:off x="1524306" y="527506"/>
            <a:ext cx="156633" cy="141629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lecha derecha 20">
            <a:extLst>
              <a:ext uri="{FF2B5EF4-FFF2-40B4-BE49-F238E27FC236}">
                <a16:creationId xmlns:a16="http://schemas.microsoft.com/office/drawing/2014/main" id="{A2A6D4B9-E8E3-C91A-5158-8C63696EA437}"/>
              </a:ext>
            </a:extLst>
          </p:cNvPr>
          <p:cNvSpPr/>
          <p:nvPr/>
        </p:nvSpPr>
        <p:spPr>
          <a:xfrm>
            <a:off x="3566783" y="1409581"/>
            <a:ext cx="395207" cy="270443"/>
          </a:xfrm>
          <a:prstGeom prst="rightArrow">
            <a:avLst>
              <a:gd name="adj1" fmla="val 53722"/>
              <a:gd name="adj2" fmla="val 4607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CuadroTexto 22">
            <a:extLst>
              <a:ext uri="{FF2B5EF4-FFF2-40B4-BE49-F238E27FC236}">
                <a16:creationId xmlns:a16="http://schemas.microsoft.com/office/drawing/2014/main" id="{86EB56A2-8938-2D68-E37E-4688268889D0}"/>
              </a:ext>
            </a:extLst>
          </p:cNvPr>
          <p:cNvSpPr txBox="1"/>
          <p:nvPr/>
        </p:nvSpPr>
        <p:spPr>
          <a:xfrm>
            <a:off x="4032074" y="1332930"/>
            <a:ext cx="3036984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nombre del archivo está especificado a través de su </a:t>
            </a:r>
            <a:r>
              <a:rPr lang="es-ES" sz="12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ruta absoluta</a:t>
            </a:r>
            <a:endParaRPr lang="es-ES"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uadroTexto 37">
            <a:extLst>
              <a:ext uri="{FF2B5EF4-FFF2-40B4-BE49-F238E27FC236}">
                <a16:creationId xmlns:a16="http://schemas.microsoft.com/office/drawing/2014/main" id="{DFD8A941-E362-D7A3-9B68-A9E8449AE353}"/>
              </a:ext>
            </a:extLst>
          </p:cNvPr>
          <p:cNvSpPr txBox="1"/>
          <p:nvPr/>
        </p:nvSpPr>
        <p:spPr>
          <a:xfrm>
            <a:off x="1124841" y="2624457"/>
            <a:ext cx="237185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Comienza con /</a:t>
            </a:r>
            <a:endParaRPr lang="es-E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CuadroTexto 38">
            <a:extLst>
              <a:ext uri="{FF2B5EF4-FFF2-40B4-BE49-F238E27FC236}">
                <a16:creationId xmlns:a16="http://schemas.microsoft.com/office/drawing/2014/main" id="{DE70D4E2-9B82-203F-45D3-5865A3B89399}"/>
              </a:ext>
            </a:extLst>
          </p:cNvPr>
          <p:cNvSpPr txBox="1"/>
          <p:nvPr/>
        </p:nvSpPr>
        <p:spPr>
          <a:xfrm>
            <a:off x="694628" y="2000044"/>
            <a:ext cx="6709051" cy="387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/home/user/progra01/resultados_encuesta.csv</a:t>
            </a:r>
          </a:p>
        </p:txBody>
      </p:sp>
      <p:sp>
        <p:nvSpPr>
          <p:cNvPr id="11" name="Rectángulo redondeado 39">
            <a:extLst>
              <a:ext uri="{FF2B5EF4-FFF2-40B4-BE49-F238E27FC236}">
                <a16:creationId xmlns:a16="http://schemas.microsoft.com/office/drawing/2014/main" id="{4103A7A2-2369-4CC3-FFDB-9CF9A2A1F28D}"/>
              </a:ext>
            </a:extLst>
          </p:cNvPr>
          <p:cNvSpPr/>
          <p:nvPr/>
        </p:nvSpPr>
        <p:spPr>
          <a:xfrm>
            <a:off x="773523" y="2103973"/>
            <a:ext cx="120952" cy="271520"/>
          </a:xfrm>
          <a:prstGeom prst="roundRect">
            <a:avLst>
              <a:gd name="adj" fmla="val 3824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12" name="Conector angular 40">
            <a:extLst>
              <a:ext uri="{FF2B5EF4-FFF2-40B4-BE49-F238E27FC236}">
                <a16:creationId xmlns:a16="http://schemas.microsoft.com/office/drawing/2014/main" id="{8751071E-F8D6-C612-B430-A9275E5817F2}"/>
              </a:ext>
            </a:extLst>
          </p:cNvPr>
          <p:cNvCxnSpPr>
            <a:cxnSpLocks/>
            <a:stCxn id="11" idx="2"/>
            <a:endCxn id="9" idx="0"/>
          </p:cNvCxnSpPr>
          <p:nvPr/>
        </p:nvCxnSpPr>
        <p:spPr>
          <a:xfrm rot="16200000" flipH="1">
            <a:off x="1447902" y="1761589"/>
            <a:ext cx="248964" cy="1476771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lecha derecha 41">
            <a:extLst>
              <a:ext uri="{FF2B5EF4-FFF2-40B4-BE49-F238E27FC236}">
                <a16:creationId xmlns:a16="http://schemas.microsoft.com/office/drawing/2014/main" id="{968FB9F8-5CB6-215D-EEDE-C1AE086C0919}"/>
              </a:ext>
            </a:extLst>
          </p:cNvPr>
          <p:cNvSpPr/>
          <p:nvPr/>
        </p:nvSpPr>
        <p:spPr>
          <a:xfrm>
            <a:off x="3566783" y="2627736"/>
            <a:ext cx="395207" cy="270443"/>
          </a:xfrm>
          <a:prstGeom prst="rightArrow">
            <a:avLst>
              <a:gd name="adj1" fmla="val 53722"/>
              <a:gd name="adj2" fmla="val 4607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4" name="CuadroTexto 42">
            <a:extLst>
              <a:ext uri="{FF2B5EF4-FFF2-40B4-BE49-F238E27FC236}">
                <a16:creationId xmlns:a16="http://schemas.microsoft.com/office/drawing/2014/main" id="{25A58B39-CA87-5E9B-3C40-320CFAEA58EB}"/>
              </a:ext>
            </a:extLst>
          </p:cNvPr>
          <p:cNvSpPr txBox="1"/>
          <p:nvPr/>
        </p:nvSpPr>
        <p:spPr>
          <a:xfrm>
            <a:off x="4032074" y="2551085"/>
            <a:ext cx="3036984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nombre del archivo está especificado a través de su </a:t>
            </a:r>
            <a:r>
              <a:rPr lang="es-ES" sz="12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ruta absoluta</a:t>
            </a:r>
            <a:endParaRPr lang="es-ES" sz="12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CuadroTexto 46">
            <a:extLst>
              <a:ext uri="{FF2B5EF4-FFF2-40B4-BE49-F238E27FC236}">
                <a16:creationId xmlns:a16="http://schemas.microsoft.com/office/drawing/2014/main" id="{A903313C-A122-46B9-02B4-E08F0C1B36C6}"/>
              </a:ext>
            </a:extLst>
          </p:cNvPr>
          <p:cNvSpPr txBox="1"/>
          <p:nvPr/>
        </p:nvSpPr>
        <p:spPr>
          <a:xfrm>
            <a:off x="694628" y="3363126"/>
            <a:ext cx="6709051" cy="387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./progra01/resultados_encuesta.csv</a:t>
            </a:r>
          </a:p>
        </p:txBody>
      </p:sp>
      <p:sp>
        <p:nvSpPr>
          <p:cNvPr id="16" name="CuadroTexto 50">
            <a:extLst>
              <a:ext uri="{FF2B5EF4-FFF2-40B4-BE49-F238E27FC236}">
                <a16:creationId xmlns:a16="http://schemas.microsoft.com/office/drawing/2014/main" id="{F302022D-585C-5810-D0E5-AB2D5BF73E4F}"/>
              </a:ext>
            </a:extLst>
          </p:cNvPr>
          <p:cNvSpPr txBox="1"/>
          <p:nvPr/>
        </p:nvSpPr>
        <p:spPr>
          <a:xfrm>
            <a:off x="4837986" y="3363126"/>
            <a:ext cx="3036984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nombre del archivo está especificado a través de una ruta relativa</a:t>
            </a:r>
            <a:endParaRPr lang="es-E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Elipse 52">
            <a:extLst>
              <a:ext uri="{FF2B5EF4-FFF2-40B4-BE49-F238E27FC236}">
                <a16:creationId xmlns:a16="http://schemas.microsoft.com/office/drawing/2014/main" id="{B35403C7-3638-4FFC-BDED-05DAE4208475}"/>
              </a:ext>
            </a:extLst>
          </p:cNvPr>
          <p:cNvSpPr/>
          <p:nvPr/>
        </p:nvSpPr>
        <p:spPr>
          <a:xfrm>
            <a:off x="514287" y="932467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19" name="Elipse 53">
            <a:extLst>
              <a:ext uri="{FF2B5EF4-FFF2-40B4-BE49-F238E27FC236}">
                <a16:creationId xmlns:a16="http://schemas.microsoft.com/office/drawing/2014/main" id="{F3FCCFF6-77B5-0AD8-9DB6-A66AB64AA7DE}"/>
              </a:ext>
            </a:extLst>
          </p:cNvPr>
          <p:cNvSpPr/>
          <p:nvPr/>
        </p:nvSpPr>
        <p:spPr>
          <a:xfrm>
            <a:off x="504625" y="2147796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20" name="Elipse 54">
            <a:extLst>
              <a:ext uri="{FF2B5EF4-FFF2-40B4-BE49-F238E27FC236}">
                <a16:creationId xmlns:a16="http://schemas.microsoft.com/office/drawing/2014/main" id="{492EBC3B-A1A7-0779-32E6-DC7CAE675625}"/>
              </a:ext>
            </a:extLst>
          </p:cNvPr>
          <p:cNvSpPr/>
          <p:nvPr/>
        </p:nvSpPr>
        <p:spPr>
          <a:xfrm>
            <a:off x="504625" y="3502173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  <p:sp>
        <p:nvSpPr>
          <p:cNvPr id="21" name="CuadroTexto 2">
            <a:extLst>
              <a:ext uri="{FF2B5EF4-FFF2-40B4-BE49-F238E27FC236}">
                <a16:creationId xmlns:a16="http://schemas.microsoft.com/office/drawing/2014/main" id="{69F66AFB-DB14-A5DD-5E7D-0A6ECFC94C24}"/>
              </a:ext>
            </a:extLst>
          </p:cNvPr>
          <p:cNvSpPr txBox="1"/>
          <p:nvPr/>
        </p:nvSpPr>
        <p:spPr>
          <a:xfrm>
            <a:off x="5730022" y="4023693"/>
            <a:ext cx="3347314" cy="10204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esta asignatura,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 utilizarán 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rutas relativas a la ubicación del script para utilizar archivos externos de datos.</a:t>
            </a:r>
          </a:p>
        </p:txBody>
      </p:sp>
      <p:sp>
        <p:nvSpPr>
          <p:cNvPr id="22" name="CuadroTexto 4">
            <a:extLst>
              <a:ext uri="{FF2B5EF4-FFF2-40B4-BE49-F238E27FC236}">
                <a16:creationId xmlns:a16="http://schemas.microsoft.com/office/drawing/2014/main" id="{1E7E3F54-6B5B-5D1C-ED18-12AC92FD99EF}"/>
              </a:ext>
            </a:extLst>
          </p:cNvPr>
          <p:cNvSpPr txBox="1"/>
          <p:nvPr/>
        </p:nvSpPr>
        <p:spPr>
          <a:xfrm>
            <a:off x="704331" y="3788459"/>
            <a:ext cx="3940271" cy="71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este caso, se asume que la carpeta donde se accede al archivo es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/home/user/</a:t>
            </a:r>
          </a:p>
        </p:txBody>
      </p:sp>
    </p:spTree>
    <p:extLst>
      <p:ext uri="{BB962C8B-B14F-4D97-AF65-F5344CB8AC3E}">
        <p14:creationId xmlns:p14="http://schemas.microsoft.com/office/powerpoint/2010/main" val="675852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Características principales</a:t>
            </a:r>
            <a:endParaRPr lang="es-CL" sz="2000" dirty="0"/>
          </a:p>
        </p:txBody>
      </p:sp>
      <p:sp>
        <p:nvSpPr>
          <p:cNvPr id="41" name="CuadroTexto 72">
            <a:extLst>
              <a:ext uri="{FF2B5EF4-FFF2-40B4-BE49-F238E27FC236}">
                <a16:creationId xmlns:a16="http://schemas.microsoft.com/office/drawing/2014/main" id="{C71F79FF-A8F3-6782-83F5-78350AC97001}"/>
              </a:ext>
            </a:extLst>
          </p:cNvPr>
          <p:cNvSpPr txBox="1"/>
          <p:nvPr/>
        </p:nvSpPr>
        <p:spPr>
          <a:xfrm>
            <a:off x="5271686" y="610753"/>
            <a:ext cx="3144755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script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procesar_encuestas.py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utiliza los archivos:</a:t>
            </a:r>
          </a:p>
        </p:txBody>
      </p:sp>
      <p:sp>
        <p:nvSpPr>
          <p:cNvPr id="42" name="CuadroTexto 74">
            <a:extLst>
              <a:ext uri="{FF2B5EF4-FFF2-40B4-BE49-F238E27FC236}">
                <a16:creationId xmlns:a16="http://schemas.microsoft.com/office/drawing/2014/main" id="{27240124-FDDF-4C47-7907-322A60C224DE}"/>
              </a:ext>
            </a:extLst>
          </p:cNvPr>
          <p:cNvSpPr txBox="1"/>
          <p:nvPr/>
        </p:nvSpPr>
        <p:spPr>
          <a:xfrm>
            <a:off x="1512020" y="4484107"/>
            <a:ext cx="314475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por_confirmar.txt</a:t>
            </a:r>
            <a:endParaRPr lang="es-ES" sz="1400" b="0" i="0" u="none" strike="noStrike" cap="none" dirty="0">
              <a:solidFill>
                <a:srgbClr val="000000"/>
              </a:solidFill>
              <a:latin typeface="Courier New" panose="02070309020205020404" pitchFamily="49" charset="0"/>
              <a:ea typeface="Arial"/>
              <a:cs typeface="Courier New" panose="02070309020205020404" pitchFamily="49" charset="0"/>
              <a:sym typeface="Arial"/>
            </a:endParaRP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ECE1475-109C-9146-A039-6F129203248A}"/>
              </a:ext>
            </a:extLst>
          </p:cNvPr>
          <p:cNvGrpSpPr/>
          <p:nvPr/>
        </p:nvGrpSpPr>
        <p:grpSpPr>
          <a:xfrm>
            <a:off x="833399" y="485905"/>
            <a:ext cx="3168324" cy="4623442"/>
            <a:chOff x="833399" y="485905"/>
            <a:chExt cx="3168324" cy="4623442"/>
          </a:xfrm>
        </p:grpSpPr>
        <p:pic>
          <p:nvPicPr>
            <p:cNvPr id="2" name="Gráfico 4" descr="Folder con relleno sólido">
              <a:extLst>
                <a:ext uri="{FF2B5EF4-FFF2-40B4-BE49-F238E27FC236}">
                  <a16:creationId xmlns:a16="http://schemas.microsoft.com/office/drawing/2014/main" id="{3FF606C5-D664-1A6B-9EB5-56D7F8302C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3399" y="485905"/>
              <a:ext cx="400110" cy="400110"/>
            </a:xfrm>
            <a:prstGeom prst="rect">
              <a:avLst/>
            </a:prstGeom>
          </p:spPr>
        </p:pic>
        <p:pic>
          <p:nvPicPr>
            <p:cNvPr id="4" name="Gráfico 6" descr="Document con relleno sólido">
              <a:extLst>
                <a:ext uri="{FF2B5EF4-FFF2-40B4-BE49-F238E27FC236}">
                  <a16:creationId xmlns:a16="http://schemas.microsoft.com/office/drawing/2014/main" id="{79FD0203-BE9F-136E-9D70-8405B0A3497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43170" y="1801600"/>
              <a:ext cx="307777" cy="307777"/>
            </a:xfrm>
            <a:prstGeom prst="rect">
              <a:avLst/>
            </a:prstGeom>
          </p:spPr>
        </p:pic>
        <p:sp>
          <p:nvSpPr>
            <p:cNvPr id="5" name="CuadroTexto 11">
              <a:extLst>
                <a:ext uri="{FF2B5EF4-FFF2-40B4-BE49-F238E27FC236}">
                  <a16:creationId xmlns:a16="http://schemas.microsoft.com/office/drawing/2014/main" id="{38B3AD5C-B37E-3034-7E31-F3C6A70F8F2D}"/>
                </a:ext>
              </a:extLst>
            </p:cNvPr>
            <p:cNvSpPr txBox="1"/>
            <p:nvPr/>
          </p:nvSpPr>
          <p:spPr>
            <a:xfrm>
              <a:off x="1187015" y="532071"/>
              <a:ext cx="220850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urier New" panose="02070309020205020404" pitchFamily="49" charset="0"/>
                  <a:ea typeface="Helvetica Neue"/>
                  <a:cs typeface="Courier New" panose="02070309020205020404" pitchFamily="49" charset="0"/>
                  <a:sym typeface="Helvetica Neue"/>
                </a:rPr>
                <a:t>E</a:t>
              </a:r>
              <a:r>
                <a:rPr lang="es-ES" sz="1400" b="0" i="0" u="none" strike="noStrike" cap="none" dirty="0">
                  <a:solidFill>
                    <a:schemeClr val="dk1"/>
                  </a:solidFill>
                  <a:latin typeface="Courier New" panose="02070309020205020404" pitchFamily="49" charset="0"/>
                  <a:ea typeface="Helvetica Neue"/>
                  <a:cs typeface="Courier New" panose="02070309020205020404" pitchFamily="49" charset="0"/>
                  <a:sym typeface="Helvetica Neue"/>
                </a:rPr>
                <a:t>jercicios_progra01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pic>
          <p:nvPicPr>
            <p:cNvPr id="6" name="Gráfico 12" descr="Folder con relleno sólido">
              <a:extLst>
                <a:ext uri="{FF2B5EF4-FFF2-40B4-BE49-F238E27FC236}">
                  <a16:creationId xmlns:a16="http://schemas.microsoft.com/office/drawing/2014/main" id="{F6741DDC-C689-CFF6-7C27-ECD8F5D3A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3936" y="943917"/>
              <a:ext cx="400110" cy="400110"/>
            </a:xfrm>
            <a:prstGeom prst="rect">
              <a:avLst/>
            </a:prstGeom>
          </p:spPr>
        </p:pic>
        <p:sp>
          <p:nvSpPr>
            <p:cNvPr id="7" name="CuadroTexto 14">
              <a:extLst>
                <a:ext uri="{FF2B5EF4-FFF2-40B4-BE49-F238E27FC236}">
                  <a16:creationId xmlns:a16="http://schemas.microsoft.com/office/drawing/2014/main" id="{50788249-BE28-16C0-A95B-2A1CBF7A47F6}"/>
                </a:ext>
              </a:extLst>
            </p:cNvPr>
            <p:cNvSpPr txBox="1"/>
            <p:nvPr/>
          </p:nvSpPr>
          <p:spPr>
            <a:xfrm>
              <a:off x="1377552" y="1000218"/>
              <a:ext cx="9968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urier New" panose="02070309020205020404" pitchFamily="49" charset="0"/>
                  <a:ea typeface="Helvetica Neue"/>
                  <a:cs typeface="Courier New" panose="02070309020205020404" pitchFamily="49" charset="0"/>
                  <a:sym typeface="Helvetica Neue"/>
                </a:rPr>
                <a:t>clase01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sp>
          <p:nvSpPr>
            <p:cNvPr id="8" name="CuadroTexto 16">
              <a:extLst>
                <a:ext uri="{FF2B5EF4-FFF2-40B4-BE49-F238E27FC236}">
                  <a16:creationId xmlns:a16="http://schemas.microsoft.com/office/drawing/2014/main" id="{C57BCBEF-CC4B-5152-18B5-222087249C65}"/>
                </a:ext>
              </a:extLst>
            </p:cNvPr>
            <p:cNvSpPr txBox="1"/>
            <p:nvPr/>
          </p:nvSpPr>
          <p:spPr>
            <a:xfrm>
              <a:off x="1499518" y="2541936"/>
              <a:ext cx="250220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urier New" panose="02070309020205020404" pitchFamily="49" charset="0"/>
                  <a:ea typeface="Helvetica Neue"/>
                  <a:cs typeface="Courier New" panose="02070309020205020404" pitchFamily="49" charset="0"/>
                  <a:sym typeface="Helvetica Neue"/>
                </a:rPr>
                <a:t>procesar_encuestas.py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pic>
          <p:nvPicPr>
            <p:cNvPr id="9" name="Gráfico 17" descr="Folder con relleno sólido">
              <a:extLst>
                <a:ext uri="{FF2B5EF4-FFF2-40B4-BE49-F238E27FC236}">
                  <a16:creationId xmlns:a16="http://schemas.microsoft.com/office/drawing/2014/main" id="{402BB582-63AF-7F92-9DBF-150591061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08493" y="1373155"/>
              <a:ext cx="400110" cy="400110"/>
            </a:xfrm>
            <a:prstGeom prst="rect">
              <a:avLst/>
            </a:prstGeom>
          </p:spPr>
        </p:pic>
        <p:sp>
          <p:nvSpPr>
            <p:cNvPr id="10" name="CuadroTexto 18">
              <a:extLst>
                <a:ext uri="{FF2B5EF4-FFF2-40B4-BE49-F238E27FC236}">
                  <a16:creationId xmlns:a16="http://schemas.microsoft.com/office/drawing/2014/main" id="{BAFF0141-90D0-F424-EA5C-D89193791DFF}"/>
                </a:ext>
              </a:extLst>
            </p:cNvPr>
            <p:cNvSpPr txBox="1"/>
            <p:nvPr/>
          </p:nvSpPr>
          <p:spPr>
            <a:xfrm>
              <a:off x="1557118" y="1437639"/>
              <a:ext cx="163552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urier New" panose="02070309020205020404" pitchFamily="49" charset="0"/>
                  <a:ea typeface="Helvetica Neue"/>
                  <a:cs typeface="Courier New" panose="02070309020205020404" pitchFamily="49" charset="0"/>
                  <a:sym typeface="Helvetica Neue"/>
                </a:rPr>
                <a:t>datos_clase01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pic>
          <p:nvPicPr>
            <p:cNvPr id="11" name="Gráfico 19" descr="Document con relleno sólido">
              <a:extLst>
                <a:ext uri="{FF2B5EF4-FFF2-40B4-BE49-F238E27FC236}">
                  <a16:creationId xmlns:a16="http://schemas.microsoft.com/office/drawing/2014/main" id="{910D3A03-5665-EA4B-17BA-EAE8B5EE6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46965" y="2188057"/>
              <a:ext cx="307777" cy="307777"/>
            </a:xfrm>
            <a:prstGeom prst="rect">
              <a:avLst/>
            </a:prstGeom>
          </p:spPr>
        </p:pic>
        <p:sp>
          <p:nvSpPr>
            <p:cNvPr id="12" name="CuadroTexto 21">
              <a:extLst>
                <a:ext uri="{FF2B5EF4-FFF2-40B4-BE49-F238E27FC236}">
                  <a16:creationId xmlns:a16="http://schemas.microsoft.com/office/drawing/2014/main" id="{E153794E-C59C-C75E-7CF6-3828B654C6FE}"/>
                </a:ext>
              </a:extLst>
            </p:cNvPr>
            <p:cNvSpPr txBox="1"/>
            <p:nvPr/>
          </p:nvSpPr>
          <p:spPr>
            <a:xfrm>
              <a:off x="1688621" y="1815701"/>
              <a:ext cx="18093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urier New" panose="02070309020205020404" pitchFamily="49" charset="0"/>
                  <a:ea typeface="Helvetica Neue"/>
                  <a:cs typeface="Courier New" panose="02070309020205020404" pitchFamily="49" charset="0"/>
                  <a:sym typeface="Helvetica Neue"/>
                </a:rPr>
                <a:t>encuesta01.csv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sp>
          <p:nvSpPr>
            <p:cNvPr id="13" name="CuadroTexto 23">
              <a:extLst>
                <a:ext uri="{FF2B5EF4-FFF2-40B4-BE49-F238E27FC236}">
                  <a16:creationId xmlns:a16="http://schemas.microsoft.com/office/drawing/2014/main" id="{B9710230-76CC-D111-D678-DC97BD0A3D8A}"/>
                </a:ext>
              </a:extLst>
            </p:cNvPr>
            <p:cNvSpPr txBox="1"/>
            <p:nvPr/>
          </p:nvSpPr>
          <p:spPr>
            <a:xfrm>
              <a:off x="1688621" y="2188056"/>
              <a:ext cx="18093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urier New" panose="02070309020205020404" pitchFamily="49" charset="0"/>
                  <a:ea typeface="Helvetica Neue"/>
                  <a:cs typeface="Courier New" panose="02070309020205020404" pitchFamily="49" charset="0"/>
                  <a:sym typeface="Helvetica Neue"/>
                </a:rPr>
                <a:t>encuesta02.csv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cxnSp>
          <p:nvCxnSpPr>
            <p:cNvPr id="14" name="Conector recto 25">
              <a:extLst>
                <a:ext uri="{FF2B5EF4-FFF2-40B4-BE49-F238E27FC236}">
                  <a16:creationId xmlns:a16="http://schemas.microsoft.com/office/drawing/2014/main" id="{AEC39A4B-4DEF-4547-2CDA-A3A4C406B918}"/>
                </a:ext>
              </a:extLst>
            </p:cNvPr>
            <p:cNvCxnSpPr>
              <a:cxnSpLocks/>
            </p:cNvCxnSpPr>
            <p:nvPr/>
          </p:nvCxnSpPr>
          <p:spPr>
            <a:xfrm>
              <a:off x="1390935" y="1685196"/>
              <a:ext cx="0" cy="656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27">
              <a:extLst>
                <a:ext uri="{FF2B5EF4-FFF2-40B4-BE49-F238E27FC236}">
                  <a16:creationId xmlns:a16="http://schemas.microsoft.com/office/drawing/2014/main" id="{52B676D5-BE57-FC43-F125-EF5CAF084B39}"/>
                </a:ext>
              </a:extLst>
            </p:cNvPr>
            <p:cNvCxnSpPr>
              <a:cxnSpLocks/>
            </p:cNvCxnSpPr>
            <p:nvPr/>
          </p:nvCxnSpPr>
          <p:spPr>
            <a:xfrm>
              <a:off x="1385301" y="1955489"/>
              <a:ext cx="656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31">
              <a:extLst>
                <a:ext uri="{FF2B5EF4-FFF2-40B4-BE49-F238E27FC236}">
                  <a16:creationId xmlns:a16="http://schemas.microsoft.com/office/drawing/2014/main" id="{DDC03FF9-A8AD-99AD-F3AF-A404B45EB612}"/>
                </a:ext>
              </a:extLst>
            </p:cNvPr>
            <p:cNvCxnSpPr>
              <a:cxnSpLocks/>
            </p:cNvCxnSpPr>
            <p:nvPr/>
          </p:nvCxnSpPr>
          <p:spPr>
            <a:xfrm>
              <a:off x="1382720" y="2340363"/>
              <a:ext cx="656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32">
              <a:extLst>
                <a:ext uri="{FF2B5EF4-FFF2-40B4-BE49-F238E27FC236}">
                  <a16:creationId xmlns:a16="http://schemas.microsoft.com/office/drawing/2014/main" id="{C60006B4-DB4D-797F-55CF-1F0ACE05CE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6547" y="1244836"/>
              <a:ext cx="11946" cy="14509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35">
              <a:extLst>
                <a:ext uri="{FF2B5EF4-FFF2-40B4-BE49-F238E27FC236}">
                  <a16:creationId xmlns:a16="http://schemas.microsoft.com/office/drawing/2014/main" id="{CBB37258-872B-D583-38BB-2A6D352D55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6739" y="1573200"/>
              <a:ext cx="656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Gráfico 36" descr="Document con relleno sólido">
              <a:extLst>
                <a:ext uri="{FF2B5EF4-FFF2-40B4-BE49-F238E27FC236}">
                  <a16:creationId xmlns:a16="http://schemas.microsoft.com/office/drawing/2014/main" id="{E1C1FBE7-F721-10D1-8C96-3EFA8AD7B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6153" y="2534187"/>
              <a:ext cx="307777" cy="307777"/>
            </a:xfrm>
            <a:prstGeom prst="rect">
              <a:avLst/>
            </a:prstGeom>
          </p:spPr>
        </p:pic>
        <p:cxnSp>
          <p:nvCxnSpPr>
            <p:cNvPr id="21" name="Conector recto 43">
              <a:extLst>
                <a:ext uri="{FF2B5EF4-FFF2-40B4-BE49-F238E27FC236}">
                  <a16:creationId xmlns:a16="http://schemas.microsoft.com/office/drawing/2014/main" id="{68B3DCCB-9B8C-FA6D-8A01-3D328F323B1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908" y="2686493"/>
              <a:ext cx="656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45">
              <a:extLst>
                <a:ext uri="{FF2B5EF4-FFF2-40B4-BE49-F238E27FC236}">
                  <a16:creationId xmlns:a16="http://schemas.microsoft.com/office/drawing/2014/main" id="{3E8F1985-2776-B143-8D10-8774417D37E7}"/>
                </a:ext>
              </a:extLst>
            </p:cNvPr>
            <p:cNvCxnSpPr>
              <a:cxnSpLocks/>
            </p:cNvCxnSpPr>
            <p:nvPr/>
          </p:nvCxnSpPr>
          <p:spPr>
            <a:xfrm>
              <a:off x="1000426" y="1144416"/>
              <a:ext cx="656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47">
              <a:extLst>
                <a:ext uri="{FF2B5EF4-FFF2-40B4-BE49-F238E27FC236}">
                  <a16:creationId xmlns:a16="http://schemas.microsoft.com/office/drawing/2014/main" id="{D0FA396C-0562-E54B-B5B9-B2DE579456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4784" y="792802"/>
              <a:ext cx="9650" cy="251438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Gráfico 55" descr="Document con relleno sólido">
              <a:extLst>
                <a:ext uri="{FF2B5EF4-FFF2-40B4-BE49-F238E27FC236}">
                  <a16:creationId xmlns:a16="http://schemas.microsoft.com/office/drawing/2014/main" id="{0E328A96-DB70-A935-2DB4-68B23A8182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36051" y="3728022"/>
              <a:ext cx="307777" cy="307777"/>
            </a:xfrm>
            <a:prstGeom prst="rect">
              <a:avLst/>
            </a:prstGeom>
          </p:spPr>
        </p:pic>
        <p:pic>
          <p:nvPicPr>
            <p:cNvPr id="25" name="Gráfico 56" descr="Folder con relleno sólido">
              <a:extLst>
                <a:ext uri="{FF2B5EF4-FFF2-40B4-BE49-F238E27FC236}">
                  <a16:creationId xmlns:a16="http://schemas.microsoft.com/office/drawing/2014/main" id="{9BD7E063-3482-1F75-480F-52FCF15D2E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16817" y="2870339"/>
              <a:ext cx="400110" cy="400110"/>
            </a:xfrm>
            <a:prstGeom prst="rect">
              <a:avLst/>
            </a:prstGeom>
          </p:spPr>
        </p:pic>
        <p:sp>
          <p:nvSpPr>
            <p:cNvPr id="26" name="CuadroTexto 57">
              <a:extLst>
                <a:ext uri="{FF2B5EF4-FFF2-40B4-BE49-F238E27FC236}">
                  <a16:creationId xmlns:a16="http://schemas.microsoft.com/office/drawing/2014/main" id="{F296A6F2-59FA-4130-CE1E-F9B91B11F488}"/>
                </a:ext>
              </a:extLst>
            </p:cNvPr>
            <p:cNvSpPr txBox="1"/>
            <p:nvPr/>
          </p:nvSpPr>
          <p:spPr>
            <a:xfrm>
              <a:off x="1370433" y="2926640"/>
              <a:ext cx="9968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urier New" panose="02070309020205020404" pitchFamily="49" charset="0"/>
                  <a:ea typeface="Helvetica Neue"/>
                  <a:cs typeface="Courier New" panose="02070309020205020404" pitchFamily="49" charset="0"/>
                  <a:sym typeface="Helvetica Neue"/>
                </a:rPr>
                <a:t>clase02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sp>
          <p:nvSpPr>
            <p:cNvPr id="27" name="CuadroTexto 58">
              <a:extLst>
                <a:ext uri="{FF2B5EF4-FFF2-40B4-BE49-F238E27FC236}">
                  <a16:creationId xmlns:a16="http://schemas.microsoft.com/office/drawing/2014/main" id="{6F73D71F-BC2D-4187-5D5B-409EC64F9BC0}"/>
                </a:ext>
              </a:extLst>
            </p:cNvPr>
            <p:cNvSpPr txBox="1"/>
            <p:nvPr/>
          </p:nvSpPr>
          <p:spPr>
            <a:xfrm>
              <a:off x="1507897" y="4801570"/>
              <a:ext cx="239767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urier New" panose="02070309020205020404" pitchFamily="49" charset="0"/>
                  <a:ea typeface="Helvetica Neue"/>
                  <a:cs typeface="Courier New" panose="02070309020205020404" pitchFamily="49" charset="0"/>
                  <a:sym typeface="Helvetica Neue"/>
                </a:rPr>
                <a:t>invitar_titulados.py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pic>
          <p:nvPicPr>
            <p:cNvPr id="28" name="Gráfico 59" descr="Folder con relleno sólido">
              <a:extLst>
                <a:ext uri="{FF2B5EF4-FFF2-40B4-BE49-F238E27FC236}">
                  <a16:creationId xmlns:a16="http://schemas.microsoft.com/office/drawing/2014/main" id="{D1E49646-FFCF-760F-A358-C59015695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01374" y="3299577"/>
              <a:ext cx="400110" cy="400110"/>
            </a:xfrm>
            <a:prstGeom prst="rect">
              <a:avLst/>
            </a:prstGeom>
          </p:spPr>
        </p:pic>
        <p:sp>
          <p:nvSpPr>
            <p:cNvPr id="29" name="CuadroTexto 60">
              <a:extLst>
                <a:ext uri="{FF2B5EF4-FFF2-40B4-BE49-F238E27FC236}">
                  <a16:creationId xmlns:a16="http://schemas.microsoft.com/office/drawing/2014/main" id="{1CBE8E43-CF86-022A-B6A4-DF31C7671723}"/>
                </a:ext>
              </a:extLst>
            </p:cNvPr>
            <p:cNvSpPr txBox="1"/>
            <p:nvPr/>
          </p:nvSpPr>
          <p:spPr>
            <a:xfrm>
              <a:off x="1550000" y="3364061"/>
              <a:ext cx="183066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urier New" panose="02070309020205020404" pitchFamily="49" charset="0"/>
                  <a:ea typeface="Helvetica Neue"/>
                  <a:cs typeface="Courier New" panose="02070309020205020404" pitchFamily="49" charset="0"/>
                  <a:sym typeface="Helvetica Neue"/>
                </a:rPr>
                <a:t>datos_titulados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pic>
          <p:nvPicPr>
            <p:cNvPr id="30" name="Gráfico 61" descr="Document con relleno sólido">
              <a:extLst>
                <a:ext uri="{FF2B5EF4-FFF2-40B4-BE49-F238E27FC236}">
                  <a16:creationId xmlns:a16="http://schemas.microsoft.com/office/drawing/2014/main" id="{1BC7A4C0-E354-CB16-02B2-0B497BC7D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439846" y="4114479"/>
              <a:ext cx="307777" cy="307777"/>
            </a:xfrm>
            <a:prstGeom prst="rect">
              <a:avLst/>
            </a:prstGeom>
          </p:spPr>
        </p:pic>
        <p:sp>
          <p:nvSpPr>
            <p:cNvPr id="31" name="CuadroTexto 62">
              <a:extLst>
                <a:ext uri="{FF2B5EF4-FFF2-40B4-BE49-F238E27FC236}">
                  <a16:creationId xmlns:a16="http://schemas.microsoft.com/office/drawing/2014/main" id="{FA969EB4-3B46-1132-2793-474A9FE614E0}"/>
                </a:ext>
              </a:extLst>
            </p:cNvPr>
            <p:cNvSpPr txBox="1"/>
            <p:nvPr/>
          </p:nvSpPr>
          <p:spPr>
            <a:xfrm>
              <a:off x="1681502" y="3742123"/>
              <a:ext cx="209549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urier New" panose="02070309020205020404" pitchFamily="49" charset="0"/>
                  <a:ea typeface="Helvetica Neue"/>
                  <a:cs typeface="Courier New" panose="02070309020205020404" pitchFamily="49" charset="0"/>
                  <a:sym typeface="Helvetica Neue"/>
                </a:rPr>
                <a:t>titulados2023.csv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sp>
          <p:nvSpPr>
            <p:cNvPr id="32" name="CuadroTexto 63">
              <a:extLst>
                <a:ext uri="{FF2B5EF4-FFF2-40B4-BE49-F238E27FC236}">
                  <a16:creationId xmlns:a16="http://schemas.microsoft.com/office/drawing/2014/main" id="{1D087025-97B7-F06D-A0C0-2D4B739560F5}"/>
                </a:ext>
              </a:extLst>
            </p:cNvPr>
            <p:cNvSpPr txBox="1"/>
            <p:nvPr/>
          </p:nvSpPr>
          <p:spPr>
            <a:xfrm>
              <a:off x="1681502" y="4114478"/>
              <a:ext cx="204125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urier New" panose="02070309020205020404" pitchFamily="49" charset="0"/>
                  <a:ea typeface="Helvetica Neue"/>
                  <a:cs typeface="Courier New" panose="02070309020205020404" pitchFamily="49" charset="0"/>
                  <a:sym typeface="Helvetica Neue"/>
                </a:rPr>
                <a:t>titulados2024.csv</a:t>
              </a:r>
              <a:endParaRPr lang="es-ES" sz="1400" b="0" i="0" u="none" strike="noStrike" cap="none" dirty="0">
                <a:solidFill>
                  <a:srgbClr val="000000"/>
                </a:solidFill>
                <a:latin typeface="Courier New" panose="02070309020205020404" pitchFamily="49" charset="0"/>
                <a:ea typeface="Arial"/>
                <a:cs typeface="Courier New" panose="02070309020205020404" pitchFamily="49" charset="0"/>
                <a:sym typeface="Arial"/>
              </a:endParaRPr>
            </a:p>
          </p:txBody>
        </p:sp>
        <p:cxnSp>
          <p:nvCxnSpPr>
            <p:cNvPr id="33" name="Conector recto 64">
              <a:extLst>
                <a:ext uri="{FF2B5EF4-FFF2-40B4-BE49-F238E27FC236}">
                  <a16:creationId xmlns:a16="http://schemas.microsoft.com/office/drawing/2014/main" id="{B2C071A8-CA0B-EE52-0BF8-6424E257F5EA}"/>
                </a:ext>
              </a:extLst>
            </p:cNvPr>
            <p:cNvCxnSpPr>
              <a:cxnSpLocks/>
            </p:cNvCxnSpPr>
            <p:nvPr/>
          </p:nvCxnSpPr>
          <p:spPr>
            <a:xfrm>
              <a:off x="1383816" y="3611618"/>
              <a:ext cx="0" cy="656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ector recto 65">
              <a:extLst>
                <a:ext uri="{FF2B5EF4-FFF2-40B4-BE49-F238E27FC236}">
                  <a16:creationId xmlns:a16="http://schemas.microsoft.com/office/drawing/2014/main" id="{B95CEC42-7DE1-0747-026B-2A036423F4A0}"/>
                </a:ext>
              </a:extLst>
            </p:cNvPr>
            <p:cNvCxnSpPr>
              <a:cxnSpLocks/>
            </p:cNvCxnSpPr>
            <p:nvPr/>
          </p:nvCxnSpPr>
          <p:spPr>
            <a:xfrm>
              <a:off x="1378182" y="3881911"/>
              <a:ext cx="656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66">
              <a:extLst>
                <a:ext uri="{FF2B5EF4-FFF2-40B4-BE49-F238E27FC236}">
                  <a16:creationId xmlns:a16="http://schemas.microsoft.com/office/drawing/2014/main" id="{56675BA4-AA54-6F17-C64C-D8BF70DC81D5}"/>
                </a:ext>
              </a:extLst>
            </p:cNvPr>
            <p:cNvCxnSpPr>
              <a:cxnSpLocks/>
            </p:cNvCxnSpPr>
            <p:nvPr/>
          </p:nvCxnSpPr>
          <p:spPr>
            <a:xfrm>
              <a:off x="1375601" y="4266785"/>
              <a:ext cx="656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67">
              <a:extLst>
                <a:ext uri="{FF2B5EF4-FFF2-40B4-BE49-F238E27FC236}">
                  <a16:creationId xmlns:a16="http://schemas.microsoft.com/office/drawing/2014/main" id="{7B383CED-450C-DE58-A6FB-FAE0A4EE0D84}"/>
                </a:ext>
              </a:extLst>
            </p:cNvPr>
            <p:cNvCxnSpPr>
              <a:cxnSpLocks/>
            </p:cNvCxnSpPr>
            <p:nvPr/>
          </p:nvCxnSpPr>
          <p:spPr>
            <a:xfrm>
              <a:off x="1201374" y="3171258"/>
              <a:ext cx="0" cy="17748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68">
              <a:extLst>
                <a:ext uri="{FF2B5EF4-FFF2-40B4-BE49-F238E27FC236}">
                  <a16:creationId xmlns:a16="http://schemas.microsoft.com/office/drawing/2014/main" id="{A52AC87D-6E1A-E804-63BB-2220C22CD505}"/>
                </a:ext>
              </a:extLst>
            </p:cNvPr>
            <p:cNvCxnSpPr>
              <a:cxnSpLocks/>
            </p:cNvCxnSpPr>
            <p:nvPr/>
          </p:nvCxnSpPr>
          <p:spPr>
            <a:xfrm>
              <a:off x="1189620" y="3499622"/>
              <a:ext cx="656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8" name="Gráfico 69" descr="Document con relleno sólido">
              <a:extLst>
                <a:ext uri="{FF2B5EF4-FFF2-40B4-BE49-F238E27FC236}">
                  <a16:creationId xmlns:a16="http://schemas.microsoft.com/office/drawing/2014/main" id="{BC62CE41-C5DB-B97F-A4E6-32795BDA0F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59034" y="4793821"/>
              <a:ext cx="307777" cy="307777"/>
            </a:xfrm>
            <a:prstGeom prst="rect">
              <a:avLst/>
            </a:prstGeom>
          </p:spPr>
        </p:pic>
        <p:cxnSp>
          <p:nvCxnSpPr>
            <p:cNvPr id="39" name="Conector recto 70">
              <a:extLst>
                <a:ext uri="{FF2B5EF4-FFF2-40B4-BE49-F238E27FC236}">
                  <a16:creationId xmlns:a16="http://schemas.microsoft.com/office/drawing/2014/main" id="{963D88D3-0EB7-9F8E-80E7-D2E1E5915D0E}"/>
                </a:ext>
              </a:extLst>
            </p:cNvPr>
            <p:cNvCxnSpPr>
              <a:cxnSpLocks/>
            </p:cNvCxnSpPr>
            <p:nvPr/>
          </p:nvCxnSpPr>
          <p:spPr>
            <a:xfrm>
              <a:off x="1194789" y="4946127"/>
              <a:ext cx="656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71">
              <a:extLst>
                <a:ext uri="{FF2B5EF4-FFF2-40B4-BE49-F238E27FC236}">
                  <a16:creationId xmlns:a16="http://schemas.microsoft.com/office/drawing/2014/main" id="{1E12498F-73B7-0862-CDD4-112F0F2EB91F}"/>
                </a:ext>
              </a:extLst>
            </p:cNvPr>
            <p:cNvCxnSpPr>
              <a:cxnSpLocks/>
            </p:cNvCxnSpPr>
            <p:nvPr/>
          </p:nvCxnSpPr>
          <p:spPr>
            <a:xfrm>
              <a:off x="993307" y="3070838"/>
              <a:ext cx="656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43" name="Gráfico 75" descr="Document con relleno sólido">
              <a:extLst>
                <a:ext uri="{FF2B5EF4-FFF2-40B4-BE49-F238E27FC236}">
                  <a16:creationId xmlns:a16="http://schemas.microsoft.com/office/drawing/2014/main" id="{34256401-F870-BD4E-61B1-3B01E42EB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263157" y="4476358"/>
              <a:ext cx="307777" cy="307777"/>
            </a:xfrm>
            <a:prstGeom prst="rect">
              <a:avLst/>
            </a:prstGeom>
          </p:spPr>
        </p:pic>
        <p:cxnSp>
          <p:nvCxnSpPr>
            <p:cNvPr id="44" name="Conector recto 76">
              <a:extLst>
                <a:ext uri="{FF2B5EF4-FFF2-40B4-BE49-F238E27FC236}">
                  <a16:creationId xmlns:a16="http://schemas.microsoft.com/office/drawing/2014/main" id="{8B92469C-0F3D-195A-4DBD-5789833D17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8912" y="4628664"/>
              <a:ext cx="6561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CuadroTexto 77">
            <a:extLst>
              <a:ext uri="{FF2B5EF4-FFF2-40B4-BE49-F238E27FC236}">
                <a16:creationId xmlns:a16="http://schemas.microsoft.com/office/drawing/2014/main" id="{E547B0B8-3B26-1FCA-6EA6-715F12DF4999}"/>
              </a:ext>
            </a:extLst>
          </p:cNvPr>
          <p:cNvSpPr txBox="1"/>
          <p:nvPr/>
        </p:nvSpPr>
        <p:spPr>
          <a:xfrm>
            <a:off x="5441190" y="1344027"/>
            <a:ext cx="2996529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>
                <a:latin typeface="Courier New" panose="02070309020205020404" pitchFamily="49" charset="0"/>
                <a:cs typeface="Courier New" panose="02070309020205020404" pitchFamily="49" charset="0"/>
              </a:rPr>
              <a:t>"datos_clase01/encuesta01.csv"</a:t>
            </a:r>
          </a:p>
        </p:txBody>
      </p:sp>
      <p:sp>
        <p:nvSpPr>
          <p:cNvPr id="46" name="CuadroTexto 78">
            <a:extLst>
              <a:ext uri="{FF2B5EF4-FFF2-40B4-BE49-F238E27FC236}">
                <a16:creationId xmlns:a16="http://schemas.microsoft.com/office/drawing/2014/main" id="{EE13150D-BA0B-3B68-AF53-63E86C438430}"/>
              </a:ext>
            </a:extLst>
          </p:cNvPr>
          <p:cNvSpPr txBox="1"/>
          <p:nvPr/>
        </p:nvSpPr>
        <p:spPr>
          <a:xfrm>
            <a:off x="5441189" y="1777673"/>
            <a:ext cx="2996529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>
                <a:latin typeface="Courier New" panose="02070309020205020404" pitchFamily="49" charset="0"/>
                <a:cs typeface="Courier New" panose="02070309020205020404" pitchFamily="49" charset="0"/>
              </a:rPr>
              <a:t>"datos_clase01/encuesta02.csv"</a:t>
            </a:r>
          </a:p>
        </p:txBody>
      </p:sp>
      <p:cxnSp>
        <p:nvCxnSpPr>
          <p:cNvPr id="47" name="Conector angular 80">
            <a:extLst>
              <a:ext uri="{FF2B5EF4-FFF2-40B4-BE49-F238E27FC236}">
                <a16:creationId xmlns:a16="http://schemas.microsoft.com/office/drawing/2014/main" id="{DA322D2F-5533-879B-58B2-78E90ADEAD3B}"/>
              </a:ext>
            </a:extLst>
          </p:cNvPr>
          <p:cNvCxnSpPr>
            <a:cxnSpLocks/>
            <a:stCxn id="8" idx="3"/>
            <a:endCxn id="41" idx="1"/>
          </p:cNvCxnSpPr>
          <p:nvPr/>
        </p:nvCxnSpPr>
        <p:spPr>
          <a:xfrm flipV="1">
            <a:off x="4001723" y="959374"/>
            <a:ext cx="1269963" cy="173645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uadroTexto 83">
            <a:extLst>
              <a:ext uri="{FF2B5EF4-FFF2-40B4-BE49-F238E27FC236}">
                <a16:creationId xmlns:a16="http://schemas.microsoft.com/office/drawing/2014/main" id="{7D2FA72D-7C9D-CA2E-74F3-F56E6C71EE30}"/>
              </a:ext>
            </a:extLst>
          </p:cNvPr>
          <p:cNvSpPr txBox="1"/>
          <p:nvPr/>
        </p:nvSpPr>
        <p:spPr>
          <a:xfrm>
            <a:off x="5271686" y="2770406"/>
            <a:ext cx="3101286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script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invitar_titulados.py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utiliza los archivos:</a:t>
            </a:r>
          </a:p>
        </p:txBody>
      </p:sp>
      <p:sp>
        <p:nvSpPr>
          <p:cNvPr id="49" name="CuadroTexto 84">
            <a:extLst>
              <a:ext uri="{FF2B5EF4-FFF2-40B4-BE49-F238E27FC236}">
                <a16:creationId xmlns:a16="http://schemas.microsoft.com/office/drawing/2014/main" id="{506B0F84-FEE8-0E52-31C6-F440B0403B9B}"/>
              </a:ext>
            </a:extLst>
          </p:cNvPr>
          <p:cNvSpPr txBox="1"/>
          <p:nvPr/>
        </p:nvSpPr>
        <p:spPr>
          <a:xfrm>
            <a:off x="5421249" y="3938428"/>
            <a:ext cx="3567211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>
                <a:latin typeface="Courier New" panose="02070309020205020404" pitchFamily="49" charset="0"/>
                <a:cs typeface="Courier New" panose="02070309020205020404" pitchFamily="49" charset="0"/>
              </a:rPr>
              <a:t>"datos_titulados/titulados2023.csv"</a:t>
            </a:r>
          </a:p>
        </p:txBody>
      </p:sp>
      <p:sp>
        <p:nvSpPr>
          <p:cNvPr id="50" name="CuadroTexto 86">
            <a:extLst>
              <a:ext uri="{FF2B5EF4-FFF2-40B4-BE49-F238E27FC236}">
                <a16:creationId xmlns:a16="http://schemas.microsoft.com/office/drawing/2014/main" id="{EF5362C0-3138-32B6-7378-A0C50C72AB01}"/>
              </a:ext>
            </a:extLst>
          </p:cNvPr>
          <p:cNvSpPr txBox="1"/>
          <p:nvPr/>
        </p:nvSpPr>
        <p:spPr>
          <a:xfrm>
            <a:off x="5421249" y="4265481"/>
            <a:ext cx="3567211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>
                <a:latin typeface="Courier New" panose="02070309020205020404" pitchFamily="49" charset="0"/>
                <a:cs typeface="Courier New" panose="02070309020205020404" pitchFamily="49" charset="0"/>
              </a:rPr>
              <a:t>"datos_titulados/titulados2024.csv"</a:t>
            </a:r>
          </a:p>
        </p:txBody>
      </p:sp>
      <p:sp>
        <p:nvSpPr>
          <p:cNvPr id="68" name="CuadroTexto 87">
            <a:extLst>
              <a:ext uri="{FF2B5EF4-FFF2-40B4-BE49-F238E27FC236}">
                <a16:creationId xmlns:a16="http://schemas.microsoft.com/office/drawing/2014/main" id="{C10DE7D9-D76D-177E-0772-D559EC19EF58}"/>
              </a:ext>
            </a:extLst>
          </p:cNvPr>
          <p:cNvSpPr txBox="1"/>
          <p:nvPr/>
        </p:nvSpPr>
        <p:spPr>
          <a:xfrm>
            <a:off x="5421249" y="3624121"/>
            <a:ext cx="1996838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>
                <a:latin typeface="Courier New" panose="02070309020205020404" pitchFamily="49" charset="0"/>
                <a:cs typeface="Courier New" panose="02070309020205020404" pitchFamily="49" charset="0"/>
              </a:rPr>
              <a:t>"por_cofirmar.txt"</a:t>
            </a:r>
          </a:p>
        </p:txBody>
      </p:sp>
      <p:cxnSp>
        <p:nvCxnSpPr>
          <p:cNvPr id="69" name="Conector angular 89">
            <a:extLst>
              <a:ext uri="{FF2B5EF4-FFF2-40B4-BE49-F238E27FC236}">
                <a16:creationId xmlns:a16="http://schemas.microsoft.com/office/drawing/2014/main" id="{ADD0BAA4-236F-F339-0EEB-2EF49D4D1D2B}"/>
              </a:ext>
            </a:extLst>
          </p:cNvPr>
          <p:cNvCxnSpPr>
            <a:cxnSpLocks/>
            <a:stCxn id="27" idx="3"/>
            <a:endCxn id="48" idx="1"/>
          </p:cNvCxnSpPr>
          <p:nvPr/>
        </p:nvCxnSpPr>
        <p:spPr>
          <a:xfrm flipV="1">
            <a:off x="3905573" y="3119027"/>
            <a:ext cx="1366113" cy="1836432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0306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DB44EB2-7E04-8FA6-AAEA-9A4342877FB5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rgbClr val="012E46">
                    <a:alpha val="70035"/>
                  </a:srgbClr>
                </a:solidFill>
                <a:latin typeface="SWISS 721 CONDENSED BT" panose="020B0506020202030204" pitchFamily="34" charset="0"/>
              </a:rPr>
              <a:t>Archivos: Uso desde Python</a:t>
            </a:r>
          </a:p>
        </p:txBody>
      </p:sp>
    </p:spTree>
    <p:extLst>
      <p:ext uri="{BB962C8B-B14F-4D97-AF65-F5344CB8AC3E}">
        <p14:creationId xmlns:p14="http://schemas.microsoft.com/office/powerpoint/2010/main" val="3682370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Abrir y cerrar archivos</a:t>
            </a:r>
            <a:endParaRPr lang="es-CL" sz="2000" dirty="0"/>
          </a:p>
        </p:txBody>
      </p:sp>
      <p:sp>
        <p:nvSpPr>
          <p:cNvPr id="2" name="CuadroTexto 3">
            <a:extLst>
              <a:ext uri="{FF2B5EF4-FFF2-40B4-BE49-F238E27FC236}">
                <a16:creationId xmlns:a16="http://schemas.microsoft.com/office/drawing/2014/main" id="{1612F121-ADA7-06DA-EF2C-BF6207A4981B}"/>
              </a:ext>
            </a:extLst>
          </p:cNvPr>
          <p:cNvSpPr txBox="1"/>
          <p:nvPr/>
        </p:nvSpPr>
        <p:spPr>
          <a:xfrm>
            <a:off x="206983" y="994615"/>
            <a:ext cx="6943538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rutaArchivo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modo, codificación) </a:t>
            </a:r>
            <a:r>
              <a:rPr lang="es-CL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provee un objeto para el archivo</a:t>
            </a:r>
          </a:p>
        </p:txBody>
      </p:sp>
      <p:cxnSp>
        <p:nvCxnSpPr>
          <p:cNvPr id="4" name="Conector recto de flecha 6">
            <a:extLst>
              <a:ext uri="{FF2B5EF4-FFF2-40B4-BE49-F238E27FC236}">
                <a16:creationId xmlns:a16="http://schemas.microsoft.com/office/drawing/2014/main" id="{27F253ED-79E8-7377-7F5A-315597C7BE29}"/>
              </a:ext>
            </a:extLst>
          </p:cNvPr>
          <p:cNvCxnSpPr>
            <a:cxnSpLocks/>
            <a:stCxn id="5" idx="1"/>
            <a:endCxn id="7" idx="0"/>
          </p:cNvCxnSpPr>
          <p:nvPr/>
        </p:nvCxnSpPr>
        <p:spPr>
          <a:xfrm>
            <a:off x="1256114" y="1258753"/>
            <a:ext cx="612697" cy="363075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Abrir corchete 7">
            <a:extLst>
              <a:ext uri="{FF2B5EF4-FFF2-40B4-BE49-F238E27FC236}">
                <a16:creationId xmlns:a16="http://schemas.microsoft.com/office/drawing/2014/main" id="{F6A4B048-A519-9C88-3C95-969B749336AB}"/>
              </a:ext>
            </a:extLst>
          </p:cNvPr>
          <p:cNvSpPr/>
          <p:nvPr/>
        </p:nvSpPr>
        <p:spPr>
          <a:xfrm rot="16200000">
            <a:off x="1229378" y="661529"/>
            <a:ext cx="53472" cy="1140976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CuadroTexto 9">
            <a:extLst>
              <a:ext uri="{FF2B5EF4-FFF2-40B4-BE49-F238E27FC236}">
                <a16:creationId xmlns:a16="http://schemas.microsoft.com/office/drawing/2014/main" id="{14F15093-1141-4CD8-20B7-C74A2DD28D69}"/>
              </a:ext>
            </a:extLst>
          </p:cNvPr>
          <p:cNvSpPr txBox="1"/>
          <p:nvPr/>
        </p:nvSpPr>
        <p:spPr>
          <a:xfrm>
            <a:off x="206983" y="531793"/>
            <a:ext cx="1661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Abrir archivo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0ACFF8D0-28D9-017D-3956-6AB78193613B}"/>
              </a:ext>
            </a:extLst>
          </p:cNvPr>
          <p:cNvSpPr txBox="1"/>
          <p:nvPr/>
        </p:nvSpPr>
        <p:spPr>
          <a:xfrm>
            <a:off x="202881" y="1621828"/>
            <a:ext cx="3331859" cy="9742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0000" tIns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R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uta donde se encuentra el archivo a abrir. Puede ser una ruta absoluta o relativa</a:t>
            </a:r>
          </a:p>
        </p:txBody>
      </p:sp>
      <p:sp>
        <p:nvSpPr>
          <p:cNvPr id="8" name="CuadroTexto 22">
            <a:extLst>
              <a:ext uri="{FF2B5EF4-FFF2-40B4-BE49-F238E27FC236}">
                <a16:creationId xmlns:a16="http://schemas.microsoft.com/office/drawing/2014/main" id="{5C35CD8C-2C23-6837-E838-D48E3B4C6C0C}"/>
              </a:ext>
            </a:extLst>
          </p:cNvPr>
          <p:cNvSpPr txBox="1"/>
          <p:nvPr/>
        </p:nvSpPr>
        <p:spPr>
          <a:xfrm>
            <a:off x="3604742" y="1621828"/>
            <a:ext cx="2912612" cy="9742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0000" tIns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Indica cómo se utilizará el archivo. Los modos más comunes son:</a:t>
            </a:r>
            <a:endParaRPr lang="es-ES" sz="14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" name="Abrir corchete 23">
            <a:extLst>
              <a:ext uri="{FF2B5EF4-FFF2-40B4-BE49-F238E27FC236}">
                <a16:creationId xmlns:a16="http://schemas.microsoft.com/office/drawing/2014/main" id="{ABFE3522-4698-4B40-D7AA-1177599BA074}"/>
              </a:ext>
            </a:extLst>
          </p:cNvPr>
          <p:cNvSpPr/>
          <p:nvPr/>
        </p:nvSpPr>
        <p:spPr>
          <a:xfrm rot="16200000">
            <a:off x="2136513" y="1005311"/>
            <a:ext cx="53472" cy="419222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0" name="Conector recto de flecha 24">
            <a:extLst>
              <a:ext uri="{FF2B5EF4-FFF2-40B4-BE49-F238E27FC236}">
                <a16:creationId xmlns:a16="http://schemas.microsoft.com/office/drawing/2014/main" id="{B8B53949-CDEE-3B4B-4E71-8B42B9AE4C88}"/>
              </a:ext>
            </a:extLst>
          </p:cNvPr>
          <p:cNvCxnSpPr>
            <a:cxnSpLocks/>
            <a:stCxn id="9" idx="1"/>
            <a:endCxn id="8" idx="0"/>
          </p:cNvCxnSpPr>
          <p:nvPr/>
        </p:nvCxnSpPr>
        <p:spPr>
          <a:xfrm>
            <a:off x="2163249" y="1241658"/>
            <a:ext cx="2897799" cy="38017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4">
            <a:extLst>
              <a:ext uri="{FF2B5EF4-FFF2-40B4-BE49-F238E27FC236}">
                <a16:creationId xmlns:a16="http://schemas.microsoft.com/office/drawing/2014/main" id="{A701CC3A-D8E1-ECEE-83E3-DA9A8D190A4B}"/>
              </a:ext>
            </a:extLst>
          </p:cNvPr>
          <p:cNvSpPr txBox="1"/>
          <p:nvPr/>
        </p:nvSpPr>
        <p:spPr>
          <a:xfrm>
            <a:off x="206983" y="3810331"/>
            <a:ext cx="16618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Cerrar archivo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12" name="CuadroTexto 5">
            <a:extLst>
              <a:ext uri="{FF2B5EF4-FFF2-40B4-BE49-F238E27FC236}">
                <a16:creationId xmlns:a16="http://schemas.microsoft.com/office/drawing/2014/main" id="{A7932633-A0BB-742E-A12E-E0328775F06F}"/>
              </a:ext>
            </a:extLst>
          </p:cNvPr>
          <p:cNvSpPr txBox="1"/>
          <p:nvPr/>
        </p:nvSpPr>
        <p:spPr>
          <a:xfrm>
            <a:off x="202881" y="4223387"/>
            <a:ext cx="2008849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graphicFrame>
        <p:nvGraphicFramePr>
          <p:cNvPr id="13" name="Tabla 8">
            <a:extLst>
              <a:ext uri="{FF2B5EF4-FFF2-40B4-BE49-F238E27FC236}">
                <a16:creationId xmlns:a16="http://schemas.microsoft.com/office/drawing/2014/main" id="{614B833F-0730-B216-F40F-565FA9EE2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311334"/>
              </p:ext>
            </p:extLst>
          </p:nvPr>
        </p:nvGraphicFramePr>
        <p:xfrm>
          <a:off x="3604742" y="2362404"/>
          <a:ext cx="2912612" cy="1920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38827">
                  <a:extLst>
                    <a:ext uri="{9D8B030D-6E8A-4147-A177-3AD203B41FA5}">
                      <a16:colId xmlns:a16="http://schemas.microsoft.com/office/drawing/2014/main" val="4235625276"/>
                    </a:ext>
                  </a:extLst>
                </a:gridCol>
                <a:gridCol w="2273785">
                  <a:extLst>
                    <a:ext uri="{9D8B030D-6E8A-4147-A177-3AD203B41FA5}">
                      <a16:colId xmlns:a16="http://schemas.microsoft.com/office/drawing/2014/main" val="1228340112"/>
                    </a:ext>
                  </a:extLst>
                </a:gridCol>
              </a:tblGrid>
              <a:tr h="218478">
                <a:tc>
                  <a:txBody>
                    <a:bodyPr/>
                    <a:lstStyle/>
                    <a:p>
                      <a:r>
                        <a:rPr lang="es-CL" sz="1200"/>
                        <a:t>Modo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L" sz="1200" dirty="0"/>
                        <a:t>Significado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287460"/>
                  </a:ext>
                </a:extLst>
              </a:tr>
              <a:tr h="259488">
                <a:tc>
                  <a:txBody>
                    <a:bodyPr/>
                    <a:lstStyle/>
                    <a:p>
                      <a:pPr algn="ctr"/>
                      <a:r>
                        <a:rPr lang="es-CL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sz="1200"/>
                        <a:t>Lectura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467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CL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sz="1200"/>
                        <a:t>Escritura. Si el archivo ya existe, lo borra y lo crea limpio.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8276955"/>
                  </a:ext>
                </a:extLst>
              </a:tr>
              <a:tr h="253289">
                <a:tc>
                  <a:txBody>
                    <a:bodyPr/>
                    <a:lstStyle/>
                    <a:p>
                      <a:pPr algn="ctr"/>
                      <a:r>
                        <a:rPr lang="es-CL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sz="1200"/>
                        <a:t>Agrega contenido al archivo. Si no existe, lo crea.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7053"/>
                  </a:ext>
                </a:extLst>
              </a:tr>
              <a:tr h="244921">
                <a:tc>
                  <a:txBody>
                    <a:bodyPr/>
                    <a:lstStyle/>
                    <a:p>
                      <a:pPr algn="ctr"/>
                      <a:r>
                        <a:rPr lang="es-CL" sz="12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CL" sz="1200" dirty="0"/>
                        <a:t>Lectura y escritura. Permite actualizar el archivo sin borrarlo.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144811"/>
                  </a:ext>
                </a:extLst>
              </a:tr>
            </a:tbl>
          </a:graphicData>
        </a:graphic>
      </p:graphicFrame>
      <p:sp>
        <p:nvSpPr>
          <p:cNvPr id="15" name="CuadroTexto 12">
            <a:extLst>
              <a:ext uri="{FF2B5EF4-FFF2-40B4-BE49-F238E27FC236}">
                <a16:creationId xmlns:a16="http://schemas.microsoft.com/office/drawing/2014/main" id="{22195C98-30B6-8E1F-3362-F089372F1637}"/>
              </a:ext>
            </a:extLst>
          </p:cNvPr>
          <p:cNvSpPr txBox="1"/>
          <p:nvPr/>
        </p:nvSpPr>
        <p:spPr>
          <a:xfrm>
            <a:off x="5771414" y="4653497"/>
            <a:ext cx="333185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rutaArchivo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"ejemplos/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test.txt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open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rutaArchivo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"r")</a:t>
            </a:r>
          </a:p>
        </p:txBody>
      </p:sp>
      <p:sp>
        <p:nvSpPr>
          <p:cNvPr id="25" name="CuadroTexto 22">
            <a:extLst>
              <a:ext uri="{FF2B5EF4-FFF2-40B4-BE49-F238E27FC236}">
                <a16:creationId xmlns:a16="http://schemas.microsoft.com/office/drawing/2014/main" id="{6ED53305-B88F-2327-53DC-3DE43BEE3489}"/>
              </a:ext>
            </a:extLst>
          </p:cNvPr>
          <p:cNvSpPr txBox="1"/>
          <p:nvPr/>
        </p:nvSpPr>
        <p:spPr>
          <a:xfrm>
            <a:off x="6591212" y="1621828"/>
            <a:ext cx="2349907" cy="19437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0000" tIns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[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OPCIONAL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Indica la forma de almacenado del texto.</a:t>
            </a: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Muy útil cuando se trabaja con texto que posee </a:t>
            </a:r>
            <a:r>
              <a:rPr lang="es-ES" sz="1400" b="1" i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caracteres especiales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  <p:sp>
        <p:nvSpPr>
          <p:cNvPr id="26" name="Abrir corchete 23">
            <a:extLst>
              <a:ext uri="{FF2B5EF4-FFF2-40B4-BE49-F238E27FC236}">
                <a16:creationId xmlns:a16="http://schemas.microsoft.com/office/drawing/2014/main" id="{23AD6EAD-FDAD-C394-BEC5-FF372C3BE98E}"/>
              </a:ext>
            </a:extLst>
          </p:cNvPr>
          <p:cNvSpPr/>
          <p:nvPr/>
        </p:nvSpPr>
        <p:spPr>
          <a:xfrm rot="16200000">
            <a:off x="3070425" y="664594"/>
            <a:ext cx="45719" cy="1161880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7" name="Conector recto de flecha 24">
            <a:extLst>
              <a:ext uri="{FF2B5EF4-FFF2-40B4-BE49-F238E27FC236}">
                <a16:creationId xmlns:a16="http://schemas.microsoft.com/office/drawing/2014/main" id="{08093D25-9892-6EFB-FEA1-F11086DA0F9C}"/>
              </a:ext>
            </a:extLst>
          </p:cNvPr>
          <p:cNvCxnSpPr>
            <a:cxnSpLocks/>
            <a:stCxn id="26" idx="1"/>
            <a:endCxn id="25" idx="0"/>
          </p:cNvCxnSpPr>
          <p:nvPr/>
        </p:nvCxnSpPr>
        <p:spPr>
          <a:xfrm>
            <a:off x="3093285" y="1268394"/>
            <a:ext cx="4672881" cy="353434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715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Método de uso de archivos</a:t>
            </a:r>
            <a:endParaRPr lang="es-CL" sz="2000" dirty="0"/>
          </a:p>
        </p:txBody>
      </p:sp>
      <p:pic>
        <p:nvPicPr>
          <p:cNvPr id="2" name="Imagen 10">
            <a:extLst>
              <a:ext uri="{FF2B5EF4-FFF2-40B4-BE49-F238E27FC236}">
                <a16:creationId xmlns:a16="http://schemas.microsoft.com/office/drawing/2014/main" id="{AC3AB4EF-3F3E-8EDD-17BB-55AE074827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55"/>
          <a:stretch/>
        </p:blipFill>
        <p:spPr>
          <a:xfrm>
            <a:off x="7030712" y="102523"/>
            <a:ext cx="1991164" cy="136449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8B73B5B-4D69-AAF4-46A4-0D97229F5A00}"/>
              </a:ext>
            </a:extLst>
          </p:cNvPr>
          <p:cNvSpPr txBox="1"/>
          <p:nvPr/>
        </p:nvSpPr>
        <p:spPr>
          <a:xfrm>
            <a:off x="270700" y="899291"/>
            <a:ext cx="4301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Estructura para utilizar archivos (simple)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5" name="Proceso alternativo 4">
            <a:extLst>
              <a:ext uri="{FF2B5EF4-FFF2-40B4-BE49-F238E27FC236}">
                <a16:creationId xmlns:a16="http://schemas.microsoft.com/office/drawing/2014/main" id="{C6D4C031-FDDB-1515-40C1-6FE776DF7B6E}"/>
              </a:ext>
            </a:extLst>
          </p:cNvPr>
          <p:cNvSpPr/>
          <p:nvPr/>
        </p:nvSpPr>
        <p:spPr>
          <a:xfrm>
            <a:off x="384533" y="2191623"/>
            <a:ext cx="1210645" cy="409901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>
                <a:solidFill>
                  <a:schemeClr val="tx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Abrir archivo</a:t>
            </a:r>
          </a:p>
        </p:txBody>
      </p:sp>
      <p:sp>
        <p:nvSpPr>
          <p:cNvPr id="6" name="Proceso alternativo 5">
            <a:extLst>
              <a:ext uri="{FF2B5EF4-FFF2-40B4-BE49-F238E27FC236}">
                <a16:creationId xmlns:a16="http://schemas.microsoft.com/office/drawing/2014/main" id="{72E0B744-1E79-6388-70A2-8D66E1BC051E}"/>
              </a:ext>
            </a:extLst>
          </p:cNvPr>
          <p:cNvSpPr/>
          <p:nvPr/>
        </p:nvSpPr>
        <p:spPr>
          <a:xfrm>
            <a:off x="246956" y="2861128"/>
            <a:ext cx="1474999" cy="409901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>
                <a:solidFill>
                  <a:schemeClr val="tx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Usar datos del archivo</a:t>
            </a:r>
          </a:p>
        </p:txBody>
      </p:sp>
      <p:sp>
        <p:nvSpPr>
          <p:cNvPr id="7" name="Proceso alternativo 6">
            <a:extLst>
              <a:ext uri="{FF2B5EF4-FFF2-40B4-BE49-F238E27FC236}">
                <a16:creationId xmlns:a16="http://schemas.microsoft.com/office/drawing/2014/main" id="{B39DCB30-4A50-B7F1-CDA6-8D2FCF5BF418}"/>
              </a:ext>
            </a:extLst>
          </p:cNvPr>
          <p:cNvSpPr/>
          <p:nvPr/>
        </p:nvSpPr>
        <p:spPr>
          <a:xfrm>
            <a:off x="384533" y="3680806"/>
            <a:ext cx="1210645" cy="409901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>
                <a:solidFill>
                  <a:schemeClr val="tx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Cerrar archivo</a:t>
            </a: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F85B7BF-AC8E-64D7-761A-A21650FFEBE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984456" y="2601524"/>
            <a:ext cx="5400" cy="2596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72B10ED-0185-95E4-C5EC-116BFFD0080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984456" y="3271029"/>
            <a:ext cx="5400" cy="409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EBFDC6A3-92F6-2AE8-DD62-9297ACC98898}"/>
              </a:ext>
            </a:extLst>
          </p:cNvPr>
          <p:cNvSpPr txBox="1"/>
          <p:nvPr/>
        </p:nvSpPr>
        <p:spPr>
          <a:xfrm>
            <a:off x="1872267" y="1503937"/>
            <a:ext cx="5706453" cy="26776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archivoEncuenta01 = "datos_clase01/encuesta01.cvs"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(archivoEncuenta01, "r",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="utf-8")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utilizar datos del archivo a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través del objeto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mi_archivo</a:t>
            </a:r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Proceso alternativo 12">
            <a:extLst>
              <a:ext uri="{FF2B5EF4-FFF2-40B4-BE49-F238E27FC236}">
                <a16:creationId xmlns:a16="http://schemas.microsoft.com/office/drawing/2014/main" id="{36B8EB44-2D2F-7ABA-1849-30EF74BFC20D}"/>
              </a:ext>
            </a:extLst>
          </p:cNvPr>
          <p:cNvSpPr/>
          <p:nvPr/>
        </p:nvSpPr>
        <p:spPr>
          <a:xfrm>
            <a:off x="205174" y="1417888"/>
            <a:ext cx="1569364" cy="420816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>
                <a:solidFill>
                  <a:schemeClr val="tx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Definir nombre del archivo</a:t>
            </a:r>
          </a:p>
        </p:txBody>
      </p:sp>
      <p:cxnSp>
        <p:nvCxnSpPr>
          <p:cNvPr id="12" name="Conector recto de flecha 13">
            <a:extLst>
              <a:ext uri="{FF2B5EF4-FFF2-40B4-BE49-F238E27FC236}">
                <a16:creationId xmlns:a16="http://schemas.microsoft.com/office/drawing/2014/main" id="{641BFCBF-A4EA-A41E-C7A1-8A92402332B3}"/>
              </a:ext>
            </a:extLst>
          </p:cNvPr>
          <p:cNvCxnSpPr>
            <a:cxnSpLocks/>
            <a:stCxn id="11" idx="2"/>
            <a:endCxn id="5" idx="0"/>
          </p:cNvCxnSpPr>
          <p:nvPr/>
        </p:nvCxnSpPr>
        <p:spPr>
          <a:xfrm>
            <a:off x="989856" y="1838704"/>
            <a:ext cx="0" cy="352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673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Método de uso de archivos</a:t>
            </a:r>
            <a:endParaRPr lang="es-CL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B73B5B-4D69-AAF4-46A4-0D97229F5A00}"/>
              </a:ext>
            </a:extLst>
          </p:cNvPr>
          <p:cNvSpPr txBox="1"/>
          <p:nvPr/>
        </p:nvSpPr>
        <p:spPr>
          <a:xfrm>
            <a:off x="270700" y="899291"/>
            <a:ext cx="4301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Estructura para utilizar archivos (simple)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14" name="Proceso alternativo 4">
            <a:extLst>
              <a:ext uri="{FF2B5EF4-FFF2-40B4-BE49-F238E27FC236}">
                <a16:creationId xmlns:a16="http://schemas.microsoft.com/office/drawing/2014/main" id="{DE8D662F-FB38-D18A-3526-3D16C2FBB93D}"/>
              </a:ext>
            </a:extLst>
          </p:cNvPr>
          <p:cNvSpPr/>
          <p:nvPr/>
        </p:nvSpPr>
        <p:spPr>
          <a:xfrm>
            <a:off x="238109" y="1963557"/>
            <a:ext cx="1569364" cy="870999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>
                <a:solidFill>
                  <a:schemeClr val="tx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comprobar si hay problemas al abrir el archivo</a:t>
            </a:r>
          </a:p>
        </p:txBody>
      </p:sp>
      <p:sp>
        <p:nvSpPr>
          <p:cNvPr id="15" name="Proceso alternativo 5">
            <a:extLst>
              <a:ext uri="{FF2B5EF4-FFF2-40B4-BE49-F238E27FC236}">
                <a16:creationId xmlns:a16="http://schemas.microsoft.com/office/drawing/2014/main" id="{4B373D0F-FB00-65A9-5B54-0D062807CA8F}"/>
              </a:ext>
            </a:extLst>
          </p:cNvPr>
          <p:cNvSpPr/>
          <p:nvPr/>
        </p:nvSpPr>
        <p:spPr>
          <a:xfrm>
            <a:off x="238108" y="3944960"/>
            <a:ext cx="1569364" cy="613762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>
                <a:solidFill>
                  <a:schemeClr val="tx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Usar datos del archivo si no hay problemas</a:t>
            </a:r>
          </a:p>
        </p:txBody>
      </p:sp>
      <p:sp>
        <p:nvSpPr>
          <p:cNvPr id="16" name="Proceso alternativo 6">
            <a:extLst>
              <a:ext uri="{FF2B5EF4-FFF2-40B4-BE49-F238E27FC236}">
                <a16:creationId xmlns:a16="http://schemas.microsoft.com/office/drawing/2014/main" id="{659BD0D3-546C-82FA-F5CD-3B0CA53658C2}"/>
              </a:ext>
            </a:extLst>
          </p:cNvPr>
          <p:cNvSpPr/>
          <p:nvPr/>
        </p:nvSpPr>
        <p:spPr>
          <a:xfrm>
            <a:off x="417468" y="4761713"/>
            <a:ext cx="1210645" cy="354892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>
                <a:solidFill>
                  <a:schemeClr val="tx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Cerrar archivo</a:t>
            </a:r>
          </a:p>
        </p:txBody>
      </p:sp>
      <p:cxnSp>
        <p:nvCxnSpPr>
          <p:cNvPr id="17" name="Conector recto de flecha 7">
            <a:extLst>
              <a:ext uri="{FF2B5EF4-FFF2-40B4-BE49-F238E27FC236}">
                <a16:creationId xmlns:a16="http://schemas.microsoft.com/office/drawing/2014/main" id="{86C33BDC-3DCC-FAA3-B763-FDC642B296CF}"/>
              </a:ext>
            </a:extLst>
          </p:cNvPr>
          <p:cNvCxnSpPr>
            <a:cxnSpLocks/>
            <a:stCxn id="23" idx="2"/>
            <a:endCxn id="15" idx="0"/>
          </p:cNvCxnSpPr>
          <p:nvPr/>
        </p:nvCxnSpPr>
        <p:spPr>
          <a:xfrm flipH="1">
            <a:off x="1022790" y="3635410"/>
            <a:ext cx="1" cy="3095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8">
            <a:extLst>
              <a:ext uri="{FF2B5EF4-FFF2-40B4-BE49-F238E27FC236}">
                <a16:creationId xmlns:a16="http://schemas.microsoft.com/office/drawing/2014/main" id="{FA2BABB5-12C8-FCD7-1428-30F37124B609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1022790" y="4558722"/>
            <a:ext cx="1" cy="2029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9">
            <a:extLst>
              <a:ext uri="{FF2B5EF4-FFF2-40B4-BE49-F238E27FC236}">
                <a16:creationId xmlns:a16="http://schemas.microsoft.com/office/drawing/2014/main" id="{490D33E4-B0EF-03CD-A01B-89692AD69760}"/>
              </a:ext>
            </a:extLst>
          </p:cNvPr>
          <p:cNvSpPr txBox="1"/>
          <p:nvPr/>
        </p:nvSpPr>
        <p:spPr>
          <a:xfrm>
            <a:off x="2014272" y="1334642"/>
            <a:ext cx="7129728" cy="37856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archivoEncuenta01 = "datos_clase01/encuesta01.cvs"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(archivoEncuenta01, "r",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="utf-8")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("Error al abrir el archivo")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# utilizar datos del archivo a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# través del objeto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</a:t>
            </a:r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21" name="Proceso alternativo 16">
            <a:extLst>
              <a:ext uri="{FF2B5EF4-FFF2-40B4-BE49-F238E27FC236}">
                <a16:creationId xmlns:a16="http://schemas.microsoft.com/office/drawing/2014/main" id="{42536B2E-EA01-0573-C4E7-27D107A8FCDF}"/>
              </a:ext>
            </a:extLst>
          </p:cNvPr>
          <p:cNvSpPr/>
          <p:nvPr/>
        </p:nvSpPr>
        <p:spPr>
          <a:xfrm>
            <a:off x="238108" y="1291165"/>
            <a:ext cx="1569364" cy="420816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chemeClr val="tx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Definir nombre del archivo</a:t>
            </a:r>
          </a:p>
        </p:txBody>
      </p:sp>
      <p:cxnSp>
        <p:nvCxnSpPr>
          <p:cNvPr id="22" name="Conector recto de flecha 17">
            <a:extLst>
              <a:ext uri="{FF2B5EF4-FFF2-40B4-BE49-F238E27FC236}">
                <a16:creationId xmlns:a16="http://schemas.microsoft.com/office/drawing/2014/main" id="{A2EFD33D-3C53-3B09-7BF2-D0872AB49B07}"/>
              </a:ext>
            </a:extLst>
          </p:cNvPr>
          <p:cNvCxnSpPr>
            <a:cxnSpLocks/>
            <a:stCxn id="21" idx="2"/>
            <a:endCxn id="14" idx="0"/>
          </p:cNvCxnSpPr>
          <p:nvPr/>
        </p:nvCxnSpPr>
        <p:spPr>
          <a:xfrm>
            <a:off x="1022790" y="1711981"/>
            <a:ext cx="1" cy="251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ceso alternativo 28">
            <a:extLst>
              <a:ext uri="{FF2B5EF4-FFF2-40B4-BE49-F238E27FC236}">
                <a16:creationId xmlns:a16="http://schemas.microsoft.com/office/drawing/2014/main" id="{7C2EB220-BD89-5CD6-2CCC-62056A089DA0}"/>
              </a:ext>
            </a:extLst>
          </p:cNvPr>
          <p:cNvSpPr/>
          <p:nvPr/>
        </p:nvSpPr>
        <p:spPr>
          <a:xfrm>
            <a:off x="238109" y="3092112"/>
            <a:ext cx="1569364" cy="5432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>
                <a:solidFill>
                  <a:schemeClr val="tx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Si hay algún problema, dar aviso</a:t>
            </a:r>
          </a:p>
        </p:txBody>
      </p:sp>
      <p:cxnSp>
        <p:nvCxnSpPr>
          <p:cNvPr id="24" name="Conector recto de flecha 30">
            <a:extLst>
              <a:ext uri="{FF2B5EF4-FFF2-40B4-BE49-F238E27FC236}">
                <a16:creationId xmlns:a16="http://schemas.microsoft.com/office/drawing/2014/main" id="{80D66282-FB0B-7BCE-41CB-2B66F5896FC5}"/>
              </a:ext>
            </a:extLst>
          </p:cNvPr>
          <p:cNvCxnSpPr>
            <a:cxnSpLocks/>
            <a:stCxn id="14" idx="2"/>
            <a:endCxn id="23" idx="0"/>
          </p:cNvCxnSpPr>
          <p:nvPr/>
        </p:nvCxnSpPr>
        <p:spPr>
          <a:xfrm>
            <a:off x="1022791" y="2834556"/>
            <a:ext cx="0" cy="257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10">
            <a:extLst>
              <a:ext uri="{FF2B5EF4-FFF2-40B4-BE49-F238E27FC236}">
                <a16:creationId xmlns:a16="http://schemas.microsoft.com/office/drawing/2014/main" id="{8EE37BAC-780C-6A56-F057-BD7B42B60BC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55"/>
          <a:stretch/>
        </p:blipFill>
        <p:spPr>
          <a:xfrm>
            <a:off x="7030712" y="102523"/>
            <a:ext cx="1991164" cy="136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758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Método de uso de archivos</a:t>
            </a:r>
            <a:endParaRPr lang="es-CL" sz="20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B73B5B-4D69-AAF4-46A4-0D97229F5A00}"/>
              </a:ext>
            </a:extLst>
          </p:cNvPr>
          <p:cNvSpPr txBox="1"/>
          <p:nvPr/>
        </p:nvSpPr>
        <p:spPr>
          <a:xfrm>
            <a:off x="270699" y="899291"/>
            <a:ext cx="550664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Estructura para utilizar archivos (no directo)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14" name="Proceso alternativo 4">
            <a:extLst>
              <a:ext uri="{FF2B5EF4-FFF2-40B4-BE49-F238E27FC236}">
                <a16:creationId xmlns:a16="http://schemas.microsoft.com/office/drawing/2014/main" id="{DE8D662F-FB38-D18A-3526-3D16C2FBB93D}"/>
              </a:ext>
            </a:extLst>
          </p:cNvPr>
          <p:cNvSpPr/>
          <p:nvPr/>
        </p:nvSpPr>
        <p:spPr>
          <a:xfrm>
            <a:off x="238109" y="2071626"/>
            <a:ext cx="1569364" cy="870999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chemeClr val="tx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abrir el archivo con manejo de error</a:t>
            </a:r>
          </a:p>
        </p:txBody>
      </p:sp>
      <p:sp>
        <p:nvSpPr>
          <p:cNvPr id="15" name="Proceso alternativo 5">
            <a:extLst>
              <a:ext uri="{FF2B5EF4-FFF2-40B4-BE49-F238E27FC236}">
                <a16:creationId xmlns:a16="http://schemas.microsoft.com/office/drawing/2014/main" id="{4B373D0F-FB00-65A9-5B54-0D062807CA8F}"/>
              </a:ext>
            </a:extLst>
          </p:cNvPr>
          <p:cNvSpPr/>
          <p:nvPr/>
        </p:nvSpPr>
        <p:spPr>
          <a:xfrm>
            <a:off x="238109" y="3224801"/>
            <a:ext cx="1569364" cy="613762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>
                <a:solidFill>
                  <a:schemeClr val="tx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Usar datos del archivo si no hay problemas</a:t>
            </a:r>
          </a:p>
        </p:txBody>
      </p:sp>
      <p:sp>
        <p:nvSpPr>
          <p:cNvPr id="16" name="Proceso alternativo 6">
            <a:extLst>
              <a:ext uri="{FF2B5EF4-FFF2-40B4-BE49-F238E27FC236}">
                <a16:creationId xmlns:a16="http://schemas.microsoft.com/office/drawing/2014/main" id="{659BD0D3-546C-82FA-F5CD-3B0CA53658C2}"/>
              </a:ext>
            </a:extLst>
          </p:cNvPr>
          <p:cNvSpPr/>
          <p:nvPr/>
        </p:nvSpPr>
        <p:spPr>
          <a:xfrm>
            <a:off x="417468" y="4207645"/>
            <a:ext cx="1210645" cy="354892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chemeClr val="tx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Cerrar archivo</a:t>
            </a:r>
          </a:p>
        </p:txBody>
      </p:sp>
      <p:cxnSp>
        <p:nvCxnSpPr>
          <p:cNvPr id="19" name="Conector recto de flecha 8">
            <a:extLst>
              <a:ext uri="{FF2B5EF4-FFF2-40B4-BE49-F238E27FC236}">
                <a16:creationId xmlns:a16="http://schemas.microsoft.com/office/drawing/2014/main" id="{FA2BABB5-12C8-FCD7-1428-30F37124B609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1022791" y="3838563"/>
            <a:ext cx="0" cy="3690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uadroTexto 9">
            <a:extLst>
              <a:ext uri="{FF2B5EF4-FFF2-40B4-BE49-F238E27FC236}">
                <a16:creationId xmlns:a16="http://schemas.microsoft.com/office/drawing/2014/main" id="{490D33E4-B0EF-03CD-A01B-89692AD69760}"/>
              </a:ext>
            </a:extLst>
          </p:cNvPr>
          <p:cNvSpPr txBox="1"/>
          <p:nvPr/>
        </p:nvSpPr>
        <p:spPr>
          <a:xfrm>
            <a:off x="2014272" y="1442711"/>
            <a:ext cx="7007604" cy="32316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archivoEncuenta01 = "datos_clase01/encuesta01.cvs"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open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(archivoEncuenta01, "r”,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encoding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="utf-8")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as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: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# utilizar datos del archivo a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# través del objeto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</a:t>
            </a:r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Con esta forma de apertura, el archivo es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# automáticamente cerrado</a:t>
            </a:r>
          </a:p>
        </p:txBody>
      </p:sp>
      <p:sp>
        <p:nvSpPr>
          <p:cNvPr id="21" name="Proceso alternativo 16">
            <a:extLst>
              <a:ext uri="{FF2B5EF4-FFF2-40B4-BE49-F238E27FC236}">
                <a16:creationId xmlns:a16="http://schemas.microsoft.com/office/drawing/2014/main" id="{42536B2E-EA01-0573-C4E7-27D107A8FCDF}"/>
              </a:ext>
            </a:extLst>
          </p:cNvPr>
          <p:cNvSpPr/>
          <p:nvPr/>
        </p:nvSpPr>
        <p:spPr>
          <a:xfrm>
            <a:off x="238108" y="1399234"/>
            <a:ext cx="1569364" cy="420816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200" dirty="0">
                <a:solidFill>
                  <a:schemeClr val="tx1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Definir nombre del archivo</a:t>
            </a:r>
          </a:p>
        </p:txBody>
      </p:sp>
      <p:cxnSp>
        <p:nvCxnSpPr>
          <p:cNvPr id="22" name="Conector recto de flecha 17">
            <a:extLst>
              <a:ext uri="{FF2B5EF4-FFF2-40B4-BE49-F238E27FC236}">
                <a16:creationId xmlns:a16="http://schemas.microsoft.com/office/drawing/2014/main" id="{A2EFD33D-3C53-3B09-7BF2-D0872AB49B07}"/>
              </a:ext>
            </a:extLst>
          </p:cNvPr>
          <p:cNvCxnSpPr>
            <a:cxnSpLocks/>
            <a:stCxn id="21" idx="2"/>
            <a:endCxn id="14" idx="0"/>
          </p:cNvCxnSpPr>
          <p:nvPr/>
        </p:nvCxnSpPr>
        <p:spPr>
          <a:xfrm>
            <a:off x="1022790" y="1820050"/>
            <a:ext cx="1" cy="251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30">
            <a:extLst>
              <a:ext uri="{FF2B5EF4-FFF2-40B4-BE49-F238E27FC236}">
                <a16:creationId xmlns:a16="http://schemas.microsoft.com/office/drawing/2014/main" id="{80D66282-FB0B-7BCE-41CB-2B66F5896FC5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1022791" y="2942625"/>
            <a:ext cx="0" cy="257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10">
            <a:extLst>
              <a:ext uri="{FF2B5EF4-FFF2-40B4-BE49-F238E27FC236}">
                <a16:creationId xmlns:a16="http://schemas.microsoft.com/office/drawing/2014/main" id="{903CC3BD-F6CD-5965-8812-8878353D63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55"/>
          <a:stretch/>
        </p:blipFill>
        <p:spPr>
          <a:xfrm>
            <a:off x="7030712" y="102523"/>
            <a:ext cx="1991164" cy="136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061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Manipulación de datos - Lectura</a:t>
            </a:r>
            <a:endParaRPr lang="es-CL" sz="2000" dirty="0"/>
          </a:p>
        </p:txBody>
      </p:sp>
      <p:sp>
        <p:nvSpPr>
          <p:cNvPr id="2" name="CuadroTexto 3">
            <a:extLst>
              <a:ext uri="{FF2B5EF4-FFF2-40B4-BE49-F238E27FC236}">
                <a16:creationId xmlns:a16="http://schemas.microsoft.com/office/drawing/2014/main" id="{05FB8EFC-B0DB-05E3-3AAF-F820BBA0BF91}"/>
              </a:ext>
            </a:extLst>
          </p:cNvPr>
          <p:cNvSpPr txBox="1"/>
          <p:nvPr/>
        </p:nvSpPr>
        <p:spPr>
          <a:xfrm>
            <a:off x="833399" y="1032042"/>
            <a:ext cx="24108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Lectura por caracteres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42E9AAD0-243E-5175-FAC1-50A5046D9A5D}"/>
              </a:ext>
            </a:extLst>
          </p:cNvPr>
          <p:cNvSpPr txBox="1"/>
          <p:nvPr/>
        </p:nvSpPr>
        <p:spPr>
          <a:xfrm>
            <a:off x="3504155" y="1093597"/>
            <a:ext cx="1894563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(N)</a:t>
            </a:r>
          </a:p>
        </p:txBody>
      </p:sp>
      <p:sp>
        <p:nvSpPr>
          <p:cNvPr id="5" name="CuadroTexto 7">
            <a:extLst>
              <a:ext uri="{FF2B5EF4-FFF2-40B4-BE49-F238E27FC236}">
                <a16:creationId xmlns:a16="http://schemas.microsoft.com/office/drawing/2014/main" id="{74095E18-D757-3CB4-79E5-F35F9FF73A55}"/>
              </a:ext>
            </a:extLst>
          </p:cNvPr>
          <p:cNvSpPr txBox="1"/>
          <p:nvPr/>
        </p:nvSpPr>
        <p:spPr>
          <a:xfrm>
            <a:off x="5617923" y="1720245"/>
            <a:ext cx="3019323" cy="6644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0000" tIns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Permite leer a lo más </a:t>
            </a:r>
            <a:r>
              <a:rPr lang="es-ES" sz="1400" b="1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N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caracteres desde </a:t>
            </a:r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</a:t>
            </a:r>
            <a:endParaRPr lang="es-ES" sz="1400" b="0" i="0" u="none" strike="noStrike" cap="none" dirty="0">
              <a:solidFill>
                <a:schemeClr val="dk1"/>
              </a:solidFill>
              <a:latin typeface="Courier New" panose="02070309020205020404" pitchFamily="49" charset="0"/>
              <a:ea typeface="Helvetica Neue"/>
              <a:cs typeface="Courier New" panose="02070309020205020404" pitchFamily="49" charset="0"/>
              <a:sym typeface="Helvetica Neue"/>
            </a:endParaRPr>
          </a:p>
        </p:txBody>
      </p:sp>
      <p:sp>
        <p:nvSpPr>
          <p:cNvPr id="6" name="Abrir corchete 6">
            <a:extLst>
              <a:ext uri="{FF2B5EF4-FFF2-40B4-BE49-F238E27FC236}">
                <a16:creationId xmlns:a16="http://schemas.microsoft.com/office/drawing/2014/main" id="{A4A63001-739B-AA04-22FF-17EA104F2FBB}"/>
              </a:ext>
            </a:extLst>
          </p:cNvPr>
          <p:cNvSpPr/>
          <p:nvPr/>
        </p:nvSpPr>
        <p:spPr>
          <a:xfrm rot="16200000">
            <a:off x="4877949" y="987438"/>
            <a:ext cx="45719" cy="607509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7" name="Conector recto de flecha 5">
            <a:extLst>
              <a:ext uri="{FF2B5EF4-FFF2-40B4-BE49-F238E27FC236}">
                <a16:creationId xmlns:a16="http://schemas.microsoft.com/office/drawing/2014/main" id="{470E9AD7-CF25-9B2F-D58E-D9E03FBDE0AF}"/>
              </a:ext>
            </a:extLst>
          </p:cNvPr>
          <p:cNvCxnSpPr>
            <a:cxnSpLocks/>
            <a:stCxn id="6" idx="1"/>
            <a:endCxn id="5" idx="0"/>
          </p:cNvCxnSpPr>
          <p:nvPr/>
        </p:nvCxnSpPr>
        <p:spPr>
          <a:xfrm>
            <a:off x="4900809" y="1314052"/>
            <a:ext cx="2226776" cy="406193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14">
            <a:extLst>
              <a:ext uri="{FF2B5EF4-FFF2-40B4-BE49-F238E27FC236}">
                <a16:creationId xmlns:a16="http://schemas.microsoft.com/office/drawing/2014/main" id="{950A00AA-0253-7A1C-BD02-BA4557F560E1}"/>
              </a:ext>
            </a:extLst>
          </p:cNvPr>
          <p:cNvSpPr txBox="1"/>
          <p:nvPr/>
        </p:nvSpPr>
        <p:spPr>
          <a:xfrm>
            <a:off x="1135833" y="1930730"/>
            <a:ext cx="4179656" cy="71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llamada adicional de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read(N)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lee los siguientes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N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caracteres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desde la última lectura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  <p:sp>
        <p:nvSpPr>
          <p:cNvPr id="9" name="CuadroTexto 15">
            <a:extLst>
              <a:ext uri="{FF2B5EF4-FFF2-40B4-BE49-F238E27FC236}">
                <a16:creationId xmlns:a16="http://schemas.microsoft.com/office/drawing/2014/main" id="{6C5063B9-4243-836B-6562-4E830DAE0837}"/>
              </a:ext>
            </a:extLst>
          </p:cNvPr>
          <p:cNvSpPr txBox="1"/>
          <p:nvPr/>
        </p:nvSpPr>
        <p:spPr>
          <a:xfrm>
            <a:off x="1135833" y="2851794"/>
            <a:ext cx="4179656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N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es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opcional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Si se omite o es negativo, se leen y retornan el contenido completo del archivo</a:t>
            </a:r>
          </a:p>
        </p:txBody>
      </p:sp>
      <p:sp>
        <p:nvSpPr>
          <p:cNvPr id="10" name="Elipse 16">
            <a:extLst>
              <a:ext uri="{FF2B5EF4-FFF2-40B4-BE49-F238E27FC236}">
                <a16:creationId xmlns:a16="http://schemas.microsoft.com/office/drawing/2014/main" id="{426CCE86-6B62-7193-11D8-A9B4B90FD921}"/>
              </a:ext>
            </a:extLst>
          </p:cNvPr>
          <p:cNvSpPr/>
          <p:nvPr/>
        </p:nvSpPr>
        <p:spPr>
          <a:xfrm>
            <a:off x="933323" y="2086296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11" name="CuadroTexto 17">
            <a:extLst>
              <a:ext uri="{FF2B5EF4-FFF2-40B4-BE49-F238E27FC236}">
                <a16:creationId xmlns:a16="http://schemas.microsoft.com/office/drawing/2014/main" id="{42DC20E4-828F-FE1B-9F4D-05887AC49116}"/>
              </a:ext>
            </a:extLst>
          </p:cNvPr>
          <p:cNvSpPr txBox="1"/>
          <p:nvPr/>
        </p:nvSpPr>
        <p:spPr>
          <a:xfrm>
            <a:off x="833398" y="1590209"/>
            <a:ext cx="40204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chemeClr val="bg1">
                    <a:lumMod val="6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Características de </a:t>
            </a:r>
            <a:r>
              <a:rPr lang="es-ES_tradnl" sz="16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read(N)</a:t>
            </a:r>
            <a:endParaRPr lang="es-CL" sz="16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Elipse 18">
            <a:extLst>
              <a:ext uri="{FF2B5EF4-FFF2-40B4-BE49-F238E27FC236}">
                <a16:creationId xmlns:a16="http://schemas.microsoft.com/office/drawing/2014/main" id="{9662BB0E-C80E-1683-89D1-F7BFB2222B2D}"/>
              </a:ext>
            </a:extLst>
          </p:cNvPr>
          <p:cNvSpPr/>
          <p:nvPr/>
        </p:nvSpPr>
        <p:spPr>
          <a:xfrm>
            <a:off x="933323" y="2982310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13" name="CuadroTexto 19">
            <a:extLst>
              <a:ext uri="{FF2B5EF4-FFF2-40B4-BE49-F238E27FC236}">
                <a16:creationId xmlns:a16="http://schemas.microsoft.com/office/drawing/2014/main" id="{34061F1C-9506-CDFA-35ED-D760D7441234}"/>
              </a:ext>
            </a:extLst>
          </p:cNvPr>
          <p:cNvSpPr txBox="1"/>
          <p:nvPr/>
        </p:nvSpPr>
        <p:spPr>
          <a:xfrm>
            <a:off x="1158631" y="3759521"/>
            <a:ext cx="4179656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Cuando no quedan caracteres,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read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retorna un string vacío.</a:t>
            </a:r>
          </a:p>
        </p:txBody>
      </p:sp>
      <p:sp>
        <p:nvSpPr>
          <p:cNvPr id="14" name="Elipse 20">
            <a:extLst>
              <a:ext uri="{FF2B5EF4-FFF2-40B4-BE49-F238E27FC236}">
                <a16:creationId xmlns:a16="http://schemas.microsoft.com/office/drawing/2014/main" id="{5D1BF662-DA8D-2ADD-7E8A-1634CB0864A1}"/>
              </a:ext>
            </a:extLst>
          </p:cNvPr>
          <p:cNvSpPr/>
          <p:nvPr/>
        </p:nvSpPr>
        <p:spPr>
          <a:xfrm>
            <a:off x="935551" y="3878324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0149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Manipulación de datos - Lectura</a:t>
            </a:r>
            <a:endParaRPr lang="es-CL" sz="2000" dirty="0"/>
          </a:p>
        </p:txBody>
      </p:sp>
      <p:sp>
        <p:nvSpPr>
          <p:cNvPr id="4" name="CuadroTexto 8">
            <a:extLst>
              <a:ext uri="{FF2B5EF4-FFF2-40B4-BE49-F238E27FC236}">
                <a16:creationId xmlns:a16="http://schemas.microsoft.com/office/drawing/2014/main" id="{499D71AD-0773-2836-0B6E-CE37AB9B9E1E}"/>
              </a:ext>
            </a:extLst>
          </p:cNvPr>
          <p:cNvSpPr txBox="1"/>
          <p:nvPr/>
        </p:nvSpPr>
        <p:spPr>
          <a:xfrm>
            <a:off x="944093" y="1566114"/>
            <a:ext cx="7036125" cy="32316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archivos_extras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sube_a_nacer.txt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"r")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f"Hubo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un error al abrir el archivo {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# utilizar el archivo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#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letras =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(6)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(letras != “”):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(“datosLeidos=”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letras)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letras =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(6)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# cerrar archivo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#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s-CL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BC6CF252-AE5C-7575-EEFE-652553858DE4}"/>
              </a:ext>
            </a:extLst>
          </p:cNvPr>
          <p:cNvSpPr txBox="1"/>
          <p:nvPr/>
        </p:nvSpPr>
        <p:spPr>
          <a:xfrm>
            <a:off x="833398" y="1032042"/>
            <a:ext cx="3738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Lectura por caracteres (ejemplo)</a:t>
            </a:r>
            <a:endParaRPr lang="es-CL" sz="1600" dirty="0">
              <a:solidFill>
                <a:srgbClr val="506C7D"/>
              </a:solidFill>
            </a:endParaRP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CDC3A23-016D-5277-891C-81485B40C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872" y="3181941"/>
            <a:ext cx="3779414" cy="208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8702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Manipulación de datos - Lectura</a:t>
            </a:r>
            <a:endParaRPr lang="es-CL" sz="2000" dirty="0"/>
          </a:p>
        </p:txBody>
      </p:sp>
      <p:sp>
        <p:nvSpPr>
          <p:cNvPr id="4" name="CuadroTexto 8">
            <a:extLst>
              <a:ext uri="{FF2B5EF4-FFF2-40B4-BE49-F238E27FC236}">
                <a16:creationId xmlns:a16="http://schemas.microsoft.com/office/drawing/2014/main" id="{499D71AD-0773-2836-0B6E-CE37AB9B9E1E}"/>
              </a:ext>
            </a:extLst>
          </p:cNvPr>
          <p:cNvSpPr txBox="1"/>
          <p:nvPr/>
        </p:nvSpPr>
        <p:spPr>
          <a:xfrm>
            <a:off x="944093" y="1566114"/>
            <a:ext cx="7036125" cy="32316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archivos_extras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sube_a_nacer.txt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"r")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f"Hubo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un error al abrir el archivo {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# utilizar el archivo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#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letras =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(6)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(letras != “”):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(“datosLeidos=”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letras)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letras =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(6)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# cerrar archivo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#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s-CL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BC6CF252-AE5C-7575-EEFE-652553858DE4}"/>
              </a:ext>
            </a:extLst>
          </p:cNvPr>
          <p:cNvSpPr txBox="1"/>
          <p:nvPr/>
        </p:nvSpPr>
        <p:spPr>
          <a:xfrm>
            <a:off x="833398" y="1032042"/>
            <a:ext cx="3738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Lectura por caracteres (ejemplo)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2" name="CuadroTexto 4">
            <a:extLst>
              <a:ext uri="{FF2B5EF4-FFF2-40B4-BE49-F238E27FC236}">
                <a16:creationId xmlns:a16="http://schemas.microsoft.com/office/drawing/2014/main" id="{3B7F3254-D3F9-4A69-4869-2B2AF209F45C}"/>
              </a:ext>
            </a:extLst>
          </p:cNvPr>
          <p:cNvSpPr txBox="1"/>
          <p:nvPr/>
        </p:nvSpPr>
        <p:spPr>
          <a:xfrm>
            <a:off x="6889421" y="3509244"/>
            <a:ext cx="2181594" cy="156966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datosLeidos</a:t>
            </a:r>
            <a:r>
              <a:rPr lang="es-CL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='Sube a'</a:t>
            </a:r>
          </a:p>
          <a:p>
            <a:r>
              <a:rPr lang="es-CL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datosLeidos</a:t>
            </a:r>
            <a:r>
              <a:rPr lang="es-CL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 nacer'</a:t>
            </a:r>
          </a:p>
          <a:p>
            <a:r>
              <a:rPr lang="es-CL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datosLeidos</a:t>
            </a:r>
            <a:r>
              <a:rPr lang="es-CL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 </a:t>
            </a:r>
            <a:r>
              <a:rPr lang="es-CL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conmi</a:t>
            </a:r>
            <a:r>
              <a:rPr lang="es-CL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r>
              <a:rPr lang="es-CL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datosLeidos</a:t>
            </a:r>
            <a:r>
              <a:rPr lang="es-CL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</a:t>
            </a:r>
            <a:r>
              <a:rPr lang="es-CL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</a:t>
            </a:r>
            <a:r>
              <a:rPr lang="es-CL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her</a:t>
            </a:r>
            <a:r>
              <a:rPr lang="es-CL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r>
              <a:rPr lang="es-CL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datosLeidos</a:t>
            </a:r>
            <a:r>
              <a:rPr lang="es-CL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='mano\</a:t>
            </a:r>
            <a:r>
              <a:rPr lang="es-CL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nD</a:t>
            </a:r>
            <a:r>
              <a:rPr lang="es-CL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  <a:p>
            <a:r>
              <a:rPr lang="es-CL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datosLeidos</a:t>
            </a:r>
            <a:r>
              <a:rPr lang="es-CL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='ame la'</a:t>
            </a:r>
          </a:p>
          <a:p>
            <a:r>
              <a:rPr lang="es-CL" sz="12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datosLeidos</a:t>
            </a:r>
            <a:r>
              <a:rPr lang="es-CL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 mano '</a:t>
            </a:r>
          </a:p>
          <a:p>
            <a:r>
              <a:rPr lang="es-CL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3529BF0-1E35-2C99-FD5A-6B5A19FC9848}"/>
              </a:ext>
            </a:extLst>
          </p:cNvPr>
          <p:cNvSpPr txBox="1"/>
          <p:nvPr/>
        </p:nvSpPr>
        <p:spPr>
          <a:xfrm>
            <a:off x="8199907" y="3076082"/>
            <a:ext cx="831606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bin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Salida:</a:t>
            </a:r>
            <a:endParaRPr lang="en-U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Flecha doblada hacia arriba 7">
            <a:extLst>
              <a:ext uri="{FF2B5EF4-FFF2-40B4-BE49-F238E27FC236}">
                <a16:creationId xmlns:a16="http://schemas.microsoft.com/office/drawing/2014/main" id="{7D483E64-7125-90E3-69E0-638DB33045B9}"/>
              </a:ext>
            </a:extLst>
          </p:cNvPr>
          <p:cNvSpPr/>
          <p:nvPr/>
        </p:nvSpPr>
        <p:spPr>
          <a:xfrm rot="5400000">
            <a:off x="6177242" y="3639189"/>
            <a:ext cx="759417" cy="691158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0794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Manipulación de datos - Lectura</a:t>
            </a:r>
            <a:endParaRPr lang="es-CL" sz="2000" dirty="0"/>
          </a:p>
        </p:txBody>
      </p:sp>
      <p:sp>
        <p:nvSpPr>
          <p:cNvPr id="4" name="CuadroTexto 6">
            <a:extLst>
              <a:ext uri="{FF2B5EF4-FFF2-40B4-BE49-F238E27FC236}">
                <a16:creationId xmlns:a16="http://schemas.microsoft.com/office/drawing/2014/main" id="{D35DEB13-303F-DAB8-6B8A-D0759B197C7C}"/>
              </a:ext>
            </a:extLst>
          </p:cNvPr>
          <p:cNvSpPr txBox="1"/>
          <p:nvPr/>
        </p:nvSpPr>
        <p:spPr>
          <a:xfrm>
            <a:off x="3062842" y="1082401"/>
            <a:ext cx="2173266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5" name="CuadroTexto 9">
            <a:extLst>
              <a:ext uri="{FF2B5EF4-FFF2-40B4-BE49-F238E27FC236}">
                <a16:creationId xmlns:a16="http://schemas.microsoft.com/office/drawing/2014/main" id="{37873E64-7857-45BA-44BF-DE0A1334F470}"/>
              </a:ext>
            </a:extLst>
          </p:cNvPr>
          <p:cNvSpPr txBox="1"/>
          <p:nvPr/>
        </p:nvSpPr>
        <p:spPr>
          <a:xfrm>
            <a:off x="5626237" y="2130237"/>
            <a:ext cx="3019323" cy="6644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0000" tIns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Permite leer una línea completa del archivo y la retorna como string.</a:t>
            </a:r>
            <a:endParaRPr lang="es-ES" sz="1400" b="0" i="0" u="none" strike="noStrike" cap="none" dirty="0">
              <a:solidFill>
                <a:schemeClr val="dk1"/>
              </a:solidFill>
              <a:latin typeface="Courier New" panose="02070309020205020404" pitchFamily="49" charset="0"/>
              <a:ea typeface="Helvetica Neue"/>
              <a:cs typeface="Courier New" panose="02070309020205020404" pitchFamily="49" charset="0"/>
              <a:sym typeface="Helvetica Neue"/>
            </a:endParaRPr>
          </a:p>
        </p:txBody>
      </p:sp>
      <p:sp>
        <p:nvSpPr>
          <p:cNvPr id="6" name="Abrir corchete 10">
            <a:extLst>
              <a:ext uri="{FF2B5EF4-FFF2-40B4-BE49-F238E27FC236}">
                <a16:creationId xmlns:a16="http://schemas.microsoft.com/office/drawing/2014/main" id="{641BDFAB-BA7A-6697-D8D0-812E4A374E7A}"/>
              </a:ext>
            </a:extLst>
          </p:cNvPr>
          <p:cNvSpPr/>
          <p:nvPr/>
        </p:nvSpPr>
        <p:spPr>
          <a:xfrm rot="16200000">
            <a:off x="4539886" y="886771"/>
            <a:ext cx="114787" cy="895609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7" name="Conector recto de flecha 11">
            <a:extLst>
              <a:ext uri="{FF2B5EF4-FFF2-40B4-BE49-F238E27FC236}">
                <a16:creationId xmlns:a16="http://schemas.microsoft.com/office/drawing/2014/main" id="{A698B78B-7B0F-BF48-67EC-E1A2F0695360}"/>
              </a:ext>
            </a:extLst>
          </p:cNvPr>
          <p:cNvCxnSpPr>
            <a:cxnSpLocks/>
            <a:stCxn id="6" idx="1"/>
            <a:endCxn id="5" idx="0"/>
          </p:cNvCxnSpPr>
          <p:nvPr/>
        </p:nvCxnSpPr>
        <p:spPr>
          <a:xfrm>
            <a:off x="4597280" y="1391969"/>
            <a:ext cx="2538619" cy="73826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13">
            <a:extLst>
              <a:ext uri="{FF2B5EF4-FFF2-40B4-BE49-F238E27FC236}">
                <a16:creationId xmlns:a16="http://schemas.microsoft.com/office/drawing/2014/main" id="{87243457-A88A-3A9E-32F6-F1B784CE6811}"/>
              </a:ext>
            </a:extLst>
          </p:cNvPr>
          <p:cNvSpPr txBox="1"/>
          <p:nvPr/>
        </p:nvSpPr>
        <p:spPr>
          <a:xfrm>
            <a:off x="1144146" y="2154873"/>
            <a:ext cx="4179656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cada lectura, se mantiene el salto de línea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\n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 final de cada línea</a:t>
            </a:r>
          </a:p>
        </p:txBody>
      </p:sp>
      <p:sp>
        <p:nvSpPr>
          <p:cNvPr id="9" name="Elipse 15">
            <a:extLst>
              <a:ext uri="{FF2B5EF4-FFF2-40B4-BE49-F238E27FC236}">
                <a16:creationId xmlns:a16="http://schemas.microsoft.com/office/drawing/2014/main" id="{1DFEFEC1-2391-B436-3355-00BBDD79C037}"/>
              </a:ext>
            </a:extLst>
          </p:cNvPr>
          <p:cNvSpPr/>
          <p:nvPr/>
        </p:nvSpPr>
        <p:spPr>
          <a:xfrm>
            <a:off x="941636" y="2310439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11" name="Elipse 17">
            <a:extLst>
              <a:ext uri="{FF2B5EF4-FFF2-40B4-BE49-F238E27FC236}">
                <a16:creationId xmlns:a16="http://schemas.microsoft.com/office/drawing/2014/main" id="{C79C3B3A-8BA5-B5E6-F4FC-43CF55BEA254}"/>
              </a:ext>
            </a:extLst>
          </p:cNvPr>
          <p:cNvSpPr/>
          <p:nvPr/>
        </p:nvSpPr>
        <p:spPr>
          <a:xfrm>
            <a:off x="941636" y="3206453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12" name="CuadroTexto 20">
            <a:extLst>
              <a:ext uri="{FF2B5EF4-FFF2-40B4-BE49-F238E27FC236}">
                <a16:creationId xmlns:a16="http://schemas.microsoft.com/office/drawing/2014/main" id="{A341ACCF-39C4-EDAD-03D4-22503329EB83}"/>
              </a:ext>
            </a:extLst>
          </p:cNvPr>
          <p:cNvSpPr txBox="1"/>
          <p:nvPr/>
        </p:nvSpPr>
        <p:spPr>
          <a:xfrm>
            <a:off x="1225130" y="3041402"/>
            <a:ext cx="4179656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salto de línea sólo se omite para marcar el final del archivo (string vacío).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53BA3A55-CC72-B70F-0EA8-46215C6D647F}"/>
              </a:ext>
            </a:extLst>
          </p:cNvPr>
          <p:cNvSpPr txBox="1"/>
          <p:nvPr/>
        </p:nvSpPr>
        <p:spPr>
          <a:xfrm>
            <a:off x="833398" y="1032042"/>
            <a:ext cx="3738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Lectura por línea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16" name="CuadroTexto 17">
            <a:extLst>
              <a:ext uri="{FF2B5EF4-FFF2-40B4-BE49-F238E27FC236}">
                <a16:creationId xmlns:a16="http://schemas.microsoft.com/office/drawing/2014/main" id="{DA83C5B3-284F-D48A-9FC7-E88A4BCB915C}"/>
              </a:ext>
            </a:extLst>
          </p:cNvPr>
          <p:cNvSpPr txBox="1"/>
          <p:nvPr/>
        </p:nvSpPr>
        <p:spPr>
          <a:xfrm>
            <a:off x="833398" y="1590209"/>
            <a:ext cx="40204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chemeClr val="bg1">
                    <a:lumMod val="6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Características de </a:t>
            </a:r>
            <a:r>
              <a:rPr lang="es-ES_tradnl" sz="1600" b="1" dirty="0" err="1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readline</a:t>
            </a:r>
            <a:r>
              <a:rPr lang="es-ES_tradnl" sz="16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()</a:t>
            </a:r>
            <a:endParaRPr lang="es-CL" sz="16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661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Manipulación de datos - Lectura</a:t>
            </a:r>
            <a:endParaRPr lang="es-CL" sz="2000" dirty="0"/>
          </a:p>
        </p:txBody>
      </p:sp>
      <p:sp>
        <p:nvSpPr>
          <p:cNvPr id="2" name="CuadroTexto 8">
            <a:extLst>
              <a:ext uri="{FF2B5EF4-FFF2-40B4-BE49-F238E27FC236}">
                <a16:creationId xmlns:a16="http://schemas.microsoft.com/office/drawing/2014/main" id="{6F8E225F-73E3-5293-8F1A-83C601CC7C19}"/>
              </a:ext>
            </a:extLst>
          </p:cNvPr>
          <p:cNvSpPr txBox="1"/>
          <p:nvPr/>
        </p:nvSpPr>
        <p:spPr>
          <a:xfrm>
            <a:off x="944093" y="1566114"/>
            <a:ext cx="7036125" cy="26776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archivos_extras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sube_a_nacer.txt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"r")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f"Hubo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un error al abrir el archivo {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verso =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verso != "":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(f"{verso=}") 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verso =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s-CL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887FDC-0C74-24E0-FDE2-00D6437D83CF}"/>
              </a:ext>
            </a:extLst>
          </p:cNvPr>
          <p:cNvSpPr txBox="1"/>
          <p:nvPr/>
        </p:nvSpPr>
        <p:spPr>
          <a:xfrm>
            <a:off x="833398" y="1032042"/>
            <a:ext cx="3738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Lectura por línea (ejemplo)</a:t>
            </a:r>
            <a:endParaRPr lang="es-CL" sz="1600" dirty="0">
              <a:solidFill>
                <a:srgbClr val="506C7D"/>
              </a:solidFill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E6A03119-D000-4232-5E22-81BC81223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872" y="3181941"/>
            <a:ext cx="3779414" cy="208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149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Manipulación de datos - Lectura</a:t>
            </a:r>
            <a:endParaRPr lang="es-CL" sz="2000" dirty="0"/>
          </a:p>
        </p:txBody>
      </p:sp>
      <p:sp>
        <p:nvSpPr>
          <p:cNvPr id="2" name="CuadroTexto 8">
            <a:extLst>
              <a:ext uri="{FF2B5EF4-FFF2-40B4-BE49-F238E27FC236}">
                <a16:creationId xmlns:a16="http://schemas.microsoft.com/office/drawing/2014/main" id="{6F8E225F-73E3-5293-8F1A-83C601CC7C19}"/>
              </a:ext>
            </a:extLst>
          </p:cNvPr>
          <p:cNvSpPr txBox="1"/>
          <p:nvPr/>
        </p:nvSpPr>
        <p:spPr>
          <a:xfrm>
            <a:off x="944093" y="1566114"/>
            <a:ext cx="7036125" cy="26776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archivos_extras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sube_a_nacer.txt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"r")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f"Hubo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un error al abrir el archivo {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verso =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verso != "":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(f"{verso=}") 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verso =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s-CL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887FDC-0C74-24E0-FDE2-00D6437D83CF}"/>
              </a:ext>
            </a:extLst>
          </p:cNvPr>
          <p:cNvSpPr txBox="1"/>
          <p:nvPr/>
        </p:nvSpPr>
        <p:spPr>
          <a:xfrm>
            <a:off x="833398" y="1032042"/>
            <a:ext cx="3738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Lectura por línea (ejemplo)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8367E2-00F1-B67D-732D-9646D117639E}"/>
              </a:ext>
            </a:extLst>
          </p:cNvPr>
          <p:cNvSpPr txBox="1"/>
          <p:nvPr/>
        </p:nvSpPr>
        <p:spPr>
          <a:xfrm>
            <a:off x="5218676" y="3777568"/>
            <a:ext cx="3869853" cy="132343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verso='Sube a nacer conmigo hermano\n'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verso='Dame la mano desde la profunda zona\n'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verso='De tu dolor diseminado.\n'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verso='No volverás...del fondo de las rocas.\n'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verso='No volverás...del tiempo subterráneo.\n'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verso='No volverá... tu voz endurecida.\n'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verso='No volverán... tus ojos taladrados.\n'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verso='Sube a nacer conmigo hermano...'</a:t>
            </a:r>
            <a:endParaRPr lang="es-CL" sz="1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518D9DC-B90F-86FA-6E8B-2B944F526F2E}"/>
              </a:ext>
            </a:extLst>
          </p:cNvPr>
          <p:cNvSpPr txBox="1"/>
          <p:nvPr/>
        </p:nvSpPr>
        <p:spPr>
          <a:xfrm>
            <a:off x="8345646" y="3424676"/>
            <a:ext cx="831606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bin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Salida:</a:t>
            </a:r>
            <a:endParaRPr lang="en-U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Flecha doblada hacia arriba 6">
            <a:extLst>
              <a:ext uri="{FF2B5EF4-FFF2-40B4-BE49-F238E27FC236}">
                <a16:creationId xmlns:a16="http://schemas.microsoft.com/office/drawing/2014/main" id="{5952D8DF-AD04-BB86-FFE4-0258A1CFE7B6}"/>
              </a:ext>
            </a:extLst>
          </p:cNvPr>
          <p:cNvSpPr/>
          <p:nvPr/>
        </p:nvSpPr>
        <p:spPr>
          <a:xfrm rot="10800000" flipH="1">
            <a:off x="6968304" y="2896921"/>
            <a:ext cx="796419" cy="691158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5330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Manipulación de datos - Lectura</a:t>
            </a:r>
            <a:endParaRPr lang="es-CL" sz="2000" dirty="0"/>
          </a:p>
        </p:txBody>
      </p:sp>
      <p:sp>
        <p:nvSpPr>
          <p:cNvPr id="2" name="CuadroTexto 3">
            <a:extLst>
              <a:ext uri="{FF2B5EF4-FFF2-40B4-BE49-F238E27FC236}">
                <a16:creationId xmlns:a16="http://schemas.microsoft.com/office/drawing/2014/main" id="{4E93A912-6687-FA85-7F93-261CADCBBC62}"/>
              </a:ext>
            </a:extLst>
          </p:cNvPr>
          <p:cNvSpPr txBox="1"/>
          <p:nvPr/>
        </p:nvSpPr>
        <p:spPr>
          <a:xfrm>
            <a:off x="800148" y="843400"/>
            <a:ext cx="268641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Lectura archivo completo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4" name="CuadroTexto 6">
            <a:extLst>
              <a:ext uri="{FF2B5EF4-FFF2-40B4-BE49-F238E27FC236}">
                <a16:creationId xmlns:a16="http://schemas.microsoft.com/office/drawing/2014/main" id="{79972D21-E65F-59C7-FC7C-AD15A0741114}"/>
              </a:ext>
            </a:extLst>
          </p:cNvPr>
          <p:cNvSpPr txBox="1"/>
          <p:nvPr/>
        </p:nvSpPr>
        <p:spPr>
          <a:xfrm>
            <a:off x="3782432" y="919249"/>
            <a:ext cx="5207519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s-CL" sz="12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provee una lista con los datos del archivo</a:t>
            </a:r>
          </a:p>
        </p:txBody>
      </p:sp>
      <p:sp>
        <p:nvSpPr>
          <p:cNvPr id="5" name="CuadroTexto 9">
            <a:extLst>
              <a:ext uri="{FF2B5EF4-FFF2-40B4-BE49-F238E27FC236}">
                <a16:creationId xmlns:a16="http://schemas.microsoft.com/office/drawing/2014/main" id="{47CD7B39-076A-01E4-5A29-0EF970804545}"/>
              </a:ext>
            </a:extLst>
          </p:cNvPr>
          <p:cNvSpPr txBox="1"/>
          <p:nvPr/>
        </p:nvSpPr>
        <p:spPr>
          <a:xfrm>
            <a:off x="5720658" y="2026552"/>
            <a:ext cx="3269293" cy="6644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0000" tIns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Retorna una lista de strings. Cada elemento es una línea del archivo.</a:t>
            </a:r>
            <a:endParaRPr lang="es-ES" sz="1400" b="0" i="0" u="none" strike="noStrike" cap="none" dirty="0">
              <a:solidFill>
                <a:schemeClr val="dk1"/>
              </a:solidFill>
              <a:latin typeface="Courier New" panose="02070309020205020404" pitchFamily="49" charset="0"/>
              <a:ea typeface="Helvetica Neue"/>
              <a:cs typeface="Courier New" panose="02070309020205020404" pitchFamily="49" charset="0"/>
              <a:sym typeface="Helvetica Neue"/>
            </a:endParaRPr>
          </a:p>
        </p:txBody>
      </p:sp>
      <p:sp>
        <p:nvSpPr>
          <p:cNvPr id="6" name="Abrir corchete 10">
            <a:extLst>
              <a:ext uri="{FF2B5EF4-FFF2-40B4-BE49-F238E27FC236}">
                <a16:creationId xmlns:a16="http://schemas.microsoft.com/office/drawing/2014/main" id="{8FC7B84A-3BF5-3E01-94D1-4C962D271390}"/>
              </a:ext>
            </a:extLst>
          </p:cNvPr>
          <p:cNvSpPr/>
          <p:nvPr/>
        </p:nvSpPr>
        <p:spPr>
          <a:xfrm rot="16200000">
            <a:off x="5306697" y="675230"/>
            <a:ext cx="113053" cy="1005214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7" name="Conector recto de flecha 11">
            <a:extLst>
              <a:ext uri="{FF2B5EF4-FFF2-40B4-BE49-F238E27FC236}">
                <a16:creationId xmlns:a16="http://schemas.microsoft.com/office/drawing/2014/main" id="{0391E01D-DA7E-B0AA-BEF7-B3D32781042D}"/>
              </a:ext>
            </a:extLst>
          </p:cNvPr>
          <p:cNvCxnSpPr>
            <a:cxnSpLocks/>
            <a:stCxn id="6" idx="1"/>
            <a:endCxn id="5" idx="0"/>
          </p:cNvCxnSpPr>
          <p:nvPr/>
        </p:nvCxnSpPr>
        <p:spPr>
          <a:xfrm>
            <a:off x="5363224" y="1234364"/>
            <a:ext cx="1992081" cy="79218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uadroTexto 13">
            <a:extLst>
              <a:ext uri="{FF2B5EF4-FFF2-40B4-BE49-F238E27FC236}">
                <a16:creationId xmlns:a16="http://schemas.microsoft.com/office/drawing/2014/main" id="{6D267A4E-80A9-A62F-9D03-26491E2C9E4B}"/>
              </a:ext>
            </a:extLst>
          </p:cNvPr>
          <p:cNvSpPr txBox="1"/>
          <p:nvPr/>
        </p:nvSpPr>
        <p:spPr>
          <a:xfrm>
            <a:off x="1102583" y="2028519"/>
            <a:ext cx="4179656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cada lectura, se mantiene el salto de línea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\n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 final de cada línea.</a:t>
            </a:r>
          </a:p>
        </p:txBody>
      </p:sp>
      <p:sp>
        <p:nvSpPr>
          <p:cNvPr id="9" name="Elipse 15">
            <a:extLst>
              <a:ext uri="{FF2B5EF4-FFF2-40B4-BE49-F238E27FC236}">
                <a16:creationId xmlns:a16="http://schemas.microsoft.com/office/drawing/2014/main" id="{83A47805-7943-68C3-8500-D3E2A256629C}"/>
              </a:ext>
            </a:extLst>
          </p:cNvPr>
          <p:cNvSpPr/>
          <p:nvPr/>
        </p:nvSpPr>
        <p:spPr>
          <a:xfrm>
            <a:off x="900073" y="2184085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1</a:t>
            </a:r>
          </a:p>
        </p:txBody>
      </p:sp>
      <p:sp>
        <p:nvSpPr>
          <p:cNvPr id="10" name="CuadroTexto 16">
            <a:extLst>
              <a:ext uri="{FF2B5EF4-FFF2-40B4-BE49-F238E27FC236}">
                <a16:creationId xmlns:a16="http://schemas.microsoft.com/office/drawing/2014/main" id="{8DBC326D-418A-6FB8-1110-E55C01CCB50C}"/>
              </a:ext>
            </a:extLst>
          </p:cNvPr>
          <p:cNvSpPr txBox="1"/>
          <p:nvPr/>
        </p:nvSpPr>
        <p:spPr>
          <a:xfrm>
            <a:off x="800148" y="1555844"/>
            <a:ext cx="40204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chemeClr val="bg1">
                    <a:lumMod val="6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Características de </a:t>
            </a:r>
            <a:r>
              <a:rPr lang="es-ES_tradnl" sz="16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readlines()</a:t>
            </a:r>
            <a:endParaRPr lang="es-CL" sz="1600" dirty="0">
              <a:solidFill>
                <a:schemeClr val="bg1">
                  <a:lumMod val="6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Elipse 17">
            <a:extLst>
              <a:ext uri="{FF2B5EF4-FFF2-40B4-BE49-F238E27FC236}">
                <a16:creationId xmlns:a16="http://schemas.microsoft.com/office/drawing/2014/main" id="{05AE2A50-DED3-1DDF-8185-D977559CBC0C}"/>
              </a:ext>
            </a:extLst>
          </p:cNvPr>
          <p:cNvSpPr/>
          <p:nvPr/>
        </p:nvSpPr>
        <p:spPr>
          <a:xfrm>
            <a:off x="900073" y="3080099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2</a:t>
            </a:r>
          </a:p>
        </p:txBody>
      </p:sp>
      <p:sp>
        <p:nvSpPr>
          <p:cNvPr id="12" name="CuadroTexto 20">
            <a:extLst>
              <a:ext uri="{FF2B5EF4-FFF2-40B4-BE49-F238E27FC236}">
                <a16:creationId xmlns:a16="http://schemas.microsoft.com/office/drawing/2014/main" id="{C517E278-60F7-CB21-25A4-F996EE4C0678}"/>
              </a:ext>
            </a:extLst>
          </p:cNvPr>
          <p:cNvSpPr txBox="1"/>
          <p:nvPr/>
        </p:nvSpPr>
        <p:spPr>
          <a:xfrm>
            <a:off x="1183567" y="2915048"/>
            <a:ext cx="4179656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salto de línea sólo se omite para marcar el final del archivo (string vacío).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5BF4093-3A70-66B1-DCE4-87149842B33D}"/>
              </a:ext>
            </a:extLst>
          </p:cNvPr>
          <p:cNvSpPr txBox="1"/>
          <p:nvPr/>
        </p:nvSpPr>
        <p:spPr>
          <a:xfrm>
            <a:off x="1183566" y="3801577"/>
            <a:ext cx="7806385" cy="710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Después que se llama a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readlines()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el archivo se puede cerrar, debido a que su contenido está almacenado en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listObject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  <p:sp>
        <p:nvSpPr>
          <p:cNvPr id="14" name="Elipse 14">
            <a:extLst>
              <a:ext uri="{FF2B5EF4-FFF2-40B4-BE49-F238E27FC236}">
                <a16:creationId xmlns:a16="http://schemas.microsoft.com/office/drawing/2014/main" id="{76161709-DAF6-832E-99AF-08115D7E34E0}"/>
              </a:ext>
            </a:extLst>
          </p:cNvPr>
          <p:cNvSpPr/>
          <p:nvPr/>
        </p:nvSpPr>
        <p:spPr>
          <a:xfrm>
            <a:off x="901865" y="3976113"/>
            <a:ext cx="183570" cy="18357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38836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Manipulación de datos - Lectura</a:t>
            </a:r>
            <a:endParaRPr lang="es-CL" sz="2000" dirty="0"/>
          </a:p>
        </p:txBody>
      </p:sp>
      <p:sp>
        <p:nvSpPr>
          <p:cNvPr id="2" name="CuadroTexto 8">
            <a:extLst>
              <a:ext uri="{FF2B5EF4-FFF2-40B4-BE49-F238E27FC236}">
                <a16:creationId xmlns:a16="http://schemas.microsoft.com/office/drawing/2014/main" id="{6F8E225F-73E3-5293-8F1A-83C601CC7C19}"/>
              </a:ext>
            </a:extLst>
          </p:cNvPr>
          <p:cNvSpPr txBox="1"/>
          <p:nvPr/>
        </p:nvSpPr>
        <p:spPr>
          <a:xfrm>
            <a:off x="944093" y="1566114"/>
            <a:ext cx="7036125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archivos_extras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sube_a_nacer.txt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"r")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f"Hubo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un error al abrir el archivo {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versos =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versos: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(f"{v=}") 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887FDC-0C74-24E0-FDE2-00D6437D83CF}"/>
              </a:ext>
            </a:extLst>
          </p:cNvPr>
          <p:cNvSpPr txBox="1"/>
          <p:nvPr/>
        </p:nvSpPr>
        <p:spPr>
          <a:xfrm>
            <a:off x="833398" y="1032042"/>
            <a:ext cx="3738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Lectura por líneas (ejemplo)</a:t>
            </a:r>
            <a:endParaRPr lang="es-CL" sz="1600" dirty="0">
              <a:solidFill>
                <a:srgbClr val="506C7D"/>
              </a:solidFill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360FFA5-3A24-BB87-8859-EA2A969DF4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872" y="3181941"/>
            <a:ext cx="3779414" cy="208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61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Manipulación de datos - Lectura</a:t>
            </a:r>
            <a:endParaRPr lang="es-CL" sz="2000" dirty="0"/>
          </a:p>
        </p:txBody>
      </p:sp>
      <p:sp>
        <p:nvSpPr>
          <p:cNvPr id="2" name="CuadroTexto 8">
            <a:extLst>
              <a:ext uri="{FF2B5EF4-FFF2-40B4-BE49-F238E27FC236}">
                <a16:creationId xmlns:a16="http://schemas.microsoft.com/office/drawing/2014/main" id="{6F8E225F-73E3-5293-8F1A-83C601CC7C19}"/>
              </a:ext>
            </a:extLst>
          </p:cNvPr>
          <p:cNvSpPr txBox="1"/>
          <p:nvPr/>
        </p:nvSpPr>
        <p:spPr>
          <a:xfrm>
            <a:off x="944093" y="1566114"/>
            <a:ext cx="7036125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archivos_extras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sube_a_nacer.txt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"r")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f"Hubo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un error al abrir el archivo {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versos =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readlines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versos: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(f"{v=}") 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887FDC-0C74-24E0-FDE2-00D6437D83CF}"/>
              </a:ext>
            </a:extLst>
          </p:cNvPr>
          <p:cNvSpPr txBox="1"/>
          <p:nvPr/>
        </p:nvSpPr>
        <p:spPr>
          <a:xfrm>
            <a:off x="833398" y="1032042"/>
            <a:ext cx="3738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Lectura por líneas (ejemplo)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63F537-23E2-E9DD-830A-944B7F761213}"/>
              </a:ext>
            </a:extLst>
          </p:cNvPr>
          <p:cNvSpPr txBox="1"/>
          <p:nvPr/>
        </p:nvSpPr>
        <p:spPr>
          <a:xfrm>
            <a:off x="5417507" y="3454140"/>
            <a:ext cx="3482235" cy="132343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>
            <a:spAutoFit/>
          </a:bodyPr>
          <a:lstStyle/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v='Sube a nacer conmigo hermano\n'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v='Dame la mano desde la profunda zona\n'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v='De tu dolor diseminado.\n'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v='No volverás...del fondo de las rocas.\n'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v='No volverás...del tiempo subterráneo.\n'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v='No volverá... tu voz endurecida.\n'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v='No volverán... tus ojos taladrados.\n'</a:t>
            </a:r>
          </a:p>
          <a:p>
            <a:r>
              <a:rPr lang="es-CL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v='Sube a nacer conmigo hermano...'</a:t>
            </a:r>
            <a:endParaRPr lang="es-CL" sz="1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E40F338-11BE-492F-3789-268C67D9E935}"/>
              </a:ext>
            </a:extLst>
          </p:cNvPr>
          <p:cNvSpPr txBox="1"/>
          <p:nvPr/>
        </p:nvSpPr>
        <p:spPr>
          <a:xfrm>
            <a:off x="8156859" y="3101248"/>
            <a:ext cx="831606" cy="36933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"/>
              <a:buFont typeface="Cabin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Salida:</a:t>
            </a:r>
            <a:endParaRPr lang="en-US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Flecha doblada hacia arriba 6">
            <a:extLst>
              <a:ext uri="{FF2B5EF4-FFF2-40B4-BE49-F238E27FC236}">
                <a16:creationId xmlns:a16="http://schemas.microsoft.com/office/drawing/2014/main" id="{CBC8F890-AA0F-01E2-4DAB-AE9E475708C6}"/>
              </a:ext>
            </a:extLst>
          </p:cNvPr>
          <p:cNvSpPr/>
          <p:nvPr/>
        </p:nvSpPr>
        <p:spPr>
          <a:xfrm rot="5400000">
            <a:off x="4603496" y="3504710"/>
            <a:ext cx="759417" cy="691158"/>
          </a:xfrm>
          <a:prstGeom prst="bentUp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9450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Manipulación de datos - Lectura</a:t>
            </a:r>
            <a:endParaRPr lang="es-CL" sz="2000" dirty="0"/>
          </a:p>
        </p:txBody>
      </p:sp>
      <p:sp>
        <p:nvSpPr>
          <p:cNvPr id="2" name="CuadroTexto 8">
            <a:extLst>
              <a:ext uri="{FF2B5EF4-FFF2-40B4-BE49-F238E27FC236}">
                <a16:creationId xmlns:a16="http://schemas.microsoft.com/office/drawing/2014/main" id="{6F8E225F-73E3-5293-8F1A-83C601CC7C19}"/>
              </a:ext>
            </a:extLst>
          </p:cNvPr>
          <p:cNvSpPr txBox="1"/>
          <p:nvPr/>
        </p:nvSpPr>
        <p:spPr>
          <a:xfrm>
            <a:off x="944093" y="1566114"/>
            <a:ext cx="7036125" cy="21236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archivos_extras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sube_a_nacer.txt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"r")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f"Hubo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un error al abrir el archivo {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v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(f"{v=}")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textoPoema.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 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887FDC-0C74-24E0-FDE2-00D6437D83CF}"/>
              </a:ext>
            </a:extLst>
          </p:cNvPr>
          <p:cNvSpPr txBox="1"/>
          <p:nvPr/>
        </p:nvSpPr>
        <p:spPr>
          <a:xfrm>
            <a:off x="833398" y="1032042"/>
            <a:ext cx="3738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Lectura por líneas (ejemplo)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5" name="CuadroTexto 13">
            <a:extLst>
              <a:ext uri="{FF2B5EF4-FFF2-40B4-BE49-F238E27FC236}">
                <a16:creationId xmlns:a16="http://schemas.microsoft.com/office/drawing/2014/main" id="{260D5DDA-90AF-D4EF-FD14-91448A5A3E81}"/>
              </a:ext>
            </a:extLst>
          </p:cNvPr>
          <p:cNvSpPr txBox="1"/>
          <p:nvPr/>
        </p:nvSpPr>
        <p:spPr>
          <a:xfrm>
            <a:off x="944093" y="3773064"/>
            <a:ext cx="6430040" cy="387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Aplicar ciclo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for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directamente a la variable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fileObject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  <p:sp>
        <p:nvSpPr>
          <p:cNvPr id="6" name="Abrir corchete 10">
            <a:extLst>
              <a:ext uri="{FF2B5EF4-FFF2-40B4-BE49-F238E27FC236}">
                <a16:creationId xmlns:a16="http://schemas.microsoft.com/office/drawing/2014/main" id="{82E6B9C9-10AE-B14C-4448-14ADE239BAEA}"/>
              </a:ext>
            </a:extLst>
          </p:cNvPr>
          <p:cNvSpPr/>
          <p:nvPr/>
        </p:nvSpPr>
        <p:spPr>
          <a:xfrm rot="16200000">
            <a:off x="2621684" y="2489868"/>
            <a:ext cx="113053" cy="1005214"/>
          </a:xfrm>
          <a:prstGeom prst="leftBracke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7" name="Conector recto de flecha 11">
            <a:extLst>
              <a:ext uri="{FF2B5EF4-FFF2-40B4-BE49-F238E27FC236}">
                <a16:creationId xmlns:a16="http://schemas.microsoft.com/office/drawing/2014/main" id="{111A1B90-AAB6-A7E8-E0F6-6D11982E9D1C}"/>
              </a:ext>
            </a:extLst>
          </p:cNvPr>
          <p:cNvCxnSpPr>
            <a:cxnSpLocks/>
            <a:stCxn id="6" idx="1"/>
          </p:cNvCxnSpPr>
          <p:nvPr/>
        </p:nvCxnSpPr>
        <p:spPr>
          <a:xfrm>
            <a:off x="2678211" y="3049002"/>
            <a:ext cx="1976915" cy="83628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BFBD9603-A35F-44DD-FB81-47D268B080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1872" y="3181941"/>
            <a:ext cx="3779414" cy="2082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288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481945" y="4156074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Manipulación de datos - Escritura</a:t>
            </a:r>
            <a:endParaRPr lang="es-CL" sz="2000" dirty="0"/>
          </a:p>
        </p:txBody>
      </p:sp>
      <p:sp>
        <p:nvSpPr>
          <p:cNvPr id="2" name="CuadroTexto 6">
            <a:extLst>
              <a:ext uri="{FF2B5EF4-FFF2-40B4-BE49-F238E27FC236}">
                <a16:creationId xmlns:a16="http://schemas.microsoft.com/office/drawing/2014/main" id="{C46BD9DB-0C86-DB4B-7E38-35CAF9AA36D2}"/>
              </a:ext>
            </a:extLst>
          </p:cNvPr>
          <p:cNvSpPr txBox="1"/>
          <p:nvPr/>
        </p:nvSpPr>
        <p:spPr>
          <a:xfrm>
            <a:off x="206983" y="880577"/>
            <a:ext cx="38450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Abrir archivo para escritura (simple)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4" name="CuadroTexto 9">
            <a:extLst>
              <a:ext uri="{FF2B5EF4-FFF2-40B4-BE49-F238E27FC236}">
                <a16:creationId xmlns:a16="http://schemas.microsoft.com/office/drawing/2014/main" id="{F577EE18-35D5-7F05-D464-7C1C88437DE8}"/>
              </a:ext>
            </a:extLst>
          </p:cNvPr>
          <p:cNvSpPr txBox="1"/>
          <p:nvPr/>
        </p:nvSpPr>
        <p:spPr>
          <a:xfrm>
            <a:off x="1012805" y="1354893"/>
            <a:ext cx="331480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>
                <a:latin typeface="Courier New" panose="02070309020205020404" pitchFamily="49" charset="0"/>
                <a:cs typeface="Courier New" panose="02070309020205020404" pitchFamily="49" charset="0"/>
              </a:rPr>
              <a:t>rutaArchivo = "ejemplos/test.txt"</a:t>
            </a:r>
          </a:p>
          <a:p>
            <a:r>
              <a:rPr lang="es-CL" sz="1200">
                <a:latin typeface="Courier New" panose="02070309020205020404" pitchFamily="49" charset="0"/>
                <a:cs typeface="Courier New" panose="02070309020205020404" pitchFamily="49" charset="0"/>
              </a:rPr>
              <a:t>miArchivo =</a:t>
            </a:r>
            <a:r>
              <a:rPr lang="es-CL" sz="1200" b="1">
                <a:latin typeface="Courier New" panose="02070309020205020404" pitchFamily="49" charset="0"/>
                <a:cs typeface="Courier New" panose="02070309020205020404" pitchFamily="49" charset="0"/>
              </a:rPr>
              <a:t> open</a:t>
            </a:r>
            <a:r>
              <a:rPr lang="es-CL" sz="1200">
                <a:latin typeface="Courier New" panose="02070309020205020404" pitchFamily="49" charset="0"/>
                <a:cs typeface="Courier New" panose="02070309020205020404" pitchFamily="49" charset="0"/>
              </a:rPr>
              <a:t>(rutaArchivo, "a")</a:t>
            </a:r>
          </a:p>
        </p:txBody>
      </p:sp>
      <p:sp>
        <p:nvSpPr>
          <p:cNvPr id="5" name="CuadroTexto 10">
            <a:extLst>
              <a:ext uri="{FF2B5EF4-FFF2-40B4-BE49-F238E27FC236}">
                <a16:creationId xmlns:a16="http://schemas.microsoft.com/office/drawing/2014/main" id="{54ECC0CE-7E1F-451F-4416-B5F26E881A80}"/>
              </a:ext>
            </a:extLst>
          </p:cNvPr>
          <p:cNvSpPr txBox="1"/>
          <p:nvPr/>
        </p:nvSpPr>
        <p:spPr>
          <a:xfrm>
            <a:off x="6607418" y="805941"/>
            <a:ext cx="2329599" cy="4878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0000" tIns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Modo </a:t>
            </a:r>
            <a:r>
              <a:rPr lang="es-ES" sz="10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"</a:t>
            </a:r>
            <a:r>
              <a:rPr lang="es-ES" sz="1000" b="1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a</a:t>
            </a:r>
            <a:r>
              <a:rPr lang="es-ES" sz="10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"</a:t>
            </a:r>
            <a:r>
              <a:rPr lang="es-ES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agrega al final del archivo. Si no existe, lo crea.</a:t>
            </a:r>
            <a:endParaRPr lang="es-ES" sz="1000" b="0" i="0" u="none" strike="noStrike" cap="none" dirty="0">
              <a:solidFill>
                <a:schemeClr val="dk1"/>
              </a:solidFill>
              <a:latin typeface="Courier New" panose="02070309020205020404" pitchFamily="49" charset="0"/>
              <a:ea typeface="Helvetica Neue"/>
              <a:cs typeface="Courier New" panose="02070309020205020404" pitchFamily="49" charset="0"/>
              <a:sym typeface="Helvetica Neue"/>
            </a:endParaRPr>
          </a:p>
        </p:txBody>
      </p:sp>
      <p:sp>
        <p:nvSpPr>
          <p:cNvPr id="6" name="CuadroTexto 11">
            <a:extLst>
              <a:ext uri="{FF2B5EF4-FFF2-40B4-BE49-F238E27FC236}">
                <a16:creationId xmlns:a16="http://schemas.microsoft.com/office/drawing/2014/main" id="{88E925AB-FD20-0D0E-6C4A-B191D327A55C}"/>
              </a:ext>
            </a:extLst>
          </p:cNvPr>
          <p:cNvSpPr txBox="1"/>
          <p:nvPr/>
        </p:nvSpPr>
        <p:spPr>
          <a:xfrm>
            <a:off x="206983" y="1952320"/>
            <a:ext cx="57615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Abrir archivo para escritura (con manejo de excepciones)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7" name="CuadroTexto 12">
            <a:extLst>
              <a:ext uri="{FF2B5EF4-FFF2-40B4-BE49-F238E27FC236}">
                <a16:creationId xmlns:a16="http://schemas.microsoft.com/office/drawing/2014/main" id="{5D6EC14B-FEBB-937F-EC1C-67568F22998D}"/>
              </a:ext>
            </a:extLst>
          </p:cNvPr>
          <p:cNvSpPr txBox="1"/>
          <p:nvPr/>
        </p:nvSpPr>
        <p:spPr>
          <a:xfrm>
            <a:off x="1012806" y="2381847"/>
            <a:ext cx="5350288" cy="13849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rutaArchivo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archivos_extras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test.txt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rutaArchivo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"a")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f"No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se puede abrir el archivo {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rutaArchivo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8" name="CuadroTexto 14">
            <a:extLst>
              <a:ext uri="{FF2B5EF4-FFF2-40B4-BE49-F238E27FC236}">
                <a16:creationId xmlns:a16="http://schemas.microsoft.com/office/drawing/2014/main" id="{E5E4FCA2-0904-5A62-6DEE-B1B4CA4448AC}"/>
              </a:ext>
            </a:extLst>
          </p:cNvPr>
          <p:cNvSpPr txBox="1"/>
          <p:nvPr/>
        </p:nvSpPr>
        <p:spPr>
          <a:xfrm>
            <a:off x="6607418" y="1354893"/>
            <a:ext cx="2329599" cy="4878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lIns="90000" tIns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Modo </a:t>
            </a:r>
            <a:r>
              <a:rPr lang="es-ES" sz="10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"</a:t>
            </a:r>
            <a:r>
              <a:rPr lang="es-ES" sz="1000" b="1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w</a:t>
            </a:r>
            <a:r>
              <a:rPr lang="es-ES" sz="10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"</a:t>
            </a:r>
            <a:r>
              <a:rPr lang="es-ES" sz="10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sobreescribe el archivo. Elimina el contenido anterior.</a:t>
            </a:r>
            <a:endParaRPr lang="es-ES" sz="1000" b="0" i="0" u="none" strike="noStrike" cap="none" dirty="0">
              <a:solidFill>
                <a:schemeClr val="dk1"/>
              </a:solidFill>
              <a:latin typeface="Courier New" panose="02070309020205020404" pitchFamily="49" charset="0"/>
              <a:ea typeface="Helvetica Neue"/>
              <a:cs typeface="Courier New" panose="02070309020205020404" pitchFamily="49" charset="0"/>
              <a:sym typeface="Helvetica Neue"/>
            </a:endParaRPr>
          </a:p>
        </p:txBody>
      </p:sp>
      <p:sp>
        <p:nvSpPr>
          <p:cNvPr id="9" name="CuadroTexto 3">
            <a:extLst>
              <a:ext uri="{FF2B5EF4-FFF2-40B4-BE49-F238E27FC236}">
                <a16:creationId xmlns:a16="http://schemas.microsoft.com/office/drawing/2014/main" id="{59319437-91C3-61C9-A43D-EFADF6DC21B9}"/>
              </a:ext>
            </a:extLst>
          </p:cNvPr>
          <p:cNvSpPr txBox="1"/>
          <p:nvPr/>
        </p:nvSpPr>
        <p:spPr>
          <a:xfrm>
            <a:off x="313440" y="3862164"/>
            <a:ext cx="38450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600" b="1" dirty="0">
                <a:solidFill>
                  <a:srgbClr val="506C7D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Escribir strings en un archivo</a:t>
            </a:r>
            <a:endParaRPr lang="es-CL" sz="1600" dirty="0">
              <a:solidFill>
                <a:srgbClr val="506C7D"/>
              </a:solidFill>
            </a:endParaRPr>
          </a:p>
        </p:txBody>
      </p:sp>
      <p:sp>
        <p:nvSpPr>
          <p:cNvPr id="10" name="CuadroTexto 4">
            <a:extLst>
              <a:ext uri="{FF2B5EF4-FFF2-40B4-BE49-F238E27FC236}">
                <a16:creationId xmlns:a16="http://schemas.microsoft.com/office/drawing/2014/main" id="{A99D93DC-C278-1066-F9A2-AFE20D97F746}"/>
              </a:ext>
            </a:extLst>
          </p:cNvPr>
          <p:cNvSpPr txBox="1"/>
          <p:nvPr/>
        </p:nvSpPr>
        <p:spPr>
          <a:xfrm>
            <a:off x="1012804" y="4296040"/>
            <a:ext cx="5350289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nuevoString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"Esto es una prueba\n"</a:t>
            </a:r>
          </a:p>
          <a:p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miArchivo.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nuevoString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226190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Manipulación de datos - Escritura</a:t>
            </a:r>
            <a:endParaRPr lang="es-CL" sz="2000" dirty="0"/>
          </a:p>
        </p:txBody>
      </p:sp>
      <p:sp>
        <p:nvSpPr>
          <p:cNvPr id="2" name="CuadroTexto 3">
            <a:extLst>
              <a:ext uri="{FF2B5EF4-FFF2-40B4-BE49-F238E27FC236}">
                <a16:creationId xmlns:a16="http://schemas.microsoft.com/office/drawing/2014/main" id="{8E67B285-9EAD-1961-F3A5-943BC773F34E}"/>
              </a:ext>
            </a:extLst>
          </p:cNvPr>
          <p:cNvSpPr txBox="1"/>
          <p:nvPr/>
        </p:nvSpPr>
        <p:spPr>
          <a:xfrm>
            <a:off x="206983" y="1041748"/>
            <a:ext cx="830525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Guardar datos en un archivo para que pueda ser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utilizado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por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otros programas</a:t>
            </a:r>
          </a:p>
        </p:txBody>
      </p:sp>
      <p:sp>
        <p:nvSpPr>
          <p:cNvPr id="4" name="CuadroTexto 7">
            <a:extLst>
              <a:ext uri="{FF2B5EF4-FFF2-40B4-BE49-F238E27FC236}">
                <a16:creationId xmlns:a16="http://schemas.microsoft.com/office/drawing/2014/main" id="{B15C3E39-5539-B2CB-117C-D95486DB2FB1}"/>
              </a:ext>
            </a:extLst>
          </p:cNvPr>
          <p:cNvSpPr txBox="1"/>
          <p:nvPr/>
        </p:nvSpPr>
        <p:spPr>
          <a:xfrm>
            <a:off x="206983" y="1550762"/>
            <a:ext cx="8305250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Cuando se quieren guardar datos repetitivos, es recomendable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ingresarlo de forma ordenada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para luego leerlos con estructuras de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control iterativas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  <p:sp>
        <p:nvSpPr>
          <p:cNvPr id="5" name="CuadroTexto 8">
            <a:extLst>
              <a:ext uri="{FF2B5EF4-FFF2-40B4-BE49-F238E27FC236}">
                <a16:creationId xmlns:a16="http://schemas.microsoft.com/office/drawing/2014/main" id="{EF58AE66-99D3-20E4-40C8-6AE11D13A5E1}"/>
              </a:ext>
            </a:extLst>
          </p:cNvPr>
          <p:cNvSpPr txBox="1"/>
          <p:nvPr/>
        </p:nvSpPr>
        <p:spPr>
          <a:xfrm>
            <a:off x="206983" y="2382941"/>
            <a:ext cx="8305250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ejemplo, un formato de texto conocido es el formato </a:t>
            </a:r>
            <a:r>
              <a:rPr lang="es-ES" sz="1400" dirty="0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.csv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(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omma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eparated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alues), que es aceptado por programas para planillas de cálculo.</a:t>
            </a:r>
          </a:p>
        </p:txBody>
      </p:sp>
      <p:sp>
        <p:nvSpPr>
          <p:cNvPr id="6" name="CuadroTexto 10">
            <a:extLst>
              <a:ext uri="{FF2B5EF4-FFF2-40B4-BE49-F238E27FC236}">
                <a16:creationId xmlns:a16="http://schemas.microsoft.com/office/drawing/2014/main" id="{A043140C-6B4E-8D18-CA3B-34CCF4D53249}"/>
              </a:ext>
            </a:extLst>
          </p:cNvPr>
          <p:cNvSpPr txBox="1"/>
          <p:nvPr/>
        </p:nvSpPr>
        <p:spPr>
          <a:xfrm>
            <a:off x="206982" y="3215120"/>
            <a:ext cx="8305249" cy="697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estos archivos, cada dato se encuentra en una columna distinta, separadas por algún separador. Normalmente, este separador es una coma (,) , tabulador (\t), punto y como (;) o dos puntos (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Wingdings" pitchFamily="2" charset="2"/>
              </a:rPr>
              <a:t>:).</a:t>
            </a:r>
            <a:endParaRPr lang="es-ES" sz="1400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29784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DB44EB2-7E04-8FA6-AAEA-9A4342877FB5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rgbClr val="012E46">
                    <a:alpha val="70035"/>
                  </a:srgbClr>
                </a:solidFill>
                <a:latin typeface="SWISS 721 CONDENSED BT" panose="020B0506020202030204" pitchFamily="34" charset="0"/>
              </a:rPr>
              <a:t>Archivos: Ejercicio01</a:t>
            </a:r>
          </a:p>
        </p:txBody>
      </p:sp>
    </p:spTree>
    <p:extLst>
      <p:ext uri="{BB962C8B-B14F-4D97-AF65-F5344CB8AC3E}">
        <p14:creationId xmlns:p14="http://schemas.microsoft.com/office/powerpoint/2010/main" val="365420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Manipulación de datos - Escritura</a:t>
            </a:r>
            <a:endParaRPr lang="es-CL" sz="2000" dirty="0"/>
          </a:p>
        </p:txBody>
      </p:sp>
      <p:pic>
        <p:nvPicPr>
          <p:cNvPr id="2" name="Imagen 10">
            <a:extLst>
              <a:ext uri="{FF2B5EF4-FFF2-40B4-BE49-F238E27FC236}">
                <a16:creationId xmlns:a16="http://schemas.microsoft.com/office/drawing/2014/main" id="{71ABABB2-8821-C036-615F-BBC8F6D68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148" y="3108815"/>
            <a:ext cx="3164411" cy="1904198"/>
          </a:xfrm>
          <a:prstGeom prst="rect">
            <a:avLst/>
          </a:prstGeom>
          <a:effectLst>
            <a:outerShdw blurRad="378728" dist="1756317" dir="2100000" sx="200000" sy="200000" algn="ctr" rotWithShape="0">
              <a:srgbClr val="000000">
                <a:alpha val="33000"/>
              </a:srgbClr>
            </a:outerShdw>
          </a:effectLst>
        </p:spPr>
      </p:pic>
      <p:sp>
        <p:nvSpPr>
          <p:cNvPr id="4" name="Flecha doblada hacia arriba 9">
            <a:extLst>
              <a:ext uri="{FF2B5EF4-FFF2-40B4-BE49-F238E27FC236}">
                <a16:creationId xmlns:a16="http://schemas.microsoft.com/office/drawing/2014/main" id="{3DBBFFDF-83DE-30D6-279B-25D81EEAF78A}"/>
              </a:ext>
            </a:extLst>
          </p:cNvPr>
          <p:cNvSpPr/>
          <p:nvPr/>
        </p:nvSpPr>
        <p:spPr>
          <a:xfrm flipV="1">
            <a:off x="6972132" y="2291963"/>
            <a:ext cx="549109" cy="670126"/>
          </a:xfrm>
          <a:prstGeom prst="bentUpArrow">
            <a:avLst>
              <a:gd name="adj1" fmla="val 25179"/>
              <a:gd name="adj2" fmla="val 22830"/>
              <a:gd name="adj3" fmla="val 25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Flecha doblada hacia arriba 6">
            <a:extLst>
              <a:ext uri="{FF2B5EF4-FFF2-40B4-BE49-F238E27FC236}">
                <a16:creationId xmlns:a16="http://schemas.microsoft.com/office/drawing/2014/main" id="{2BB3A17A-6D17-88BF-7B77-B900F911A426}"/>
              </a:ext>
            </a:extLst>
          </p:cNvPr>
          <p:cNvSpPr/>
          <p:nvPr/>
        </p:nvSpPr>
        <p:spPr>
          <a:xfrm rot="5400000">
            <a:off x="4487076" y="1222992"/>
            <a:ext cx="766156" cy="808772"/>
          </a:xfrm>
          <a:prstGeom prst="bentUpArrow">
            <a:avLst>
              <a:gd name="adj1" fmla="val 21924"/>
              <a:gd name="adj2" fmla="val 25000"/>
              <a:gd name="adj3" fmla="val 25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CuadroTexto 3">
            <a:extLst>
              <a:ext uri="{FF2B5EF4-FFF2-40B4-BE49-F238E27FC236}">
                <a16:creationId xmlns:a16="http://schemas.microsoft.com/office/drawing/2014/main" id="{ED299BEC-EB8B-639A-08E8-D741627BC948}"/>
              </a:ext>
            </a:extLst>
          </p:cNvPr>
          <p:cNvSpPr txBox="1"/>
          <p:nvPr/>
        </p:nvSpPr>
        <p:spPr>
          <a:xfrm>
            <a:off x="319618" y="771569"/>
            <a:ext cx="8749667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Guardar datos en un archivo para que pueda ser utilizado por otros programas</a:t>
            </a:r>
          </a:p>
        </p:txBody>
      </p:sp>
      <p:sp>
        <p:nvSpPr>
          <p:cNvPr id="8" name="CuadroTexto 4">
            <a:extLst>
              <a:ext uri="{FF2B5EF4-FFF2-40B4-BE49-F238E27FC236}">
                <a16:creationId xmlns:a16="http://schemas.microsoft.com/office/drawing/2014/main" id="{0D6299B5-AEE4-810C-DF1C-4A95344B8CD4}"/>
              </a:ext>
            </a:extLst>
          </p:cNvPr>
          <p:cNvSpPr txBox="1"/>
          <p:nvPr/>
        </p:nvSpPr>
        <p:spPr>
          <a:xfrm>
            <a:off x="6032302" y="135113"/>
            <a:ext cx="3036984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 ejemplo, almacenar temperaturas de ciudades y luego graficarlas con una planilla de cálculo.</a:t>
            </a:r>
            <a:endParaRPr lang="es-ES"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uadroTexto 5">
            <a:extLst>
              <a:ext uri="{FF2B5EF4-FFF2-40B4-BE49-F238E27FC236}">
                <a16:creationId xmlns:a16="http://schemas.microsoft.com/office/drawing/2014/main" id="{32626EBF-FCAB-B0CD-E9D3-1B71D099719C}"/>
              </a:ext>
            </a:extLst>
          </p:cNvPr>
          <p:cNvSpPr txBox="1"/>
          <p:nvPr/>
        </p:nvSpPr>
        <p:spPr>
          <a:xfrm>
            <a:off x="431549" y="1219355"/>
            <a:ext cx="4248515" cy="351685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rutaArchivo = "archivos_extras/temperaturasQuillota.csv"</a:t>
            </a:r>
          </a:p>
          <a:p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""</a:t>
            </a:r>
          </a:p>
          <a:p>
            <a:r>
              <a:rPr lang="es-CL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900" b="1" dirty="0">
                <a:latin typeface="Courier New" panose="02070309020205020404" pitchFamily="49" charset="0"/>
                <a:cs typeface="Courier New" panose="02070309020205020404" pitchFamily="49" charset="0"/>
              </a:rPr>
              <a:t>open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rutaArchivo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, "w")</a:t>
            </a:r>
          </a:p>
          <a:p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f"No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se puede abrir el archivo {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rutaArchivo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}")</a:t>
            </a:r>
          </a:p>
          <a:p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= "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Mes;maxima;minima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\n"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+= "Enero;27;13\n"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+= "Febrero;29;11\n"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+= "Marzo;26;12\n"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+= "Abril;24;11\n"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+= "Mayo;21;9\n"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+= "Junio;18;7\n"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+= "Julio;16;5\n"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+= "Agosto;19;6\n"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+= "Septiembre;20;7\n"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+= "Octubre;22;8\n"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+= "Noviembre;25;10\n"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+= "Diciembre;26;11\n"</a:t>
            </a:r>
          </a:p>
          <a:p>
            <a:endParaRPr lang="es-CL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miArchivo.</a:t>
            </a:r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write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temperaturasMensuales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miArchivo.</a:t>
            </a:r>
            <a:r>
              <a:rPr lang="es-CL" sz="9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close</a:t>
            </a:r>
            <a:r>
              <a:rPr lang="es-CL" sz="9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pic>
        <p:nvPicPr>
          <p:cNvPr id="11" name="Picture 10" descr="A screenshot of a computer&#10;&#10;Description automatically generated">
            <a:extLst>
              <a:ext uri="{FF2B5EF4-FFF2-40B4-BE49-F238E27FC236}">
                <a16:creationId xmlns:a16="http://schemas.microsoft.com/office/drawing/2014/main" id="{5E790A5C-6969-E146-0282-BA2B6E4FD2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612" y="1082586"/>
            <a:ext cx="1978081" cy="1993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1458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91" y="-47349"/>
            <a:ext cx="9263921" cy="524955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83E587A-2136-DAFC-A5C8-BF2B6D52E5AC}"/>
              </a:ext>
            </a:extLst>
          </p:cNvPr>
          <p:cNvSpPr txBox="1"/>
          <p:nvPr/>
        </p:nvSpPr>
        <p:spPr>
          <a:xfrm>
            <a:off x="3266449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bg1">
                    <a:alpha val="70035"/>
                  </a:schemeClr>
                </a:solidFill>
                <a:latin typeface="SWISS 721 CONDENSED BT" panose="020B0506020202030204" pitchFamily="34" charset="0"/>
              </a:rPr>
              <a:t>Módulo 02: Bibliotecas</a:t>
            </a:r>
          </a:p>
        </p:txBody>
      </p:sp>
    </p:spTree>
    <p:extLst>
      <p:ext uri="{BB962C8B-B14F-4D97-AF65-F5344CB8AC3E}">
        <p14:creationId xmlns:p14="http://schemas.microsoft.com/office/powerpoint/2010/main" val="3846557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DB44EB2-7E04-8FA6-AAEA-9A4342877FB5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rgbClr val="012E46">
                    <a:alpha val="70035"/>
                  </a:srgbClr>
                </a:solidFill>
                <a:latin typeface="SWISS 721 CONDENSED BT" panose="020B0506020202030204" pitchFamily="34" charset="0"/>
              </a:rPr>
              <a:t>Bibliotecas: Descripción general</a:t>
            </a:r>
          </a:p>
        </p:txBody>
      </p:sp>
    </p:spTree>
    <p:extLst>
      <p:ext uri="{BB962C8B-B14F-4D97-AF65-F5344CB8AC3E}">
        <p14:creationId xmlns:p14="http://schemas.microsoft.com/office/powerpoint/2010/main" val="13361981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¿Qué son las bibliotecas?</a:t>
            </a:r>
            <a:endParaRPr lang="es-CL" sz="2000" dirty="0"/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C8CBC429-05EF-C0A5-6158-0F3F093176BF}"/>
              </a:ext>
            </a:extLst>
          </p:cNvPr>
          <p:cNvSpPr txBox="1"/>
          <p:nvPr/>
        </p:nvSpPr>
        <p:spPr>
          <a:xfrm>
            <a:off x="206983" y="926689"/>
            <a:ext cx="7831130" cy="9754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biblioteca es una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colección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funcionalidades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proporciona un servicio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específico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un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conjunto de servicios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Por ejemplo, la biblioteca </a:t>
            </a:r>
            <a:r>
              <a:rPr lang="es-ES" sz="1400" b="1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matemática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proporciona funciones para realizar operaciones matemáticas, como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seno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coseno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raíz cuadrada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etc. </a:t>
            </a:r>
            <a:endParaRPr lang="es-E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199056E-FE73-6BFA-1A2F-A8DF0F61AF50}"/>
              </a:ext>
            </a:extLst>
          </p:cNvPr>
          <p:cNvSpPr txBox="1"/>
          <p:nvPr/>
        </p:nvSpPr>
        <p:spPr>
          <a:xfrm>
            <a:off x="206982" y="2092794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¿Cómo se usan las bibliotecas?</a:t>
            </a:r>
            <a:endParaRPr lang="es-CL" sz="2000" dirty="0"/>
          </a:p>
        </p:txBody>
      </p:sp>
      <p:sp>
        <p:nvSpPr>
          <p:cNvPr id="11" name="CuadroTexto 7">
            <a:extLst>
              <a:ext uri="{FF2B5EF4-FFF2-40B4-BE49-F238E27FC236}">
                <a16:creationId xmlns:a16="http://schemas.microsoft.com/office/drawing/2014/main" id="{8BCB638D-5E8F-8E13-8A13-A4E837539E37}"/>
              </a:ext>
            </a:extLst>
          </p:cNvPr>
          <p:cNvSpPr txBox="1"/>
          <p:nvPr/>
        </p:nvSpPr>
        <p:spPr>
          <a:xfrm>
            <a:off x="219882" y="2696188"/>
            <a:ext cx="4135986" cy="6644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acceder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 ellas, es necesario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incluirlas por su nombre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lang="es-E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776FD933-872E-D95A-00D1-B5A8E30C651F}"/>
              </a:ext>
            </a:extLst>
          </p:cNvPr>
          <p:cNvSpPr txBox="1"/>
          <p:nvPr/>
        </p:nvSpPr>
        <p:spPr>
          <a:xfrm>
            <a:off x="206982" y="3391560"/>
            <a:ext cx="4148886" cy="6644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su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uso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las bibliotecas se deben </a:t>
            </a:r>
            <a:r>
              <a:rPr lang="es-ES" sz="1400" b="1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importar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con la instrucción  </a:t>
            </a:r>
            <a:r>
              <a:rPr lang="es-ES" sz="1400" b="1" dirty="0" err="1">
                <a:latin typeface="Courier New" panose="02070309020205020404" pitchFamily="49" charset="0"/>
                <a:cs typeface="Courier New" panose="02070309020205020404" pitchFamily="49" charset="0"/>
                <a:sym typeface="Helvetica Neue"/>
              </a:rPr>
              <a:t>import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 lang="es-E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CuadroTexto 5">
            <a:extLst>
              <a:ext uri="{FF2B5EF4-FFF2-40B4-BE49-F238E27FC236}">
                <a16:creationId xmlns:a16="http://schemas.microsoft.com/office/drawing/2014/main" id="{50148DC3-C582-8989-4280-F5519574AB17}"/>
              </a:ext>
            </a:extLst>
          </p:cNvPr>
          <p:cNvSpPr txBox="1"/>
          <p:nvPr/>
        </p:nvSpPr>
        <p:spPr>
          <a:xfrm>
            <a:off x="4995949" y="3181789"/>
            <a:ext cx="304216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900">
                <a:latin typeface="Courier New" panose="02070309020205020404" pitchFamily="49" charset="0"/>
                <a:cs typeface="Courier New" panose="02070309020205020404" pitchFamily="49" charset="0"/>
              </a:defRPr>
            </a:lvl1pPr>
          </a:lstStyle>
          <a:p>
            <a:r>
              <a:rPr lang="es-ES" sz="1600" b="1" dirty="0" err="1">
                <a:sym typeface="Helvetica Neue"/>
              </a:rPr>
              <a:t>import</a:t>
            </a:r>
            <a:r>
              <a:rPr lang="es-ES" sz="1600" dirty="0">
                <a:sym typeface="Helvetica Neue"/>
              </a:rPr>
              <a:t> </a:t>
            </a:r>
            <a:r>
              <a:rPr lang="es-ES" sz="1600" dirty="0" err="1">
                <a:sym typeface="Helvetica Neue"/>
              </a:rPr>
              <a:t>nombreBiblioteca</a:t>
            </a:r>
            <a:endParaRPr lang="es-ES" sz="1600" dirty="0"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4721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Ejemplo de importación</a:t>
            </a:r>
            <a:endParaRPr lang="es-CL" sz="2000" dirty="0"/>
          </a:p>
        </p:txBody>
      </p:sp>
      <p:sp>
        <p:nvSpPr>
          <p:cNvPr id="2" name="CuadroTexto 3">
            <a:extLst>
              <a:ext uri="{FF2B5EF4-FFF2-40B4-BE49-F238E27FC236}">
                <a16:creationId xmlns:a16="http://schemas.microsoft.com/office/drawing/2014/main" id="{E132072A-0C74-B9A1-7CF1-0DEA9029EB6A}"/>
              </a:ext>
            </a:extLst>
          </p:cNvPr>
          <p:cNvSpPr txBox="1"/>
          <p:nvPr/>
        </p:nvSpPr>
        <p:spPr>
          <a:xfrm>
            <a:off x="233287" y="1024878"/>
            <a:ext cx="8510780" cy="3279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Existen dos formas básicas de importar funciones desde bibliotecas: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5F42D66-B9EB-729A-78AF-19FCB8A7DFAF}"/>
              </a:ext>
            </a:extLst>
          </p:cNvPr>
          <p:cNvGrpSpPr/>
          <p:nvPr/>
        </p:nvGrpSpPr>
        <p:grpSpPr>
          <a:xfrm>
            <a:off x="142089" y="1556218"/>
            <a:ext cx="4229946" cy="717516"/>
            <a:chOff x="75587" y="1556218"/>
            <a:chExt cx="4229946" cy="717516"/>
          </a:xfrm>
        </p:grpSpPr>
        <p:sp>
          <p:nvSpPr>
            <p:cNvPr id="5" name="CuadroTexto 10">
              <a:extLst>
                <a:ext uri="{FF2B5EF4-FFF2-40B4-BE49-F238E27FC236}">
                  <a16:creationId xmlns:a16="http://schemas.microsoft.com/office/drawing/2014/main" id="{79F9E290-0A8D-7566-9477-C9DBBF5FB3C3}"/>
                </a:ext>
              </a:extLst>
            </p:cNvPr>
            <p:cNvSpPr txBox="1"/>
            <p:nvPr/>
          </p:nvSpPr>
          <p:spPr>
            <a:xfrm>
              <a:off x="167372" y="1622722"/>
              <a:ext cx="4138161" cy="6510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tIns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s-ES" sz="1400" b="0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Importando la biblioteca </a:t>
              </a:r>
              <a:r>
                <a:rPr lang="es-ES" sz="1400" b="1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completa</a:t>
              </a:r>
              <a:r>
                <a:rPr lang="es-ES" sz="1400" b="0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 Para acceder a las funciones se utiliza el operador </a:t>
              </a:r>
              <a:r>
                <a:rPr lang="es-ES" sz="1400" b="1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punto</a:t>
              </a:r>
              <a:r>
                <a:rPr lang="es-ES" sz="1400" b="0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lang="es-ES" sz="1400" b="1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 </a:t>
              </a:r>
              <a:r>
                <a:rPr lang="es-ES" sz="1400" b="1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 )</a:t>
              </a:r>
            </a:p>
          </p:txBody>
        </p:sp>
        <p:sp>
          <p:nvSpPr>
            <p:cNvPr id="6" name="Elipse 11">
              <a:extLst>
                <a:ext uri="{FF2B5EF4-FFF2-40B4-BE49-F238E27FC236}">
                  <a16:creationId xmlns:a16="http://schemas.microsoft.com/office/drawing/2014/main" id="{4C48BE54-4668-3B18-771E-1111173E2CF7}"/>
                </a:ext>
              </a:extLst>
            </p:cNvPr>
            <p:cNvSpPr/>
            <p:nvPr/>
          </p:nvSpPr>
          <p:spPr>
            <a:xfrm>
              <a:off x="75587" y="1556218"/>
              <a:ext cx="183570" cy="18357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100" dirty="0"/>
                <a:t>1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A890CF-EF5F-ABEF-B87E-E53E74A361A2}"/>
              </a:ext>
            </a:extLst>
          </p:cNvPr>
          <p:cNvGrpSpPr/>
          <p:nvPr/>
        </p:nvGrpSpPr>
        <p:grpSpPr>
          <a:xfrm>
            <a:off x="4514122" y="1484282"/>
            <a:ext cx="4229945" cy="766328"/>
            <a:chOff x="4447620" y="1484282"/>
            <a:chExt cx="4229945" cy="766328"/>
          </a:xfrm>
        </p:grpSpPr>
        <p:sp>
          <p:nvSpPr>
            <p:cNvPr id="8" name="CuadroTexto 12">
              <a:extLst>
                <a:ext uri="{FF2B5EF4-FFF2-40B4-BE49-F238E27FC236}">
                  <a16:creationId xmlns:a16="http://schemas.microsoft.com/office/drawing/2014/main" id="{B924DAEA-7471-8456-7281-E940F2A66C45}"/>
                </a:ext>
              </a:extLst>
            </p:cNvPr>
            <p:cNvSpPr txBox="1"/>
            <p:nvPr/>
          </p:nvSpPr>
          <p:spPr>
            <a:xfrm>
              <a:off x="4539404" y="1598316"/>
              <a:ext cx="4138161" cy="65229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tIns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s-ES" sz="1400" b="0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Importando </a:t>
              </a:r>
              <a:r>
                <a:rPr lang="es-ES" sz="1400" b="1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funciones específicas</a:t>
              </a:r>
              <a:r>
                <a:rPr lang="es-ES" sz="1400" b="0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desde una biblioteca.</a:t>
              </a:r>
              <a:endParaRPr lang="es-ES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Elipse 13">
              <a:extLst>
                <a:ext uri="{FF2B5EF4-FFF2-40B4-BE49-F238E27FC236}">
                  <a16:creationId xmlns:a16="http://schemas.microsoft.com/office/drawing/2014/main" id="{BE1FEA85-E217-FF3D-285E-DF6DE792C44C}"/>
                </a:ext>
              </a:extLst>
            </p:cNvPr>
            <p:cNvSpPr/>
            <p:nvPr/>
          </p:nvSpPr>
          <p:spPr>
            <a:xfrm>
              <a:off x="4447620" y="1484282"/>
              <a:ext cx="183570" cy="20581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100" dirty="0"/>
                <a:t>2</a:t>
              </a:r>
            </a:p>
          </p:txBody>
        </p:sp>
      </p:grpSp>
      <p:sp>
        <p:nvSpPr>
          <p:cNvPr id="16" name="CuadroTexto 2">
            <a:extLst>
              <a:ext uri="{FF2B5EF4-FFF2-40B4-BE49-F238E27FC236}">
                <a16:creationId xmlns:a16="http://schemas.microsoft.com/office/drawing/2014/main" id="{3325B9D0-8C57-5DCD-BE5A-34A23C680BBB}"/>
              </a:ext>
            </a:extLst>
          </p:cNvPr>
          <p:cNvSpPr txBox="1"/>
          <p:nvPr/>
        </p:nvSpPr>
        <p:spPr>
          <a:xfrm>
            <a:off x="233874" y="2548962"/>
            <a:ext cx="4138161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endParaRPr lang="es-CL" sz="12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("sen(0)=",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math.sin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("cos(0)=",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math.cos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("sen(pi/2)=",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math.sin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/2))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("cos(pi/2)=",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math.cos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/2))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("sen(pi)=",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math.sin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("cos(pi)=",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math.cos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35366DA-DC67-FE48-B305-DFD9902C8992}"/>
              </a:ext>
            </a:extLst>
          </p:cNvPr>
          <p:cNvSpPr txBox="1"/>
          <p:nvPr/>
        </p:nvSpPr>
        <p:spPr>
          <a:xfrm>
            <a:off x="4605906" y="2537994"/>
            <a:ext cx="4138161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sin, cos, pi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("sen(0)=",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("cos(0)=",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("sen(pi/2)=",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/2))</a:t>
            </a:r>
          </a:p>
          <a:p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("cos(pi/2)=",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round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s-419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/2),10))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("sen(pi)=",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round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sin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("cos(pi)=", 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pi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547932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Ejemplo de importación</a:t>
            </a:r>
            <a:endParaRPr lang="es-CL" sz="2000" dirty="0"/>
          </a:p>
        </p:txBody>
      </p:sp>
      <p:sp>
        <p:nvSpPr>
          <p:cNvPr id="2" name="CuadroTexto 3">
            <a:extLst>
              <a:ext uri="{FF2B5EF4-FFF2-40B4-BE49-F238E27FC236}">
                <a16:creationId xmlns:a16="http://schemas.microsoft.com/office/drawing/2014/main" id="{E132072A-0C74-B9A1-7CF1-0DEA9029EB6A}"/>
              </a:ext>
            </a:extLst>
          </p:cNvPr>
          <p:cNvSpPr txBox="1"/>
          <p:nvPr/>
        </p:nvSpPr>
        <p:spPr>
          <a:xfrm>
            <a:off x="233287" y="1024878"/>
            <a:ext cx="8510780" cy="3279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alternativa uno tiene una variación o simplificación: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5F42D66-B9EB-729A-78AF-19FCB8A7DFAF}"/>
              </a:ext>
            </a:extLst>
          </p:cNvPr>
          <p:cNvGrpSpPr/>
          <p:nvPr/>
        </p:nvGrpSpPr>
        <p:grpSpPr>
          <a:xfrm>
            <a:off x="2308447" y="1525613"/>
            <a:ext cx="4229946" cy="717516"/>
            <a:chOff x="2241945" y="1525613"/>
            <a:chExt cx="4229946" cy="717516"/>
          </a:xfrm>
        </p:grpSpPr>
        <p:sp>
          <p:nvSpPr>
            <p:cNvPr id="5" name="CuadroTexto 10">
              <a:extLst>
                <a:ext uri="{FF2B5EF4-FFF2-40B4-BE49-F238E27FC236}">
                  <a16:creationId xmlns:a16="http://schemas.microsoft.com/office/drawing/2014/main" id="{79F9E290-0A8D-7566-9477-C9DBBF5FB3C3}"/>
                </a:ext>
              </a:extLst>
            </p:cNvPr>
            <p:cNvSpPr txBox="1"/>
            <p:nvPr/>
          </p:nvSpPr>
          <p:spPr>
            <a:xfrm>
              <a:off x="2333730" y="1592117"/>
              <a:ext cx="4138161" cy="6510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tIns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s-ES" sz="1400" b="0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Importando la biblioteca </a:t>
              </a:r>
              <a:r>
                <a:rPr lang="es-ES" sz="1400" b="1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completa</a:t>
              </a:r>
              <a:r>
                <a:rPr lang="es-ES" sz="1400" b="0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, pero a través de un </a:t>
              </a:r>
              <a:r>
                <a:rPr lang="es-ES" sz="1400" b="1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alias</a:t>
              </a:r>
              <a:r>
                <a:rPr lang="es-ES" sz="1400" b="0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o </a:t>
              </a:r>
              <a:r>
                <a:rPr lang="es-ES" sz="1400" b="1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apodo</a:t>
              </a:r>
              <a:r>
                <a:rPr lang="es-ES" sz="1400" b="0" i="0" u="none" strike="noStrike" cap="none" dirty="0">
                  <a:solidFill>
                    <a:schemeClr val="dk1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 </a:t>
              </a:r>
              <a:endPara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6" name="Elipse 11">
              <a:extLst>
                <a:ext uri="{FF2B5EF4-FFF2-40B4-BE49-F238E27FC236}">
                  <a16:creationId xmlns:a16="http://schemas.microsoft.com/office/drawing/2014/main" id="{4C48BE54-4668-3B18-771E-1111173E2CF7}"/>
                </a:ext>
              </a:extLst>
            </p:cNvPr>
            <p:cNvSpPr/>
            <p:nvPr/>
          </p:nvSpPr>
          <p:spPr>
            <a:xfrm>
              <a:off x="2241945" y="1525613"/>
              <a:ext cx="183570" cy="18357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_tradnl" sz="1100" dirty="0"/>
                <a:t>3</a:t>
              </a:r>
            </a:p>
          </p:txBody>
        </p:sp>
      </p:grpSp>
      <p:sp>
        <p:nvSpPr>
          <p:cNvPr id="16" name="CuadroTexto 2">
            <a:extLst>
              <a:ext uri="{FF2B5EF4-FFF2-40B4-BE49-F238E27FC236}">
                <a16:creationId xmlns:a16="http://schemas.microsoft.com/office/drawing/2014/main" id="{3325B9D0-8C57-5DCD-BE5A-34A23C680BBB}"/>
              </a:ext>
            </a:extLst>
          </p:cNvPr>
          <p:cNvSpPr txBox="1"/>
          <p:nvPr/>
        </p:nvSpPr>
        <p:spPr>
          <a:xfrm>
            <a:off x="2400232" y="2521253"/>
            <a:ext cx="4138161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r>
              <a:rPr lang="es-CL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as m</a:t>
            </a:r>
          </a:p>
          <a:p>
            <a:endParaRPr lang="es-CL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("sen(0)=",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m.sin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("cos(0)=",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m.cos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("sen(pi/2)=",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m.sin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m.pi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/2))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("cos(pi/2)=",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m.cos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m.pi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/2))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("sen(pi)=",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m.sin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m.pi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("cos(pi)=", 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m.cos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m.pi</a:t>
            </a:r>
            <a:r>
              <a:rPr lang="es-CL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4" name="CuadroTexto 17">
            <a:extLst>
              <a:ext uri="{FF2B5EF4-FFF2-40B4-BE49-F238E27FC236}">
                <a16:creationId xmlns:a16="http://schemas.microsoft.com/office/drawing/2014/main" id="{A99580AB-D3DF-A4A4-A570-08D94FB61833}"/>
              </a:ext>
            </a:extLst>
          </p:cNvPr>
          <p:cNvSpPr txBox="1"/>
          <p:nvPr/>
        </p:nvSpPr>
        <p:spPr>
          <a:xfrm>
            <a:off x="1027203" y="4240753"/>
            <a:ext cx="6836935" cy="69846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Para evitar confusión con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variables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funciones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propias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del desarrollo de un programa, en esta asignatura se utilizará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forma 1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forma 3 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 importación.</a:t>
            </a:r>
            <a:endParaRPr lang="es-E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46972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Bibliotecas de uso frecuente</a:t>
            </a:r>
            <a:endParaRPr lang="es-CL" sz="2000" dirty="0"/>
          </a:p>
        </p:txBody>
      </p:sp>
      <p:sp>
        <p:nvSpPr>
          <p:cNvPr id="8" name="CuadroTexto 3">
            <a:extLst>
              <a:ext uri="{FF2B5EF4-FFF2-40B4-BE49-F238E27FC236}">
                <a16:creationId xmlns:a16="http://schemas.microsoft.com/office/drawing/2014/main" id="{298FC454-2357-5AEA-62FA-0367BAEF5925}"/>
              </a:ext>
            </a:extLst>
          </p:cNvPr>
          <p:cNvSpPr txBox="1"/>
          <p:nvPr/>
        </p:nvSpPr>
        <p:spPr>
          <a:xfrm>
            <a:off x="317754" y="997644"/>
            <a:ext cx="6532708" cy="3278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random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Para generación de elementos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pseudo-aleatorios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</a:p>
        </p:txBody>
      </p:sp>
      <p:sp>
        <p:nvSpPr>
          <p:cNvPr id="9" name="CuadroTexto 2">
            <a:extLst>
              <a:ext uri="{FF2B5EF4-FFF2-40B4-BE49-F238E27FC236}">
                <a16:creationId xmlns:a16="http://schemas.microsoft.com/office/drawing/2014/main" id="{F1E409C5-CC2A-5D71-4686-FA44ABFDA6C6}"/>
              </a:ext>
            </a:extLst>
          </p:cNvPr>
          <p:cNvSpPr txBox="1"/>
          <p:nvPr/>
        </p:nvSpPr>
        <p:spPr>
          <a:xfrm>
            <a:off x="2586268" y="1383062"/>
            <a:ext cx="426419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https://docs.python.org/es/3/library/random.html</a:t>
            </a:r>
            <a:endParaRPr lang="es-ES" sz="11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CuadroTexto 4">
            <a:extLst>
              <a:ext uri="{FF2B5EF4-FFF2-40B4-BE49-F238E27FC236}">
                <a16:creationId xmlns:a16="http://schemas.microsoft.com/office/drawing/2014/main" id="{505F507D-2F90-13C3-E8B0-DC4E6A8DBCBC}"/>
              </a:ext>
            </a:extLst>
          </p:cNvPr>
          <p:cNvSpPr txBox="1"/>
          <p:nvPr/>
        </p:nvSpPr>
        <p:spPr>
          <a:xfrm>
            <a:off x="317754" y="2099851"/>
            <a:ext cx="6532708" cy="3278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matplotlib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Para desarrollo de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visualización de datos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lang="es-ES" sz="1400" b="0" i="1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CuadroTexto 5">
            <a:extLst>
              <a:ext uri="{FF2B5EF4-FFF2-40B4-BE49-F238E27FC236}">
                <a16:creationId xmlns:a16="http://schemas.microsoft.com/office/drawing/2014/main" id="{5CAC3CF0-000A-4A37-AFDA-A7E0CE238BBE}"/>
              </a:ext>
            </a:extLst>
          </p:cNvPr>
          <p:cNvSpPr txBox="1"/>
          <p:nvPr/>
        </p:nvSpPr>
        <p:spPr>
          <a:xfrm>
            <a:off x="2586268" y="2484847"/>
            <a:ext cx="426419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https://matplotlib.org</a:t>
            </a:r>
            <a:endParaRPr lang="es-E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CuadroTexto 6">
            <a:extLst>
              <a:ext uri="{FF2B5EF4-FFF2-40B4-BE49-F238E27FC236}">
                <a16:creationId xmlns:a16="http://schemas.microsoft.com/office/drawing/2014/main" id="{B741081A-F515-72CB-7F79-38AD790E1D19}"/>
              </a:ext>
            </a:extLst>
          </p:cNvPr>
          <p:cNvSpPr txBox="1"/>
          <p:nvPr/>
        </p:nvSpPr>
        <p:spPr>
          <a:xfrm>
            <a:off x="317754" y="3221706"/>
            <a:ext cx="6532708" cy="3278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numpy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Para funciones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matemáticas avanzadas</a:t>
            </a:r>
            <a:r>
              <a:rPr lang="es-ES" sz="1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lang="es-ES" sz="1400" b="0" i="1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CuadroTexto 7">
            <a:extLst>
              <a:ext uri="{FF2B5EF4-FFF2-40B4-BE49-F238E27FC236}">
                <a16:creationId xmlns:a16="http://schemas.microsoft.com/office/drawing/2014/main" id="{7DA24ED7-3BF7-835F-B903-EE9AB5A08E0F}"/>
              </a:ext>
            </a:extLst>
          </p:cNvPr>
          <p:cNvSpPr txBox="1"/>
          <p:nvPr/>
        </p:nvSpPr>
        <p:spPr>
          <a:xfrm>
            <a:off x="2586268" y="3608769"/>
            <a:ext cx="4264194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https://www.numpy.org</a:t>
            </a:r>
            <a:endParaRPr lang="es-ES" sz="11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Online Media 1" descr="CURSO DE PYTHON - Cómo Generar Elementos y Números ALEATORIOS en PYTHON | Librería RANDOM 🐍">
            <a:hlinkClick r:id="" action="ppaction://media"/>
            <a:extLst>
              <a:ext uri="{FF2B5EF4-FFF2-40B4-BE49-F238E27FC236}">
                <a16:creationId xmlns:a16="http://schemas.microsoft.com/office/drawing/2014/main" id="{149EACB1-B2E1-C32B-B5ED-90F88D10C277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7094031" y="997644"/>
            <a:ext cx="1803685" cy="1019082"/>
          </a:xfrm>
          <a:prstGeom prst="rect">
            <a:avLst/>
          </a:prstGeom>
        </p:spPr>
      </p:pic>
      <p:pic>
        <p:nvPicPr>
          <p:cNvPr id="4" name="Online Media 3" descr="como INSTALAR MATPLOTLIB en PYTHON VISUAL STUDIO CODE 🚀">
            <a:hlinkClick r:id="" action="ppaction://media"/>
            <a:extLst>
              <a:ext uri="{FF2B5EF4-FFF2-40B4-BE49-F238E27FC236}">
                <a16:creationId xmlns:a16="http://schemas.microsoft.com/office/drawing/2014/main" id="{8B01A962-B20D-002E-0DF4-F9984C8ABA6C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7094031" y="2092861"/>
            <a:ext cx="1803685" cy="1019082"/>
          </a:xfrm>
          <a:prstGeom prst="rect">
            <a:avLst/>
          </a:prstGeom>
        </p:spPr>
      </p:pic>
      <p:sp>
        <p:nvSpPr>
          <p:cNvPr id="5" name="CuadroTexto 2">
            <a:extLst>
              <a:ext uri="{FF2B5EF4-FFF2-40B4-BE49-F238E27FC236}">
                <a16:creationId xmlns:a16="http://schemas.microsoft.com/office/drawing/2014/main" id="{25C7119F-209D-655B-4AE9-22209E58F017}"/>
              </a:ext>
            </a:extLst>
          </p:cNvPr>
          <p:cNvSpPr txBox="1"/>
          <p:nvPr/>
        </p:nvSpPr>
        <p:spPr>
          <a:xfrm>
            <a:off x="2586268" y="1727278"/>
            <a:ext cx="4264194" cy="246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r">
              <a:spcBef>
                <a:spcPts val="0"/>
              </a:spcBef>
              <a:spcAft>
                <a:spcPts val="0"/>
              </a:spcAft>
              <a:buNone/>
              <a:defRPr sz="1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r>
              <a:rPr lang="es-ES" dirty="0">
                <a:sym typeface="Helvetica Neue"/>
              </a:rPr>
              <a:t>https://</a:t>
            </a:r>
            <a:r>
              <a:rPr lang="es-ES" dirty="0" err="1">
                <a:sym typeface="Helvetica Neue"/>
              </a:rPr>
              <a:t>youtu.be</a:t>
            </a:r>
            <a:r>
              <a:rPr lang="es-ES" dirty="0">
                <a:sym typeface="Helvetica Neue"/>
              </a:rPr>
              <a:t>/nLKjIKz6zSI?si=ayypu3kihZ1kRbNy</a:t>
            </a:r>
            <a:endParaRPr lang="es-ES" dirty="0">
              <a:sym typeface="Arial"/>
            </a:endParaRPr>
          </a:p>
        </p:txBody>
      </p:sp>
      <p:sp>
        <p:nvSpPr>
          <p:cNvPr id="6" name="CuadroTexto 2">
            <a:extLst>
              <a:ext uri="{FF2B5EF4-FFF2-40B4-BE49-F238E27FC236}">
                <a16:creationId xmlns:a16="http://schemas.microsoft.com/office/drawing/2014/main" id="{FC7B3A8B-AAD9-6D6F-668D-A5521D711181}"/>
              </a:ext>
            </a:extLst>
          </p:cNvPr>
          <p:cNvSpPr txBox="1"/>
          <p:nvPr/>
        </p:nvSpPr>
        <p:spPr>
          <a:xfrm>
            <a:off x="2586268" y="2850333"/>
            <a:ext cx="4264194" cy="246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</a:t>
            </a:r>
            <a:r>
              <a:rPr lang="es-ES" sz="1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youtu.be</a:t>
            </a:r>
            <a:r>
              <a:rPr lang="es-ES" sz="1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es-ES" sz="1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MnFcMxqhWbQ?si</a:t>
            </a:r>
            <a:r>
              <a:rPr lang="es-ES" sz="1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lang="es-ES" sz="1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U-fnQpzfupDrobTm&amp;t</a:t>
            </a:r>
            <a:r>
              <a:rPr lang="es-ES" sz="1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=374</a:t>
            </a:r>
            <a:endParaRPr lang="es-ES" sz="10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CuadroTexto 2">
            <a:extLst>
              <a:ext uri="{FF2B5EF4-FFF2-40B4-BE49-F238E27FC236}">
                <a16:creationId xmlns:a16="http://schemas.microsoft.com/office/drawing/2014/main" id="{0703B896-25CF-7DC8-9E2D-4C87C933F288}"/>
              </a:ext>
            </a:extLst>
          </p:cNvPr>
          <p:cNvSpPr txBox="1"/>
          <p:nvPr/>
        </p:nvSpPr>
        <p:spPr>
          <a:xfrm>
            <a:off x="2586268" y="3957047"/>
            <a:ext cx="4264194" cy="24622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https://</a:t>
            </a:r>
            <a:r>
              <a:rPr lang="es-ES" sz="1000" b="0" i="1" u="none" strike="noStrike" cap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youtu.be</a:t>
            </a:r>
            <a:r>
              <a:rPr lang="es-ES" sz="1000" b="0" i="1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/WxJr143Os-A?si=jTC_iAljFHKw4hy1&amp;t=35</a:t>
            </a:r>
            <a:endParaRPr lang="es-ES" sz="1000" b="0" i="1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Online Media 13" descr="INTRODUCCIÓN A LA LIBRERÍA NUMPY DE PYTHON - PARTE 1 | #3 Curso Machine Learning con Python">
            <a:hlinkClick r:id="" action="ppaction://media"/>
            <a:extLst>
              <a:ext uri="{FF2B5EF4-FFF2-40B4-BE49-F238E27FC236}">
                <a16:creationId xmlns:a16="http://schemas.microsoft.com/office/drawing/2014/main" id="{7E4CF063-A0CD-C2A7-5DAD-EEA2CA288287}"/>
              </a:ext>
            </a:extLst>
          </p:cNvPr>
          <p:cNvPicPr>
            <a:picLocks noRot="1" noChangeAspect="1"/>
          </p:cNvPicPr>
          <p:nvPr>
            <a:videoFile r:link="rId3"/>
          </p:nvPr>
        </p:nvPicPr>
        <p:blipFill>
          <a:blip r:embed="rId8"/>
          <a:stretch>
            <a:fillRect/>
          </a:stretch>
        </p:blipFill>
        <p:spPr>
          <a:xfrm>
            <a:off x="7094031" y="3232335"/>
            <a:ext cx="1803685" cy="101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0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DB44EB2-7E04-8FA6-AAEA-9A4342877FB5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rgbClr val="012E46">
                    <a:alpha val="70035"/>
                  </a:srgbClr>
                </a:solidFill>
                <a:latin typeface="SWISS 721 CONDENSED BT" panose="020B0506020202030204" pitchFamily="34" charset="0"/>
              </a:rPr>
              <a:t>Bibliotecas: Ejercicio01</a:t>
            </a:r>
          </a:p>
        </p:txBody>
      </p:sp>
    </p:spTree>
    <p:extLst>
      <p:ext uri="{BB962C8B-B14F-4D97-AF65-F5344CB8AC3E}">
        <p14:creationId xmlns:p14="http://schemas.microsoft.com/office/powerpoint/2010/main" val="34553968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– Biblioteca </a:t>
            </a:r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math</a:t>
            </a:r>
            <a:endParaRPr lang="es-C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CuadroTexto 3">
            <a:extLst>
              <a:ext uri="{FF2B5EF4-FFF2-40B4-BE49-F238E27FC236}">
                <a16:creationId xmlns:a16="http://schemas.microsoft.com/office/drawing/2014/main" id="{10DA05FB-94D0-FEAC-47B8-0BB12DB3EFFE}"/>
              </a:ext>
            </a:extLst>
          </p:cNvPr>
          <p:cNvSpPr txBox="1"/>
          <p:nvPr/>
        </p:nvSpPr>
        <p:spPr>
          <a:xfrm>
            <a:off x="317754" y="997644"/>
            <a:ext cx="6532708" cy="3278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Implementar un programa en 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ython que implemente la siguiente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función</a:t>
            </a: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4">
                <a:extLst>
                  <a:ext uri="{FF2B5EF4-FFF2-40B4-BE49-F238E27FC236}">
                    <a16:creationId xmlns:a16="http://schemas.microsoft.com/office/drawing/2014/main" id="{BEF445AB-8DBE-E368-4189-C5573A450FDD}"/>
                  </a:ext>
                </a:extLst>
              </p:cNvPr>
              <p:cNvSpPr txBox="1"/>
              <p:nvPr/>
            </p:nvSpPr>
            <p:spPr>
              <a:xfrm>
                <a:off x="317753" y="1642837"/>
                <a:ext cx="8477111" cy="4472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4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2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400" b="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2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24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ES" sz="2400" b="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L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L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L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s-ES" sz="24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ES" sz="24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s-ES" sz="2400" b="0" i="1">
                                      <a:latin typeface="Cambria Math" panose="02040503050406030204" pitchFamily="18" charset="0"/>
                                    </a:rPr>
                                    <m:t>𝑠𝑖𝑛</m:t>
                                  </m:r>
                                  <m:d>
                                    <m:dPr>
                                      <m:ctrlPr>
                                        <a:rPr lang="es-E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2400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sz="2400" b="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es-ES" sz="24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L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L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s-ES" sz="24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s-E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s-ES" sz="2400" b="0" i="1">
                                      <a:latin typeface="Cambria Math" panose="02040503050406030204" pitchFamily="18" charset="0"/>
                                    </a:rPr>
                                    <m:t>𝑐𝑜𝑠</m:t>
                                  </m:r>
                                  <m:d>
                                    <m:dPr>
                                      <m:ctrlPr>
                                        <a:rPr lang="es-E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2400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s-ES" sz="2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sz="2400" b="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s-CL" sz="2400" dirty="0"/>
              </a:p>
            </p:txBody>
          </p:sp>
        </mc:Choice>
        <mc:Fallback>
          <p:sp>
            <p:nvSpPr>
              <p:cNvPr id="19" name="CuadroTexto 4">
                <a:extLst>
                  <a:ext uri="{FF2B5EF4-FFF2-40B4-BE49-F238E27FC236}">
                    <a16:creationId xmlns:a16="http://schemas.microsoft.com/office/drawing/2014/main" id="{BEF445AB-8DBE-E368-4189-C5573A450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53" y="1642837"/>
                <a:ext cx="8477111" cy="447238"/>
              </a:xfrm>
              <a:prstGeom prst="rect">
                <a:avLst/>
              </a:prstGeom>
              <a:blipFill>
                <a:blip r:embed="rId3"/>
                <a:stretch>
                  <a:fillRect b="-27778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0">
            <a:extLst>
              <a:ext uri="{FF2B5EF4-FFF2-40B4-BE49-F238E27FC236}">
                <a16:creationId xmlns:a16="http://schemas.microsoft.com/office/drawing/2014/main" id="{9D848C9E-F1EC-5AAD-BFFD-8CEF73A69726}"/>
              </a:ext>
            </a:extLst>
          </p:cNvPr>
          <p:cNvSpPr txBox="1"/>
          <p:nvPr/>
        </p:nvSpPr>
        <p:spPr>
          <a:xfrm>
            <a:off x="4653287" y="2465284"/>
            <a:ext cx="2197175" cy="3740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Evalúe el resultado para: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11">
                <a:extLst>
                  <a:ext uri="{FF2B5EF4-FFF2-40B4-BE49-F238E27FC236}">
                    <a16:creationId xmlns:a16="http://schemas.microsoft.com/office/drawing/2014/main" id="{FBCCE644-D598-C286-30E6-DCE6755988EE}"/>
                  </a:ext>
                </a:extLst>
              </p:cNvPr>
              <p:cNvSpPr txBox="1"/>
              <p:nvPr/>
            </p:nvSpPr>
            <p:spPr>
              <a:xfrm>
                <a:off x="3566344" y="3203300"/>
                <a:ext cx="619464" cy="472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s-ES" b="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21" name="CuadroTexto 11">
                <a:extLst>
                  <a:ext uri="{FF2B5EF4-FFF2-40B4-BE49-F238E27FC236}">
                    <a16:creationId xmlns:a16="http://schemas.microsoft.com/office/drawing/2014/main" id="{FBCCE644-D598-C286-30E6-DCE675598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344" y="3203300"/>
                <a:ext cx="619464" cy="472437"/>
              </a:xfrm>
              <a:prstGeom prst="rect">
                <a:avLst/>
              </a:prstGeom>
              <a:blipFill>
                <a:blip r:embed="rId4"/>
                <a:stretch>
                  <a:fillRect l="-6000" r="-8000" b="-15789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12">
                <a:extLst>
                  <a:ext uri="{FF2B5EF4-FFF2-40B4-BE49-F238E27FC236}">
                    <a16:creationId xmlns:a16="http://schemas.microsoft.com/office/drawing/2014/main" id="{E4A5CE6E-4E74-B6F4-8250-2713B8BEBDEF}"/>
                  </a:ext>
                </a:extLst>
              </p:cNvPr>
              <p:cNvSpPr txBox="1"/>
              <p:nvPr/>
            </p:nvSpPr>
            <p:spPr>
              <a:xfrm>
                <a:off x="4692471" y="3257074"/>
                <a:ext cx="83702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ES" b="0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22" name="CuadroTexto 12">
                <a:extLst>
                  <a:ext uri="{FF2B5EF4-FFF2-40B4-BE49-F238E27FC236}">
                    <a16:creationId xmlns:a16="http://schemas.microsoft.com/office/drawing/2014/main" id="{E4A5CE6E-4E74-B6F4-8250-2713B8BEB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471" y="3257074"/>
                <a:ext cx="837024" cy="276999"/>
              </a:xfrm>
              <a:prstGeom prst="rect">
                <a:avLst/>
              </a:prstGeom>
              <a:blipFill>
                <a:blip r:embed="rId5"/>
                <a:stretch>
                  <a:fillRect l="-7463" t="-4348" r="-2985" b="-26087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13">
                <a:extLst>
                  <a:ext uri="{FF2B5EF4-FFF2-40B4-BE49-F238E27FC236}">
                    <a16:creationId xmlns:a16="http://schemas.microsoft.com/office/drawing/2014/main" id="{196A2964-777F-4059-90BA-28A357C0DF22}"/>
                  </a:ext>
                </a:extLst>
              </p:cNvPr>
              <p:cNvSpPr txBox="1"/>
              <p:nvPr/>
            </p:nvSpPr>
            <p:spPr>
              <a:xfrm>
                <a:off x="5969654" y="3228808"/>
                <a:ext cx="7686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b="0" i="1">
                          <a:latin typeface="Cambria Math" panose="02040503050406030204" pitchFamily="18" charset="0"/>
                        </a:rPr>
                        <m:t>=3.8</m:t>
                      </m:r>
                    </m:oMath>
                  </m:oMathPara>
                </a14:m>
                <a:endParaRPr lang="es-CL" dirty="0"/>
              </a:p>
            </p:txBody>
          </p:sp>
        </mc:Choice>
        <mc:Fallback xmlns="">
          <p:sp>
            <p:nvSpPr>
              <p:cNvPr id="23" name="CuadroTexto 13">
                <a:extLst>
                  <a:ext uri="{FF2B5EF4-FFF2-40B4-BE49-F238E27FC236}">
                    <a16:creationId xmlns:a16="http://schemas.microsoft.com/office/drawing/2014/main" id="{196A2964-777F-4059-90BA-28A357C0D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9654" y="3228808"/>
                <a:ext cx="768608" cy="276999"/>
              </a:xfrm>
              <a:prstGeom prst="rect">
                <a:avLst/>
              </a:prstGeom>
              <a:blipFill>
                <a:blip r:embed="rId6"/>
                <a:stretch>
                  <a:fillRect l="-1613" r="-6452" b="-9091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4777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– Biblioteca </a:t>
            </a:r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math</a:t>
            </a:r>
            <a:endParaRPr lang="es-C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CuadroTexto 3">
            <a:extLst>
              <a:ext uri="{FF2B5EF4-FFF2-40B4-BE49-F238E27FC236}">
                <a16:creationId xmlns:a16="http://schemas.microsoft.com/office/drawing/2014/main" id="{10DA05FB-94D0-FEAC-47B8-0BB12DB3EFFE}"/>
              </a:ext>
            </a:extLst>
          </p:cNvPr>
          <p:cNvSpPr txBox="1"/>
          <p:nvPr/>
        </p:nvSpPr>
        <p:spPr>
          <a:xfrm>
            <a:off x="317754" y="997644"/>
            <a:ext cx="6532708" cy="3278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Implementar un programa en 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ython que implemente la siguiente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función</a:t>
            </a: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4">
                <a:extLst>
                  <a:ext uri="{FF2B5EF4-FFF2-40B4-BE49-F238E27FC236}">
                    <a16:creationId xmlns:a16="http://schemas.microsoft.com/office/drawing/2014/main" id="{BEF445AB-8DBE-E368-4189-C5573A450FDD}"/>
                  </a:ext>
                </a:extLst>
              </p:cNvPr>
              <p:cNvSpPr txBox="1"/>
              <p:nvPr/>
            </p:nvSpPr>
            <p:spPr>
              <a:xfrm>
                <a:off x="206983" y="1641641"/>
                <a:ext cx="4196059" cy="2609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s-ES" sz="1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400" b="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s-ES" sz="1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400" b="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s-ES" sz="1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s-ES" sz="1400" b="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s-ES" sz="1400" b="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CL" sz="1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CL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L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s-ES" sz="1400" b="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ES" sz="14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s-E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s-ES" sz="1400" b="0" i="1">
                                      <a:latin typeface="Cambria Math" panose="02040503050406030204" pitchFamily="18" charset="0"/>
                                    </a:rPr>
                                    <m:t>𝑠𝑖𝑛</m:t>
                                  </m:r>
                                  <m:d>
                                    <m:dPr>
                                      <m:ctrlPr>
                                        <a:rPr lang="es-ES" sz="1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1400" b="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s-ES" sz="1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1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sz="1400" b="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  <m:r>
                            <a:rPr lang="es-ES" sz="14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CL" sz="1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L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ES" sz="1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s-ES" sz="1400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s-ES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s-E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s-ES" sz="1400" b="0" i="1">
                                      <a:latin typeface="Cambria Math" panose="02040503050406030204" pitchFamily="18" charset="0"/>
                                    </a:rPr>
                                    <m:t>𝑐𝑜𝑠</m:t>
                                  </m:r>
                                  <m:d>
                                    <m:dPr>
                                      <m:ctrlPr>
                                        <a:rPr lang="es-E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ES" sz="1400" b="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  <m:r>
                                    <a:rPr lang="es-ES" sz="1400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</m:d>
                            </m:e>
                            <m:sup>
                              <m:r>
                                <a:rPr lang="es-ES" sz="1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ES" sz="1400" b="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s-CL" sz="1400" dirty="0"/>
              </a:p>
            </p:txBody>
          </p:sp>
        </mc:Choice>
        <mc:Fallback>
          <p:sp>
            <p:nvSpPr>
              <p:cNvPr id="19" name="CuadroTexto 4">
                <a:extLst>
                  <a:ext uri="{FF2B5EF4-FFF2-40B4-BE49-F238E27FC236}">
                    <a16:creationId xmlns:a16="http://schemas.microsoft.com/office/drawing/2014/main" id="{BEF445AB-8DBE-E368-4189-C5573A450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83" y="1641641"/>
                <a:ext cx="4196059" cy="260905"/>
              </a:xfrm>
              <a:prstGeom prst="rect">
                <a:avLst/>
              </a:prstGeom>
              <a:blipFill>
                <a:blip r:embed="rId3"/>
                <a:stretch>
                  <a:fillRect l="-1813" r="-604" b="-28571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0">
            <a:extLst>
              <a:ext uri="{FF2B5EF4-FFF2-40B4-BE49-F238E27FC236}">
                <a16:creationId xmlns:a16="http://schemas.microsoft.com/office/drawing/2014/main" id="{9D848C9E-F1EC-5AAD-BFFD-8CEF73A69726}"/>
              </a:ext>
            </a:extLst>
          </p:cNvPr>
          <p:cNvSpPr txBox="1"/>
          <p:nvPr/>
        </p:nvSpPr>
        <p:spPr>
          <a:xfrm>
            <a:off x="317753" y="2410553"/>
            <a:ext cx="2197175" cy="3740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Evalúe el resultado para: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uadroTexto 11">
                <a:extLst>
                  <a:ext uri="{FF2B5EF4-FFF2-40B4-BE49-F238E27FC236}">
                    <a16:creationId xmlns:a16="http://schemas.microsoft.com/office/drawing/2014/main" id="{FBCCE644-D598-C286-30E6-DCE6755988EE}"/>
                  </a:ext>
                </a:extLst>
              </p:cNvPr>
              <p:cNvSpPr txBox="1"/>
              <p:nvPr/>
            </p:nvSpPr>
            <p:spPr>
              <a:xfrm>
                <a:off x="371303" y="3184268"/>
                <a:ext cx="485774" cy="3674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s-ES" sz="14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1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ES" sz="1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s-ES" sz="1400" b="0" i="1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21" name="CuadroTexto 11">
                <a:extLst>
                  <a:ext uri="{FF2B5EF4-FFF2-40B4-BE49-F238E27FC236}">
                    <a16:creationId xmlns:a16="http://schemas.microsoft.com/office/drawing/2014/main" id="{FBCCE644-D598-C286-30E6-DCE6755988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03" y="3184268"/>
                <a:ext cx="485774" cy="367473"/>
              </a:xfrm>
              <a:prstGeom prst="rect">
                <a:avLst/>
              </a:prstGeom>
              <a:blipFill>
                <a:blip r:embed="rId4"/>
                <a:stretch>
                  <a:fillRect l="-5128" r="-7692" b="-16667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uadroTexto 12">
                <a:extLst>
                  <a:ext uri="{FF2B5EF4-FFF2-40B4-BE49-F238E27FC236}">
                    <a16:creationId xmlns:a16="http://schemas.microsoft.com/office/drawing/2014/main" id="{E4A5CE6E-4E74-B6F4-8250-2713B8BEBDEF}"/>
                  </a:ext>
                </a:extLst>
              </p:cNvPr>
              <p:cNvSpPr txBox="1"/>
              <p:nvPr/>
            </p:nvSpPr>
            <p:spPr>
              <a:xfrm>
                <a:off x="1497430" y="3238042"/>
                <a:ext cx="65537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ES" sz="1400" b="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s-ES" sz="1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400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s-ES" sz="1400" b="0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22" name="CuadroTexto 12">
                <a:extLst>
                  <a:ext uri="{FF2B5EF4-FFF2-40B4-BE49-F238E27FC236}">
                    <a16:creationId xmlns:a16="http://schemas.microsoft.com/office/drawing/2014/main" id="{E4A5CE6E-4E74-B6F4-8250-2713B8BEBD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430" y="3238042"/>
                <a:ext cx="655371" cy="215444"/>
              </a:xfrm>
              <a:prstGeom prst="rect">
                <a:avLst/>
              </a:prstGeom>
              <a:blipFill>
                <a:blip r:embed="rId5"/>
                <a:stretch>
                  <a:fillRect l="-7692" r="-1923" b="-15789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13">
                <a:extLst>
                  <a:ext uri="{FF2B5EF4-FFF2-40B4-BE49-F238E27FC236}">
                    <a16:creationId xmlns:a16="http://schemas.microsoft.com/office/drawing/2014/main" id="{196A2964-777F-4059-90BA-28A357C0DF22}"/>
                  </a:ext>
                </a:extLst>
              </p:cNvPr>
              <p:cNvSpPr txBox="1"/>
              <p:nvPr/>
            </p:nvSpPr>
            <p:spPr>
              <a:xfrm>
                <a:off x="2774613" y="3209776"/>
                <a:ext cx="59978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400" b="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s-ES" sz="1400" b="0" i="1">
                          <a:latin typeface="Cambria Math" panose="02040503050406030204" pitchFamily="18" charset="0"/>
                        </a:rPr>
                        <m:t>=3.8</m:t>
                      </m:r>
                    </m:oMath>
                  </m:oMathPara>
                </a14:m>
                <a:endParaRPr lang="es-CL" sz="1400" dirty="0"/>
              </a:p>
            </p:txBody>
          </p:sp>
        </mc:Choice>
        <mc:Fallback xmlns="">
          <p:sp>
            <p:nvSpPr>
              <p:cNvPr id="23" name="CuadroTexto 13">
                <a:extLst>
                  <a:ext uri="{FF2B5EF4-FFF2-40B4-BE49-F238E27FC236}">
                    <a16:creationId xmlns:a16="http://schemas.microsoft.com/office/drawing/2014/main" id="{196A2964-777F-4059-90BA-28A357C0DF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613" y="3209776"/>
                <a:ext cx="599780" cy="215444"/>
              </a:xfrm>
              <a:prstGeom prst="rect">
                <a:avLst/>
              </a:prstGeom>
              <a:blipFill>
                <a:blip r:embed="rId6"/>
                <a:stretch>
                  <a:fillRect l="-4167" r="-6250" b="-5556"/>
                </a:stretch>
              </a:blipFill>
            </p:spPr>
            <p:txBody>
              <a:bodyPr/>
              <a:lstStyle/>
              <a:p>
                <a:r>
                  <a:rPr lang="en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9">
            <a:extLst>
              <a:ext uri="{FF2B5EF4-FFF2-40B4-BE49-F238E27FC236}">
                <a16:creationId xmlns:a16="http://schemas.microsoft.com/office/drawing/2014/main" id="{5087A395-8A23-01A8-C663-0776688DAB40}"/>
              </a:ext>
            </a:extLst>
          </p:cNvPr>
          <p:cNvSpPr txBox="1"/>
          <p:nvPr/>
        </p:nvSpPr>
        <p:spPr>
          <a:xfrm>
            <a:off x="4516526" y="1589235"/>
            <a:ext cx="4627474" cy="34778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CL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</a:t>
            </a:r>
            <a:endParaRPr lang="es-CL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f(x: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y: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z: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 -&gt;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resta1 = x -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s-CL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math.sin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resta2 = y -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s-CL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math.cos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(y)</a:t>
            </a:r>
          </a:p>
          <a:p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exp1 =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math.pow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(resta1), (2*z))</a:t>
            </a:r>
          </a:p>
          <a:p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exp2 =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math.pow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abs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(resta2), (2*z))</a:t>
            </a:r>
          </a:p>
          <a:p>
            <a:endParaRPr lang="es-CL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raiz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math.sqrt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(exp1 + exp2)</a:t>
            </a:r>
          </a:p>
          <a:p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raiz</a:t>
            </a:r>
            <a:endParaRPr lang="es-CL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x =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math.pi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/8</a:t>
            </a:r>
          </a:p>
          <a:p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y = 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math.pow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math.e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CL" sz="1100">
                <a:latin typeface="Courier New" panose="02070309020205020404" pitchFamily="49" charset="0"/>
                <a:cs typeface="Courier New" panose="02070309020205020404" pitchFamily="49" charset="0"/>
              </a:rPr>
              <a:t>-2)</a:t>
            </a:r>
            <a:endParaRPr lang="es-CL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z = 3.8</a:t>
            </a:r>
          </a:p>
          <a:p>
            <a:endParaRPr lang="es-CL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resultado = f(</a:t>
            </a:r>
            <a:r>
              <a:rPr lang="es-CL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x,y,z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s-CL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(resultado)</a:t>
            </a:r>
          </a:p>
        </p:txBody>
      </p:sp>
    </p:spTree>
    <p:extLst>
      <p:ext uri="{BB962C8B-B14F-4D97-AF65-F5344CB8AC3E}">
        <p14:creationId xmlns:p14="http://schemas.microsoft.com/office/powerpoint/2010/main" val="12534162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DB44EB2-7E04-8FA6-AAEA-9A4342877FB5}"/>
              </a:ext>
            </a:extLst>
          </p:cNvPr>
          <p:cNvSpPr txBox="1"/>
          <p:nvPr/>
        </p:nvSpPr>
        <p:spPr>
          <a:xfrm>
            <a:off x="3247660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rgbClr val="012E46">
                    <a:alpha val="70035"/>
                  </a:srgbClr>
                </a:solidFill>
                <a:latin typeface="SWISS 721 CONDENSED BT" panose="020B0506020202030204" pitchFamily="34" charset="0"/>
              </a:rPr>
              <a:t>Bibliotecas: Ejercicio02</a:t>
            </a:r>
          </a:p>
        </p:txBody>
      </p:sp>
    </p:spTree>
    <p:extLst>
      <p:ext uri="{BB962C8B-B14F-4D97-AF65-F5344CB8AC3E}">
        <p14:creationId xmlns:p14="http://schemas.microsoft.com/office/powerpoint/2010/main" val="7455063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– Biblioteca </a:t>
            </a:r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math</a:t>
            </a:r>
            <a:endParaRPr lang="es-C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03E77B9D-0DC6-B4D9-9282-FACB3BCB8EF4}"/>
              </a:ext>
            </a:extLst>
          </p:cNvPr>
          <p:cNvSpPr txBox="1"/>
          <p:nvPr/>
        </p:nvSpPr>
        <p:spPr>
          <a:xfrm>
            <a:off x="317754" y="997644"/>
            <a:ext cx="8211104" cy="6510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Utilizando la biblioteca </a:t>
            </a:r>
            <a:r>
              <a:rPr lang="es-ES" sz="1400" b="1" i="0" u="none" strike="noStrike" cap="none" dirty="0" err="1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random</a:t>
            </a: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implemente una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función</a:t>
            </a: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simule el lanzamiento de una moneda. Pruebe la operación de la función simulando 100 lanzamientos.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¿Cuál es el porcentaje de cada lado?</a:t>
            </a:r>
            <a:endParaRPr lang="es-ES" sz="140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833651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762"/>
            <a:ext cx="9141285" cy="5141972"/>
          </a:xfrm>
          <a:prstGeom prst="rect">
            <a:avLst/>
          </a:prstGeom>
        </p:spPr>
      </p:pic>
      <p:sp>
        <p:nvSpPr>
          <p:cNvPr id="3" name="CuadroTexto 1">
            <a:extLst>
              <a:ext uri="{FF2B5EF4-FFF2-40B4-BE49-F238E27FC236}">
                <a16:creationId xmlns:a16="http://schemas.microsoft.com/office/drawing/2014/main" id="{DF73B1AA-EF2D-52C3-96EE-7052F08AE782}"/>
              </a:ext>
            </a:extLst>
          </p:cNvPr>
          <p:cNvSpPr txBox="1"/>
          <p:nvPr/>
        </p:nvSpPr>
        <p:spPr>
          <a:xfrm>
            <a:off x="2586268" y="4243770"/>
            <a:ext cx="3968750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CL" sz="1000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Plan Común:</a:t>
            </a:r>
          </a:p>
          <a:p>
            <a:pPr algn="ctr"/>
            <a:r>
              <a:rPr lang="es-CL" sz="1600" b="1" dirty="0">
                <a:solidFill>
                  <a:srgbClr val="012E46">
                    <a:alpha val="29869"/>
                  </a:srgbClr>
                </a:solidFill>
                <a:latin typeface="Product Sans" panose="020B0403030502040203" pitchFamily="34" charset="0"/>
              </a:rPr>
              <a:t>Programación</a:t>
            </a:r>
          </a:p>
        </p:txBody>
      </p:sp>
      <p:sp>
        <p:nvSpPr>
          <p:cNvPr id="51" name="CuadroTexto 8">
            <a:extLst>
              <a:ext uri="{FF2B5EF4-FFF2-40B4-BE49-F238E27FC236}">
                <a16:creationId xmlns:a16="http://schemas.microsoft.com/office/drawing/2014/main" id="{E590021E-013F-D53E-68FD-9CCCBE24A0F2}"/>
              </a:ext>
            </a:extLst>
          </p:cNvPr>
          <p:cNvSpPr txBox="1"/>
          <p:nvPr/>
        </p:nvSpPr>
        <p:spPr>
          <a:xfrm>
            <a:off x="206983" y="135879"/>
            <a:ext cx="634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000" b="1" dirty="0">
                <a:solidFill>
                  <a:srgbClr val="1956AF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Ejercicio – Biblioteca </a:t>
            </a:r>
            <a:r>
              <a:rPr lang="es-ES_tradnl" sz="2000" b="1" dirty="0" err="1">
                <a:solidFill>
                  <a:srgbClr val="1956AF"/>
                </a:solidFill>
                <a:latin typeface="Courier New" panose="02070309020205020404" pitchFamily="49" charset="0"/>
                <a:ea typeface="Helvetica Neue" panose="02000503000000020004" pitchFamily="2" charset="0"/>
                <a:cs typeface="Courier New" panose="02070309020205020404" pitchFamily="49" charset="0"/>
              </a:rPr>
              <a:t>math</a:t>
            </a:r>
            <a:endParaRPr lang="es-C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CuadroTexto 3">
            <a:extLst>
              <a:ext uri="{FF2B5EF4-FFF2-40B4-BE49-F238E27FC236}">
                <a16:creationId xmlns:a16="http://schemas.microsoft.com/office/drawing/2014/main" id="{10DA05FB-94D0-FEAC-47B8-0BB12DB3EFFE}"/>
              </a:ext>
            </a:extLst>
          </p:cNvPr>
          <p:cNvSpPr txBox="1"/>
          <p:nvPr/>
        </p:nvSpPr>
        <p:spPr>
          <a:xfrm>
            <a:off x="317754" y="997644"/>
            <a:ext cx="8211104" cy="6510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Utilizando la biblioteca </a:t>
            </a:r>
            <a:r>
              <a:rPr lang="es-ES" sz="1400" b="1" i="0" u="none" strike="noStrike" cap="none" dirty="0" err="1">
                <a:solidFill>
                  <a:schemeClr val="dk1"/>
                </a:solidFill>
                <a:latin typeface="Courier New" panose="02070309020205020404" pitchFamily="49" charset="0"/>
                <a:ea typeface="Helvetica Neue"/>
                <a:cs typeface="Courier New" panose="02070309020205020404" pitchFamily="49" charset="0"/>
                <a:sym typeface="Helvetica Neue"/>
              </a:rPr>
              <a:t>random</a:t>
            </a: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implemente una </a:t>
            </a:r>
            <a:r>
              <a:rPr lang="es-ES" sz="14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función</a:t>
            </a: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que simule el lanzamiento de una moneda. Pruebe la operación de la función simulando 100 lanzamientos.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¿Cuál es el porcentaje de cada lado?</a:t>
            </a:r>
            <a:endParaRPr lang="es-ES" sz="140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CuadroTexto 9">
            <a:extLst>
              <a:ext uri="{FF2B5EF4-FFF2-40B4-BE49-F238E27FC236}">
                <a16:creationId xmlns:a16="http://schemas.microsoft.com/office/drawing/2014/main" id="{C0453165-1DD1-5876-1B5F-EF0B680F90DD}"/>
              </a:ext>
            </a:extLst>
          </p:cNvPr>
          <p:cNvSpPr txBox="1"/>
          <p:nvPr/>
        </p:nvSpPr>
        <p:spPr>
          <a:xfrm>
            <a:off x="317754" y="1783609"/>
            <a:ext cx="5146267" cy="28931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endParaRPr lang="es-CL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s-C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lanzarMoneda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 -&gt;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lado = ""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moneda =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random</a:t>
            </a:r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randint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(0,1)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moneda == 1: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lado = "Cara"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lado = "Sello"</a:t>
            </a:r>
          </a:p>
          <a:p>
            <a:r>
              <a:rPr lang="es-C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lado</a:t>
            </a:r>
          </a:p>
          <a:p>
            <a:endParaRPr lang="es-C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lanzamiento </a:t>
            </a:r>
            <a:r>
              <a:rPr lang="es-C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(1,101):</a:t>
            </a:r>
          </a:p>
          <a:p>
            <a:r>
              <a:rPr lang="es-CL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CL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(f"{lanzamiento=}:", </a:t>
            </a:r>
            <a:r>
              <a:rPr lang="es-C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lanzarMoneda</a:t>
            </a:r>
            <a:r>
              <a:rPr lang="es-C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64B1F4B-0884-7E60-A50C-A23B9ECF85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0800" y="1598992"/>
            <a:ext cx="2408436" cy="2644778"/>
          </a:xfrm>
          <a:prstGeom prst="rect">
            <a:avLst/>
          </a:prstGeom>
        </p:spPr>
      </p:pic>
      <p:sp>
        <p:nvSpPr>
          <p:cNvPr id="6" name="CuadroTexto 3">
            <a:extLst>
              <a:ext uri="{FF2B5EF4-FFF2-40B4-BE49-F238E27FC236}">
                <a16:creationId xmlns:a16="http://schemas.microsoft.com/office/drawing/2014/main" id="{CD53C1F8-44B7-5BB2-C91F-C9C0A59E6DD7}"/>
              </a:ext>
            </a:extLst>
          </p:cNvPr>
          <p:cNvSpPr txBox="1"/>
          <p:nvPr/>
        </p:nvSpPr>
        <p:spPr>
          <a:xfrm>
            <a:off x="5644342" y="4039498"/>
            <a:ext cx="2884516" cy="9742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tIns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¿Cuál es el 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porcentaje</a:t>
            </a:r>
            <a:r>
              <a:rPr lang="es-ES" sz="140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 simulamos 1000 lanzamientos? ¿10000? ¿100000? </a:t>
            </a:r>
            <a:r>
              <a:rPr lang="es-ES" sz="1400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…</a:t>
            </a:r>
            <a:endParaRPr lang="es-ES" sz="140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997737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59AAFAD1-4198-4596-8E46-B0F4BDBAC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4991" y="-47349"/>
            <a:ext cx="9263921" cy="524955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83E587A-2136-DAFC-A5C8-BF2B6D52E5AC}"/>
              </a:ext>
            </a:extLst>
          </p:cNvPr>
          <p:cNvSpPr txBox="1"/>
          <p:nvPr/>
        </p:nvSpPr>
        <p:spPr>
          <a:xfrm>
            <a:off x="3266449" y="3205238"/>
            <a:ext cx="4241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solidFill>
                  <a:schemeClr val="bg1">
                    <a:alpha val="70035"/>
                  </a:schemeClr>
                </a:solidFill>
                <a:latin typeface="SWISS 721 CONDENSED BT" panose="020B0506020202030204" pitchFamily="34" charset="0"/>
              </a:rPr>
              <a:t>Archivos y Bibliotecas</a:t>
            </a:r>
          </a:p>
        </p:txBody>
      </p:sp>
    </p:spTree>
    <p:extLst>
      <p:ext uri="{BB962C8B-B14F-4D97-AF65-F5344CB8AC3E}">
        <p14:creationId xmlns:p14="http://schemas.microsoft.com/office/powerpoint/2010/main" val="2619880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12">
      <a:dk1>
        <a:srgbClr val="002060"/>
      </a:dk1>
      <a:lt1>
        <a:sysClr val="window" lastClr="FFFFFF"/>
      </a:lt1>
      <a:dk2>
        <a:srgbClr val="233F70"/>
      </a:dk2>
      <a:lt2>
        <a:srgbClr val="E7E6E6"/>
      </a:lt2>
      <a:accent1>
        <a:srgbClr val="8EAADB"/>
      </a:accent1>
      <a:accent2>
        <a:srgbClr val="ED7D31"/>
      </a:accent2>
      <a:accent3>
        <a:srgbClr val="A5A5A5"/>
      </a:accent3>
      <a:accent4>
        <a:srgbClr val="4B1E7D"/>
      </a:accent4>
      <a:accent5>
        <a:srgbClr val="5B9BD5"/>
      </a:accent5>
      <a:accent6>
        <a:srgbClr val="70AD47"/>
      </a:accent6>
      <a:hlink>
        <a:srgbClr val="7093D2"/>
      </a:hlink>
      <a:folHlink>
        <a:srgbClr val="757070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19FEBDE55BBC4C9423A487D4FB469E" ma:contentTypeVersion="14" ma:contentTypeDescription="Crear nuevo documento." ma:contentTypeScope="" ma:versionID="6e20bc3b459ff0cd322c92a7397b2624">
  <xsd:schema xmlns:xsd="http://www.w3.org/2001/XMLSchema" xmlns:xs="http://www.w3.org/2001/XMLSchema" xmlns:p="http://schemas.microsoft.com/office/2006/metadata/properties" xmlns:ns2="58e3b983-b9c9-4a9a-8434-0fe099e73c0e" xmlns:ns3="39f852db-6116-43f0-a01a-f747f551a9b7" targetNamespace="http://schemas.microsoft.com/office/2006/metadata/properties" ma:root="true" ma:fieldsID="d782a4296dd0c5e1e37edb3cb453af0e" ns2:_="" ns3:_="">
    <xsd:import namespace="58e3b983-b9c9-4a9a-8434-0fe099e73c0e"/>
    <xsd:import namespace="39f852db-6116-43f0-a01a-f747f551a9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e3b983-b9c9-4a9a-8434-0fe099e73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705287f6-a0ce-4ec6-a30b-593201b7cd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f852db-6116-43f0-a01a-f747f551a9b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70869caf-8c76-40f7-8ad7-64eead9b68ad}" ma:internalName="TaxCatchAll" ma:showField="CatchAllData" ma:web="39f852db-6116-43f0-a01a-f747f551a9b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9f852db-6116-43f0-a01a-f747f551a9b7" xsi:nil="true"/>
    <lcf76f155ced4ddcb4097134ff3c332f xmlns="58e3b983-b9c9-4a9a-8434-0fe099e73c0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A4F54C0-274B-4BA8-8CED-CC105680EB8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8e3b983-b9c9-4a9a-8434-0fe099e73c0e"/>
    <ds:schemaRef ds:uri="39f852db-6116-43f0-a01a-f747f551a9b7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07E65D-B7E7-4384-A3FB-C858AB328B01}">
  <ds:schemaRefs>
    <ds:schemaRef ds:uri="http://schemas.microsoft.com/office/2006/metadata/properties"/>
    <ds:schemaRef ds:uri="http://www.w3.org/2000/xmlns/"/>
    <ds:schemaRef ds:uri="39f852db-6116-43f0-a01a-f747f551a9b7"/>
    <ds:schemaRef ds:uri="http://www.w3.org/2001/XMLSchema-instance"/>
    <ds:schemaRef ds:uri="58e3b983-b9c9-4a9a-8434-0fe099e73c0e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7EAC05D-539B-49D6-A976-B2E885212C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{9DE77B2E-F1C7-7F4C-8A13-4B231F3723D3}tf16401378</Template>
  <TotalTime>1252</TotalTime>
  <Words>3476</Words>
  <Application>Microsoft Macintosh PowerPoint</Application>
  <PresentationFormat>On-screen Show (16:9)</PresentationFormat>
  <Paragraphs>549</Paragraphs>
  <Slides>41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Cabin</vt:lpstr>
      <vt:lpstr>Calibri</vt:lpstr>
      <vt:lpstr>Calibri Light</vt:lpstr>
      <vt:lpstr>Cambria Math</vt:lpstr>
      <vt:lpstr>Courier New</vt:lpstr>
      <vt:lpstr>Helvetica Neue</vt:lpstr>
      <vt:lpstr>Product Sans</vt:lpstr>
      <vt:lpstr>SWISS 721 CONDENSED BT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</dc:title>
  <dc:creator>Usuario</dc:creator>
  <cp:lastModifiedBy>Rodrigo Olivares</cp:lastModifiedBy>
  <cp:revision>61</cp:revision>
  <dcterms:created xsi:type="dcterms:W3CDTF">2022-04-13T14:03:33Z</dcterms:created>
  <dcterms:modified xsi:type="dcterms:W3CDTF">2024-09-04T02:05:38Z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0x0101006319FEBDE55BBC4C9423A487D4FB469E</vt:lpwstr>
  </property>
</Properties>
</file>